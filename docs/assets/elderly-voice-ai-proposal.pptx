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6C7C75"/>
                </a:solidFill>
                <a:latin typeface="Yu Gothic"/>
              </a:defRPr>
            </a:pPr>
            <a:r>
              <a:rPr sz="1300" b="0" i="0" u="none" strike="noStrike">
                <a:solidFill>
                  <a:srgbClr val="6C7C75"/>
                </a:solidFill>
                <a:latin typeface="Yu Gothic"/>
              </a:rPr>
              <a:t>領域別の開発費（推奨案・合計658万円）</a:t>
            </a:r>
          </a:p>
        </c:rich>
      </c:tx>
      <c:layout/>
      <c:overlay val="0"/>
    </c:title>
    <c:autoTitleDeleted val="0"/>
    <c:plotArea>
      <c:layout/>
      <c:barChart>
        <c:barDir val="bar"/>
        <c:grouping val="clustered"/>
        <c:varyColors val="0"/>
        <c:ser>
          <c:idx val="0"/>
          <c:order val="0"/>
          <c:tx>
            <c:strRef>
              <c:f>Sheet1!$B$1</c:f>
              <c:strCache>
                <c:ptCount val="1"/>
                <c:pt idx="0">
                  <c:v>金額（万円）</c:v>
                </c:pt>
              </c:strCache>
            </c:strRef>
          </c:tx>
          <c:spPr>
            <a:solidFill>
              <a:srgbClr val="1F3D34"/>
            </a:solidFill>
            <a:effectLst/>
          </c:spPr>
          <c:invertIfNegative val="0"/>
          <c:dLbls>
            <c:numFmt formatCode="#,##0&quot;万円&quot;" sourceLinked="0"/>
            <c:txPr>
              <a:bodyPr/>
              <a:lstStyle/>
              <a:p>
                <a:pPr>
                  <a:defRPr b="0" i="0" strike="noStrike" sz="1100" u="none">
                    <a:solidFill>
                      <a:srgbClr val="12211C"/>
                    </a:solidFill>
                    <a:latin typeface="Arial"/>
                  </a:defRPr>
                </a:pPr>
              </a:p>
            </c:txPr>
            <c:showLegendKey val="0"/>
            <c:showVal val="1"/>
            <c:showCatName val="0"/>
            <c:showSerName val="0"/>
            <c:showPercent val="0"/>
            <c:showBubbleSize val="0"/>
            <c:showLeaderLines val="0"/>
          </c:dLbls>
          <c:dPt>
            <c:idx val="0"/>
            <c:invertIfNegative val="0"/>
            <c:bubble3D val="0"/>
            <c:spPr>
              <a:solidFill>
                <a:srgbClr val="1F3D34"/>
              </a:solidFill>
              <a:effectLst/>
            </c:spPr>
          </c:dPt>
          <c:dPt>
            <c:idx val="1"/>
            <c:invertIfNegative val="0"/>
            <c:bubble3D val="0"/>
            <c:spPr>
              <a:solidFill>
                <a:srgbClr val="6E9A85"/>
              </a:solidFill>
              <a:effectLst/>
            </c:spPr>
          </c:dPt>
          <c:dPt>
            <c:idx val="2"/>
            <c:invertIfNegative val="0"/>
            <c:bubble3D val="0"/>
            <c:spPr>
              <a:solidFill>
                <a:srgbClr val="6E9A85"/>
              </a:solidFill>
              <a:effectLst/>
            </c:spPr>
          </c:dPt>
          <c:dPt>
            <c:idx val="3"/>
            <c:invertIfNegative val="0"/>
            <c:bubble3D val="0"/>
            <c:spPr>
              <a:solidFill>
                <a:srgbClr val="6E9A85"/>
              </a:solidFill>
              <a:effectLst/>
            </c:spPr>
          </c:dPt>
          <c:dPt>
            <c:idx val="4"/>
            <c:invertIfNegative val="0"/>
            <c:bubble3D val="0"/>
            <c:spPr>
              <a:solidFill>
                <a:srgbClr val="6E9A85"/>
              </a:solidFill>
              <a:effectLst/>
            </c:spPr>
          </c:dPt>
          <c:dPt>
            <c:idx val="5"/>
            <c:invertIfNegative val="0"/>
            <c:bubble3D val="0"/>
            <c:spPr>
              <a:solidFill>
                <a:srgbClr val="6E9A85"/>
              </a:solidFill>
              <a:effectLst/>
            </c:spPr>
          </c:dPt>
          <c:cat>
            <c:multiLvlStrRef>
              <c:f>Sheet1!$A$2:$A$7</c:f>
              <c:multiLvlStrCache>
                <c:ptCount val="6"/>
                <c:lvl>
                  <c:pt idx="0">
                    <c:v>音声・記憶のコア機能</c:v>
                  </c:pt>
                  <c:pt idx="1">
                    <c:v>UI設計・実装</c:v>
                  </c:pt>
                  <c:pt idx="2">
                    <c:v>要件定義・PM</c:v>
                  </c:pt>
                  <c:pt idx="3">
                    <c:v>基盤・セキュリティ・管理</c:v>
                  </c:pt>
                  <c:pt idx="4">
                    <c:v>ログイン・通知</c:v>
                  </c:pt>
                  <c:pt idx="5">
                    <c:v>テスト</c:v>
                  </c:pt>
                </c:lvl>
              </c:multiLvlStrCache>
            </c:multiLvlStrRef>
          </c:cat>
          <c:val>
            <c:numRef>
              <c:f>Sheet1!$B$2:$B$7</c:f>
              <c:numCache>
                <c:formatCode>General</c:formatCode>
                <c:ptCount val="6"/>
                <c:pt idx="0">
                  <c:v>196</c:v>
                </c:pt>
                <c:pt idx="1">
                  <c:v>126</c:v>
                </c:pt>
                <c:pt idx="2">
                  <c:v>112</c:v>
                </c:pt>
                <c:pt idx="3">
                  <c:v>91</c:v>
                </c:pt>
                <c:pt idx="4">
                  <c:v>77</c:v>
                </c:pt>
                <c:pt idx="5">
                  <c:v>56</c:v>
                </c:pt>
              </c:numCache>
            </c:numRef>
          </c:val>
        </c:ser>
        <c:dLbls>
          <c:numFmt formatCode="#,##0&quot;万円&quot;" sourceLinked="0"/>
          <c:txPr>
            <a:bodyPr/>
            <a:lstStyle/>
            <a:p>
              <a:pPr>
                <a:defRPr b="0" i="0" strike="noStrike" sz="1100" u="none">
                  <a:solidFill>
                    <a:srgbClr val="12211C"/>
                  </a:solidFill>
                  <a:latin typeface="Arial"/>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150" b="0" i="0" u="none" strike="noStrike">
                <a:solidFill>
                  <a:srgbClr val="12211C"/>
                </a:solidFill>
                <a:latin typeface="Yu Gothic"/>
              </a:defRPr>
            </a:pPr>
            <a:endParaRPr lang="en-US"/>
          </a:p>
        </c:txPr>
        <c:crossAx val="2094734552"/>
        <c:crosses val="autoZero"/>
        <c:auto val="1"/>
        <c:lblAlgn val="ctr"/>
        <c:noMultiLvlLbl val="1"/>
      </c:catAx>
      <c:valAx>
        <c:axId val="2094734552"/>
        <c:scaling>
          <c:orientation val="minMax"/>
          <c:max val="240"/>
          <c:min val="0"/>
        </c:scaling>
        <c:delete val="0"/>
        <c:axPos val="b"/>
        <c:majorGridlines>
          <c:spPr>
            <a:ln w="12700" cap="flat">
              <a:solidFill>
                <a:srgbClr val="EAF0EC"/>
              </a:solidFill>
              <a:prstDash val="solid"/>
              <a:round/>
            </a:ln>
          </c:spPr>
        </c:majorGridlines>
        <c:numFmt formatCode="General" sourceLinked="0"/>
        <c:majorTickMark val="out"/>
        <c:minorTickMark val="none"/>
        <c:tickLblPos val="low"/>
        <c:spPr>
          <a:ln w="12700" cap="flat">
            <a:noFill/>
            <a:prstDash val="solid"/>
            <a:round/>
          </a:ln>
        </c:spPr>
        <c:txPr>
          <a:bodyPr/>
          <a:lstStyle/>
          <a:p>
            <a:pPr>
              <a:defRPr sz="1000" b="0" i="0" u="none" strike="noStrike">
                <a:solidFill>
                  <a:srgbClr val="6C7C75"/>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50" b="0" i="0" u="none" strike="noStrike">
                <a:solidFill>
                  <a:srgbClr val="6C7C75"/>
                </a:solidFill>
                <a:latin typeface="Yu Gothic"/>
              </a:defRPr>
            </a:pPr>
            <a:r>
              <a:rPr sz="1250" b="0" i="0" u="none" strike="noStrike">
                <a:solidFill>
                  <a:srgbClr val="6C7C75"/>
                </a:solidFill>
                <a:latin typeface="Yu Gothic"/>
              </a:rPr>
              <a:t>1人あたり月額API原価（中央値・月300分利用）</a:t>
            </a:r>
          </a:p>
        </c:rich>
      </c:tx>
      <c:layout/>
      <c:overlay val="0"/>
    </c:title>
    <c:autoTitleDeleted val="0"/>
    <c:plotArea>
      <c:layout/>
      <c:barChart>
        <c:barDir val="col"/>
        <c:grouping val="clustered"/>
        <c:varyColors val="0"/>
        <c:ser>
          <c:idx val="0"/>
          <c:order val="0"/>
          <c:tx>
            <c:strRef>
              <c:f>Sheet1!$B$1</c:f>
              <c:strCache>
                <c:ptCount val="1"/>
                <c:pt idx="0">
                  <c:v>1人あたり月額原価（円）</c:v>
                </c:pt>
              </c:strCache>
            </c:strRef>
          </c:tx>
          <c:spPr>
            <a:solidFill>
              <a:srgbClr val="9E3B2D"/>
            </a:solidFill>
            <a:effectLst/>
          </c:spPr>
          <c:invertIfNegative val="0"/>
          <c:dLbls>
            <c:numFmt formatCode="#,##0&quot;円&quot;" sourceLinked="0"/>
            <c:txPr>
              <a:bodyPr/>
              <a:lstStyle/>
              <a:p>
                <a:pPr>
                  <a:defRPr b="0" i="0" strike="noStrike" sz="1200" u="none">
                    <a:solidFill>
                      <a:srgbClr val="12211C"/>
                    </a:solidFill>
                    <a:latin typeface="Arial"/>
                  </a:defRPr>
                </a:pPr>
              </a:p>
            </c:txPr>
            <c:showLegendKey val="0"/>
            <c:showVal val="1"/>
            <c:showCatName val="0"/>
            <c:showSerName val="0"/>
            <c:showPercent val="0"/>
            <c:showBubbleSize val="0"/>
            <c:showLeaderLines val="0"/>
          </c:dLbls>
          <c:dPt>
            <c:idx val="0"/>
            <c:invertIfNegative val="0"/>
            <c:bubble3D val="0"/>
            <c:spPr>
              <a:solidFill>
                <a:srgbClr val="9E3B2D"/>
              </a:solidFill>
              <a:effectLst/>
            </c:spPr>
          </c:dPt>
          <c:dPt>
            <c:idx val="1"/>
            <c:invertIfNegative val="0"/>
            <c:bubble3D val="0"/>
            <c:spPr>
              <a:solidFill>
                <a:srgbClr val="C4682A"/>
              </a:solidFill>
              <a:effectLst/>
            </c:spPr>
          </c:dPt>
          <c:dPt>
            <c:idx val="2"/>
            <c:invertIfNegative val="0"/>
            <c:bubble3D val="0"/>
            <c:spPr>
              <a:solidFill>
                <a:srgbClr val="6E9A85"/>
              </a:solidFill>
              <a:effectLst/>
            </c:spPr>
          </c:dPt>
          <c:cat>
            <c:multiLvlStrRef>
              <c:f>Sheet1!$A$2:$A$4</c:f>
              <c:multiLvlStrCache>
                <c:ptCount val="3"/>
                <c:lvl>
                  <c:pt idx="0">
                    <c:v>リアルタイム音声</c:v>
                  </c:pt>
                  <c:pt idx="1">
                    <c:v>ハイブリッド</c:v>
                  </c:pt>
                  <c:pt idx="2">
                    <c:v>分割パイプライン</c:v>
                  </c:pt>
                </c:lvl>
              </c:multiLvlStrCache>
            </c:multiLvlStrRef>
          </c:cat>
          <c:val>
            <c:numRef>
              <c:f>Sheet1!$B$2:$B$4</c:f>
              <c:numCache>
                <c:formatCode>General</c:formatCode>
                <c:ptCount val="3"/>
                <c:pt idx="0">
                  <c:v>8250</c:v>
                </c:pt>
                <c:pt idx="1">
                  <c:v>3250</c:v>
                </c:pt>
                <c:pt idx="2">
                  <c:v>1500</c:v>
                </c:pt>
              </c:numCache>
            </c:numRef>
          </c:val>
        </c:ser>
        <c:dLbls>
          <c:numFmt formatCode="#,##0&quot;円&quot;" sourceLinked="0"/>
          <c:txPr>
            <a:bodyPr/>
            <a:lstStyle/>
            <a:p>
              <a:pPr>
                <a:defRPr b="0" i="0" strike="noStrike" sz="1200" u="none">
                  <a:solidFill>
                    <a:srgbClr val="12211C"/>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12211C"/>
                </a:solidFill>
                <a:latin typeface="Yu Gothic"/>
              </a:defRPr>
            </a:pPr>
            <a:endParaRPr lang="en-US"/>
          </a:p>
        </c:txPr>
        <c:crossAx val="2094734552"/>
        <c:crosses val="autoZero"/>
        <c:auto val="1"/>
        <c:lblAlgn val="ctr"/>
        <c:noMultiLvlLbl val="1"/>
      </c:catAx>
      <c:valAx>
        <c:axId val="2094734552"/>
        <c:scaling>
          <c:orientation val="minMax"/>
          <c:max val="11000"/>
          <c:min val="0"/>
        </c:scaling>
        <c:delete val="0"/>
        <c:axPos val="l"/>
        <c:majorGridlines>
          <c:spPr>
            <a:ln w="12700" cap="flat">
              <a:solidFill>
                <a:srgbClr val="EAF0EC"/>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000" b="0" i="0" u="none" strike="noStrike">
                <a:solidFill>
                  <a:srgbClr val="6C7C75"/>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要件メモをもとにした概算です。金額は税別、単価前提は7万円／人日。確定していない前提は最終ページに10点まとめています。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3D34"/>
        </a:solidFill>
      </p:bgPr>
    </p:bg>
    <p:spTree>
      <p:nvGrpSpPr>
        <p:cNvPr id="1" name=""/>
        <p:cNvGrpSpPr/>
        <p:nvPr/>
      </p:nvGrpSpPr>
      <p:grpSpPr>
        <a:xfrm>
          <a:off x="0" y="0"/>
          <a:ext cx="0" cy="0"/>
          <a:chOff x="0" y="0"/>
          <a:chExt cx="0" cy="0"/>
        </a:xfrm>
      </p:grpSpPr>
      <p:sp>
        <p:nvSpPr>
          <p:cNvPr id="2" name="Shape 0"/>
          <p:cNvSpPr/>
          <p:nvPr/>
        </p:nvSpPr>
        <p:spPr>
          <a:xfrm>
            <a:off x="9509760" y="1005840"/>
            <a:ext cx="4023360" cy="4023360"/>
          </a:xfrm>
          <a:prstGeom prst="ellipse">
            <a:avLst/>
          </a:prstGeom>
          <a:solidFill>
            <a:srgbClr val="2E5A4C"/>
          </a:solidFill>
          <a:ln/>
        </p:spPr>
      </p:sp>
      <p:sp>
        <p:nvSpPr>
          <p:cNvPr id="3" name="Shape 1"/>
          <p:cNvSpPr/>
          <p:nvPr/>
        </p:nvSpPr>
        <p:spPr>
          <a:xfrm>
            <a:off x="10607040" y="3657600"/>
            <a:ext cx="1371600" cy="1371600"/>
          </a:xfrm>
          <a:prstGeom prst="ellipse">
            <a:avLst/>
          </a:prstGeom>
          <a:solidFill>
            <a:srgbClr val="6E9A85"/>
          </a:solidFill>
          <a:ln/>
        </p:spPr>
      </p:sp>
      <p:sp>
        <p:nvSpPr>
          <p:cNvPr id="4" name="Text 2"/>
          <p:cNvSpPr/>
          <p:nvPr/>
        </p:nvSpPr>
        <p:spPr>
          <a:xfrm>
            <a:off x="566928" y="1371600"/>
            <a:ext cx="8229600" cy="310896"/>
          </a:xfrm>
          <a:prstGeom prst="rect">
            <a:avLst/>
          </a:prstGeom>
          <a:noFill/>
          <a:ln/>
        </p:spPr>
        <p:txBody>
          <a:bodyPr wrap="square" lIns="0" tIns="0" rIns="0" bIns="0" rtlCol="0" anchor="ctr"/>
          <a:lstStyle/>
          <a:p>
            <a:pPr indent="0" marL="0">
              <a:buNone/>
            </a:pPr>
            <a:r>
              <a:rPr lang="en-US" sz="1200" b="1" spc="200" kern="0" dirty="0">
                <a:solidFill>
                  <a:srgbClr val="6E9A85"/>
                </a:solidFill>
                <a:latin typeface="Yu Gothic" pitchFamily="34" charset="0"/>
                <a:ea typeface="Yu Gothic" pitchFamily="34" charset="-122"/>
                <a:cs typeface="Yu Gothic" pitchFamily="34" charset="-120"/>
              </a:rPr>
              <a:t>社内検討資料 ｜ 2026年8月17日</a:t>
            </a:r>
            <a:endParaRPr lang="en-US" sz="1200" dirty="0"/>
          </a:p>
        </p:txBody>
      </p:sp>
      <p:sp>
        <p:nvSpPr>
          <p:cNvPr id="5" name="Text 3"/>
          <p:cNvSpPr/>
          <p:nvPr/>
        </p:nvSpPr>
        <p:spPr>
          <a:xfrm>
            <a:off x="566928" y="1828800"/>
            <a:ext cx="8595360" cy="1828800"/>
          </a:xfrm>
          <a:prstGeom prst="rect">
            <a:avLst/>
          </a:prstGeom>
          <a:noFill/>
          <a:ln/>
        </p:spPr>
        <p:txBody>
          <a:bodyPr wrap="square" lIns="0" tIns="0" rIns="0" bIns="0" rtlCol="0" anchor="ctr"/>
          <a:lstStyle/>
          <a:p>
            <a:pPr indent="0" marL="0">
              <a:lnSpc>
                <a:spcPts val="5200"/>
              </a:lnSpc>
              <a:buNone/>
            </a:pPr>
            <a:r>
              <a:rPr lang="en-US" sz="4200" b="1" dirty="0">
                <a:solidFill>
                  <a:srgbClr val="FFFFFF"/>
                </a:solidFill>
                <a:latin typeface="Yu Gothic" pitchFamily="34" charset="0"/>
                <a:ea typeface="Yu Gothic" pitchFamily="34" charset="-122"/>
                <a:cs typeface="Yu Gothic" pitchFamily="34" charset="-120"/>
              </a:rPr>
              <a:t>高齢者向け</a:t>
            </a:r>
            <a:endParaRPr lang="en-US" sz="4200" dirty="0"/>
          </a:p>
          <a:p>
            <a:pPr indent="0" marL="0">
              <a:lnSpc>
                <a:spcPts val="5200"/>
              </a:lnSpc>
              <a:buNone/>
            </a:pPr>
            <a:r>
              <a:rPr lang="en-US" sz="4200" b="1" dirty="0">
                <a:solidFill>
                  <a:srgbClr val="FFFFFF"/>
                </a:solidFill>
                <a:latin typeface="Yu Gothic" pitchFamily="34" charset="0"/>
                <a:ea typeface="Yu Gothic" pitchFamily="34" charset="-122"/>
                <a:cs typeface="Yu Gothic" pitchFamily="34" charset="-120"/>
              </a:rPr>
              <a:t>音声会話AIアプリ</a:t>
            </a:r>
            <a:endParaRPr lang="en-US" sz="4200" dirty="0"/>
          </a:p>
        </p:txBody>
      </p:sp>
      <p:sp>
        <p:nvSpPr>
          <p:cNvPr id="6" name="Text 4"/>
          <p:cNvSpPr/>
          <p:nvPr/>
        </p:nvSpPr>
        <p:spPr>
          <a:xfrm>
            <a:off x="566928" y="3794760"/>
            <a:ext cx="8229600" cy="402336"/>
          </a:xfrm>
          <a:prstGeom prst="rect">
            <a:avLst/>
          </a:prstGeom>
          <a:noFill/>
          <a:ln/>
        </p:spPr>
        <p:txBody>
          <a:bodyPr wrap="square" lIns="0" tIns="0" rIns="0" bIns="0" rtlCol="0" anchor="ctr"/>
          <a:lstStyle/>
          <a:p>
            <a:pPr indent="0" marL="0">
              <a:buNone/>
            </a:pPr>
            <a:r>
              <a:rPr lang="en-US" sz="1900" dirty="0">
                <a:solidFill>
                  <a:srgbClr val="E4EDE8"/>
                </a:solidFill>
                <a:latin typeface="Yu Gothic" pitchFamily="34" charset="0"/>
                <a:ea typeface="Yu Gothic" pitchFamily="34" charset="-122"/>
                <a:cs typeface="Yu Gothic" pitchFamily="34" charset="-120"/>
              </a:rPr>
              <a:t>開発投資の検討資料</a:t>
            </a:r>
            <a:endParaRPr lang="en-US" sz="1900" dirty="0"/>
          </a:p>
        </p:txBody>
      </p:sp>
      <p:sp>
        <p:nvSpPr>
          <p:cNvPr id="7" name="Shape 5"/>
          <p:cNvSpPr/>
          <p:nvPr/>
        </p:nvSpPr>
        <p:spPr>
          <a:xfrm>
            <a:off x="566928" y="4443984"/>
            <a:ext cx="2926080" cy="18288"/>
          </a:xfrm>
          <a:prstGeom prst="rect">
            <a:avLst/>
          </a:prstGeom>
          <a:solidFill>
            <a:srgbClr val="6E9A85"/>
          </a:solidFill>
          <a:ln/>
        </p:spPr>
      </p:sp>
      <p:sp>
        <p:nvSpPr>
          <p:cNvPr id="8" name="Text 6"/>
          <p:cNvSpPr/>
          <p:nvPr/>
        </p:nvSpPr>
        <p:spPr>
          <a:xfrm>
            <a:off x="566928" y="4645152"/>
            <a:ext cx="7863840" cy="822960"/>
          </a:xfrm>
          <a:prstGeom prst="rect">
            <a:avLst/>
          </a:prstGeom>
          <a:noFill/>
          <a:ln/>
        </p:spPr>
        <p:txBody>
          <a:bodyPr wrap="square" lIns="0" tIns="0" rIns="0" bIns="0" rtlCol="0" anchor="ctr"/>
          <a:lstStyle/>
          <a:p>
            <a:pPr indent="0" marL="0">
              <a:lnSpc>
                <a:spcPts val="2400"/>
              </a:lnSpc>
              <a:buNone/>
            </a:pPr>
            <a:r>
              <a:rPr lang="en-US" sz="1350" dirty="0">
                <a:solidFill>
                  <a:srgbClr val="9DB2A8"/>
                </a:solidFill>
                <a:latin typeface="Yu Gothic" pitchFamily="34" charset="0"/>
                <a:ea typeface="Yu Gothic" pitchFamily="34" charset="-122"/>
                <a:cs typeface="Yu Gothic" pitchFamily="34" charset="-120"/>
              </a:rPr>
              <a:t>「開くと話しかけてくれて、昨日の話を覚えている」音声AIを</a:t>
            </a:r>
            <a:endParaRPr lang="en-US" sz="1350" dirty="0"/>
          </a:p>
          <a:p>
            <a:pPr indent="0" marL="0">
              <a:lnSpc>
                <a:spcPts val="2400"/>
              </a:lnSpc>
              <a:buNone/>
            </a:pPr>
            <a:r>
              <a:rPr lang="en-US" sz="1350" dirty="0">
                <a:solidFill>
                  <a:srgbClr val="9DB2A8"/>
                </a:solidFill>
                <a:latin typeface="Yu Gothic" pitchFamily="34" charset="0"/>
                <a:ea typeface="Yu Gothic" pitchFamily="34" charset="-122"/>
                <a:cs typeface="Yu Gothic" pitchFamily="34" charset="-120"/>
              </a:rPr>
              <a:t>自社プロダクトとして開発する場合の、費用・原価・リスクの整理</a:t>
            </a:r>
            <a:endParaRPr lang="en-US" sz="13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57200"/>
            <a:ext cx="365760" cy="365760"/>
          </a:xfrm>
          <a:prstGeom prst="ellipse">
            <a:avLst/>
          </a:prstGeom>
          <a:solidFill>
            <a:srgbClr val="1F3D34"/>
          </a:solidFill>
          <a:ln/>
        </p:spPr>
      </p:sp>
      <p:sp>
        <p:nvSpPr>
          <p:cNvPr id="3" name="Text 1"/>
          <p:cNvSpPr/>
          <p:nvPr/>
        </p:nvSpPr>
        <p:spPr>
          <a:xfrm>
            <a:off x="566928" y="4572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4" name="Text 2"/>
          <p:cNvSpPr/>
          <p:nvPr/>
        </p:nvSpPr>
        <p:spPr>
          <a:xfrm>
            <a:off x="1133856" y="384048"/>
            <a:ext cx="10490911" cy="530352"/>
          </a:xfrm>
          <a:prstGeom prst="rect">
            <a:avLst/>
          </a:prstGeom>
          <a:noFill/>
          <a:ln/>
        </p:spPr>
        <p:txBody>
          <a:bodyPr wrap="square" lIns="0" tIns="0" rIns="0" bIns="0" rtlCol="0" anchor="ctr"/>
          <a:lstStyle/>
          <a:p>
            <a:pPr indent="0" marL="0">
              <a:buNone/>
            </a:pPr>
            <a:r>
              <a:rPr lang="en-US" sz="2700" b="1" dirty="0">
                <a:solidFill>
                  <a:srgbClr val="12211C"/>
                </a:solidFill>
                <a:latin typeface="Yu Gothic" pitchFamily="34" charset="0"/>
                <a:ea typeface="Yu Gothic" pitchFamily="34" charset="-122"/>
                <a:cs typeface="Yu Gothic" pitchFamily="34" charset="-120"/>
              </a:rPr>
              <a:t>結論</a:t>
            </a:r>
            <a:endParaRPr lang="en-US" sz="2700" dirty="0"/>
          </a:p>
        </p:txBody>
      </p:sp>
      <p:sp>
        <p:nvSpPr>
          <p:cNvPr id="5" name="Text 3"/>
          <p:cNvSpPr/>
          <p:nvPr/>
        </p:nvSpPr>
        <p:spPr>
          <a:xfrm>
            <a:off x="566928" y="969264"/>
            <a:ext cx="11057839" cy="329184"/>
          </a:xfrm>
          <a:prstGeom prst="rect">
            <a:avLst/>
          </a:prstGeom>
          <a:noFill/>
          <a:ln/>
        </p:spPr>
        <p:txBody>
          <a:bodyPr wrap="square" lIns="0" tIns="0" rIns="0" bIns="0" rtlCol="0" anchor="t"/>
          <a:lstStyle/>
          <a:p>
            <a:pPr indent="0" marL="0">
              <a:buNone/>
            </a:pPr>
            <a:r>
              <a:rPr lang="en-US" sz="1350" dirty="0">
                <a:solidFill>
                  <a:srgbClr val="6C7C75"/>
                </a:solidFill>
                <a:latin typeface="Yu Gothic" pitchFamily="34" charset="0"/>
                <a:ea typeface="Yu Gothic" pitchFamily="34" charset="-122"/>
                <a:cs typeface="Yu Gothic" pitchFamily="34" charset="-120"/>
              </a:rPr>
              <a:t>技術的な実現性ではなく、1人あたり月3,000円の原価をどう回収するかが判断の中心です。</a:t>
            </a:r>
            <a:endParaRPr lang="en-US" sz="1350" dirty="0"/>
          </a:p>
        </p:txBody>
      </p:sp>
      <p:sp>
        <p:nvSpPr>
          <p:cNvPr id="6" name="Shape 4"/>
          <p:cNvSpPr/>
          <p:nvPr/>
        </p:nvSpPr>
        <p:spPr>
          <a:xfrm>
            <a:off x="566928" y="1572768"/>
            <a:ext cx="3529584" cy="1883664"/>
          </a:xfrm>
          <a:prstGeom prst="roundRect">
            <a:avLst>
              <a:gd name="adj" fmla="val 2913"/>
            </a:avLst>
          </a:prstGeom>
          <a:solidFill>
            <a:srgbClr val="F2F7F4"/>
          </a:solidFill>
          <a:ln w="12700">
            <a:solidFill>
              <a:srgbClr val="D6E0DA"/>
            </a:solidFill>
            <a:prstDash val="solid"/>
          </a:ln>
        </p:spPr>
      </p:sp>
      <p:sp>
        <p:nvSpPr>
          <p:cNvPr id="7" name="Text 5"/>
          <p:cNvSpPr/>
          <p:nvPr/>
        </p:nvSpPr>
        <p:spPr>
          <a:xfrm>
            <a:off x="859536" y="1773936"/>
            <a:ext cx="2944368" cy="749808"/>
          </a:xfrm>
          <a:prstGeom prst="rect">
            <a:avLst/>
          </a:prstGeom>
          <a:noFill/>
          <a:ln/>
        </p:spPr>
        <p:txBody>
          <a:bodyPr wrap="square" lIns="0" tIns="0" rIns="0" bIns="0" rtlCol="0" anchor="ctr"/>
          <a:lstStyle/>
          <a:p>
            <a:pPr indent="0" marL="0">
              <a:buNone/>
            </a:pPr>
            <a:r>
              <a:rPr lang="en-US" sz="4600" b="1" dirty="0">
                <a:solidFill>
                  <a:srgbClr val="1F3D34"/>
                </a:solidFill>
                <a:latin typeface="Arial" pitchFamily="34" charset="0"/>
                <a:ea typeface="Arial" pitchFamily="34" charset="-122"/>
                <a:cs typeface="Arial" pitchFamily="34" charset="-120"/>
              </a:rPr>
              <a:t>658</a:t>
            </a:r>
            <a:pPr indent="0" marL="0">
              <a:buNone/>
            </a:pPr>
            <a:r>
              <a:rPr lang="en-US" sz="1700" b="1" dirty="0">
                <a:solidFill>
                  <a:srgbClr val="1F3D34"/>
                </a:solidFill>
                <a:latin typeface="Yu Gothic" pitchFamily="34" charset="0"/>
                <a:ea typeface="Yu Gothic" pitchFamily="34" charset="-122"/>
                <a:cs typeface="Yu Gothic" pitchFamily="34" charset="-120"/>
              </a:rPr>
              <a:t> 万円</a:t>
            </a:r>
            <a:endParaRPr lang="en-US" sz="4600" dirty="0"/>
          </a:p>
        </p:txBody>
      </p:sp>
      <p:sp>
        <p:nvSpPr>
          <p:cNvPr id="8" name="Text 6"/>
          <p:cNvSpPr/>
          <p:nvPr/>
        </p:nvSpPr>
        <p:spPr>
          <a:xfrm>
            <a:off x="859536" y="2560320"/>
            <a:ext cx="2944368" cy="310896"/>
          </a:xfrm>
          <a:prstGeom prst="rect">
            <a:avLst/>
          </a:prstGeom>
          <a:noFill/>
          <a:ln/>
        </p:spPr>
        <p:txBody>
          <a:bodyPr wrap="square" lIns="0" tIns="0" rIns="0" bIns="0" rtlCol="0" anchor="ctr"/>
          <a:lstStyle/>
          <a:p>
            <a:pPr indent="0" marL="0">
              <a:buNone/>
            </a:pPr>
            <a:r>
              <a:rPr lang="en-US" sz="1400" b="1" dirty="0">
                <a:solidFill>
                  <a:srgbClr val="12211C"/>
                </a:solidFill>
                <a:latin typeface="Yu Gothic" pitchFamily="34" charset="0"/>
                <a:ea typeface="Yu Gothic" pitchFamily="34" charset="-122"/>
                <a:cs typeface="Yu Gothic" pitchFamily="34" charset="-120"/>
              </a:rPr>
              <a:t>開発費（推奨案：MVP）</a:t>
            </a:r>
            <a:endParaRPr lang="en-US" sz="1400" dirty="0"/>
          </a:p>
        </p:txBody>
      </p:sp>
      <p:sp>
        <p:nvSpPr>
          <p:cNvPr id="9" name="Text 7"/>
          <p:cNvSpPr/>
          <p:nvPr/>
        </p:nvSpPr>
        <p:spPr>
          <a:xfrm>
            <a:off x="859536" y="2871216"/>
            <a:ext cx="2944368" cy="457200"/>
          </a:xfrm>
          <a:prstGeom prst="rect">
            <a:avLst/>
          </a:prstGeom>
          <a:noFill/>
          <a:ln/>
        </p:spPr>
        <p:txBody>
          <a:bodyPr wrap="square" lIns="0" tIns="0" rIns="0" bIns="0" rtlCol="0" anchor="ctr"/>
          <a:lstStyle/>
          <a:p>
            <a:pPr indent="0" marL="0">
              <a:lnSpc>
                <a:spcPts val="1700"/>
              </a:lnSpc>
              <a:buNone/>
            </a:pPr>
            <a:r>
              <a:rPr lang="en-US" sz="1150" dirty="0">
                <a:solidFill>
                  <a:srgbClr val="6C7C75"/>
                </a:solidFill>
                <a:latin typeface="Yu Gothic" pitchFamily="34" charset="0"/>
                <a:ea typeface="Yu Gothic" pitchFamily="34" charset="-122"/>
                <a:cs typeface="Yu Gothic" pitchFamily="34" charset="-120"/>
              </a:rPr>
              <a:t>94人日・約4ヶ月・3名体制</a:t>
            </a:r>
            <a:endParaRPr lang="en-US" sz="1150" dirty="0"/>
          </a:p>
        </p:txBody>
      </p:sp>
      <p:sp>
        <p:nvSpPr>
          <p:cNvPr id="10" name="Shape 8"/>
          <p:cNvSpPr/>
          <p:nvPr/>
        </p:nvSpPr>
        <p:spPr>
          <a:xfrm>
            <a:off x="4530852" y="1572768"/>
            <a:ext cx="3529584" cy="1883664"/>
          </a:xfrm>
          <a:prstGeom prst="roundRect">
            <a:avLst>
              <a:gd name="adj" fmla="val 2913"/>
            </a:avLst>
          </a:prstGeom>
          <a:solidFill>
            <a:srgbClr val="FAEDE1"/>
          </a:solidFill>
          <a:ln w="12700">
            <a:solidFill>
              <a:srgbClr val="EDD3BC"/>
            </a:solidFill>
            <a:prstDash val="solid"/>
          </a:ln>
        </p:spPr>
      </p:sp>
      <p:sp>
        <p:nvSpPr>
          <p:cNvPr id="11" name="Text 9"/>
          <p:cNvSpPr/>
          <p:nvPr/>
        </p:nvSpPr>
        <p:spPr>
          <a:xfrm>
            <a:off x="4823460" y="1773936"/>
            <a:ext cx="2944368" cy="749808"/>
          </a:xfrm>
          <a:prstGeom prst="rect">
            <a:avLst/>
          </a:prstGeom>
          <a:noFill/>
          <a:ln/>
        </p:spPr>
        <p:txBody>
          <a:bodyPr wrap="square" lIns="0" tIns="0" rIns="0" bIns="0" rtlCol="0" anchor="ctr"/>
          <a:lstStyle/>
          <a:p>
            <a:pPr indent="0" marL="0">
              <a:buNone/>
            </a:pPr>
            <a:r>
              <a:rPr lang="en-US" sz="4600" b="1" dirty="0">
                <a:solidFill>
                  <a:srgbClr val="C4682A"/>
                </a:solidFill>
                <a:latin typeface="Arial" pitchFamily="34" charset="0"/>
                <a:ea typeface="Arial" pitchFamily="34" charset="-122"/>
                <a:cs typeface="Arial" pitchFamily="34" charset="-120"/>
              </a:rPr>
              <a:t>3,000</a:t>
            </a:r>
            <a:pPr indent="0" marL="0">
              <a:buNone/>
            </a:pPr>
            <a:r>
              <a:rPr lang="en-US" sz="1700" b="1" dirty="0">
                <a:solidFill>
                  <a:srgbClr val="C4682A"/>
                </a:solidFill>
                <a:latin typeface="Yu Gothic" pitchFamily="34" charset="0"/>
                <a:ea typeface="Yu Gothic" pitchFamily="34" charset="-122"/>
                <a:cs typeface="Yu Gothic" pitchFamily="34" charset="-120"/>
              </a:rPr>
              <a:t> 円</a:t>
            </a:r>
            <a:endParaRPr lang="en-US" sz="4600" dirty="0"/>
          </a:p>
        </p:txBody>
      </p:sp>
      <p:sp>
        <p:nvSpPr>
          <p:cNvPr id="12" name="Text 10"/>
          <p:cNvSpPr/>
          <p:nvPr/>
        </p:nvSpPr>
        <p:spPr>
          <a:xfrm>
            <a:off x="4823460" y="2560320"/>
            <a:ext cx="2944368" cy="310896"/>
          </a:xfrm>
          <a:prstGeom prst="rect">
            <a:avLst/>
          </a:prstGeom>
          <a:noFill/>
          <a:ln/>
        </p:spPr>
        <p:txBody>
          <a:bodyPr wrap="square" lIns="0" tIns="0" rIns="0" bIns="0" rtlCol="0" anchor="ctr"/>
          <a:lstStyle/>
          <a:p>
            <a:pPr indent="0" marL="0">
              <a:buNone/>
            </a:pPr>
            <a:r>
              <a:rPr lang="en-US" sz="1400" b="1" dirty="0">
                <a:solidFill>
                  <a:srgbClr val="12211C"/>
                </a:solidFill>
                <a:latin typeface="Yu Gothic" pitchFamily="34" charset="0"/>
                <a:ea typeface="Yu Gothic" pitchFamily="34" charset="-122"/>
                <a:cs typeface="Yu Gothic" pitchFamily="34" charset="-120"/>
              </a:rPr>
              <a:t>1人あたりの月額原価</a:t>
            </a:r>
            <a:endParaRPr lang="en-US" sz="1400" dirty="0"/>
          </a:p>
        </p:txBody>
      </p:sp>
      <p:sp>
        <p:nvSpPr>
          <p:cNvPr id="13" name="Text 11"/>
          <p:cNvSpPr/>
          <p:nvPr/>
        </p:nvSpPr>
        <p:spPr>
          <a:xfrm>
            <a:off x="4823460" y="2871216"/>
            <a:ext cx="2944368" cy="457200"/>
          </a:xfrm>
          <a:prstGeom prst="rect">
            <a:avLst/>
          </a:prstGeom>
          <a:noFill/>
          <a:ln/>
        </p:spPr>
        <p:txBody>
          <a:bodyPr wrap="square" lIns="0" tIns="0" rIns="0" bIns="0" rtlCol="0" anchor="ctr"/>
          <a:lstStyle/>
          <a:p>
            <a:pPr indent="0" marL="0">
              <a:lnSpc>
                <a:spcPts val="1700"/>
              </a:lnSpc>
              <a:buNone/>
            </a:pPr>
            <a:r>
              <a:rPr lang="en-US" sz="1150" dirty="0">
                <a:solidFill>
                  <a:srgbClr val="6C7C75"/>
                </a:solidFill>
                <a:latin typeface="Yu Gothic" pitchFamily="34" charset="0"/>
                <a:ea typeface="Yu Gothic" pitchFamily="34" charset="-122"/>
                <a:cs typeface="Yu Gothic" pitchFamily="34" charset="-120"/>
              </a:rPr>
              <a:t>音声API＋インフラ（月300分利用）</a:t>
            </a:r>
            <a:endParaRPr lang="en-US" sz="1150" dirty="0"/>
          </a:p>
        </p:txBody>
      </p:sp>
      <p:sp>
        <p:nvSpPr>
          <p:cNvPr id="14" name="Shape 12"/>
          <p:cNvSpPr/>
          <p:nvPr/>
        </p:nvSpPr>
        <p:spPr>
          <a:xfrm>
            <a:off x="8494776" y="1572768"/>
            <a:ext cx="3529584" cy="1883664"/>
          </a:xfrm>
          <a:prstGeom prst="roundRect">
            <a:avLst>
              <a:gd name="adj" fmla="val 2913"/>
            </a:avLst>
          </a:prstGeom>
          <a:solidFill>
            <a:srgbClr val="F2F7F4"/>
          </a:solidFill>
          <a:ln w="12700">
            <a:solidFill>
              <a:srgbClr val="D6E0DA"/>
            </a:solidFill>
            <a:prstDash val="solid"/>
          </a:ln>
        </p:spPr>
      </p:sp>
      <p:sp>
        <p:nvSpPr>
          <p:cNvPr id="15" name="Text 13"/>
          <p:cNvSpPr/>
          <p:nvPr/>
        </p:nvSpPr>
        <p:spPr>
          <a:xfrm>
            <a:off x="8787384" y="1773936"/>
            <a:ext cx="2944368" cy="749808"/>
          </a:xfrm>
          <a:prstGeom prst="rect">
            <a:avLst/>
          </a:prstGeom>
          <a:noFill/>
          <a:ln/>
        </p:spPr>
        <p:txBody>
          <a:bodyPr wrap="square" lIns="0" tIns="0" rIns="0" bIns="0" rtlCol="0" anchor="ctr"/>
          <a:lstStyle/>
          <a:p>
            <a:pPr indent="0" marL="0">
              <a:buNone/>
            </a:pPr>
            <a:r>
              <a:rPr lang="en-US" sz="4600" b="1" dirty="0">
                <a:solidFill>
                  <a:srgbClr val="1F3D34"/>
                </a:solidFill>
                <a:latin typeface="Arial" pitchFamily="34" charset="0"/>
                <a:ea typeface="Arial" pitchFamily="34" charset="-122"/>
                <a:cs typeface="Arial" pitchFamily="34" charset="-120"/>
              </a:rPr>
              <a:t>10</a:t>
            </a:r>
            <a:pPr indent="0" marL="0">
              <a:buNone/>
            </a:pPr>
            <a:r>
              <a:rPr lang="en-US" sz="1700" b="1" dirty="0">
                <a:solidFill>
                  <a:srgbClr val="1F3D34"/>
                </a:solidFill>
                <a:latin typeface="Yu Gothic" pitchFamily="34" charset="0"/>
                <a:ea typeface="Yu Gothic" pitchFamily="34" charset="-122"/>
                <a:cs typeface="Yu Gothic" pitchFamily="34" charset="-120"/>
              </a:rPr>
              <a:t> 点</a:t>
            </a:r>
            <a:endParaRPr lang="en-US" sz="4600" dirty="0"/>
          </a:p>
        </p:txBody>
      </p:sp>
      <p:sp>
        <p:nvSpPr>
          <p:cNvPr id="16" name="Text 14"/>
          <p:cNvSpPr/>
          <p:nvPr/>
        </p:nvSpPr>
        <p:spPr>
          <a:xfrm>
            <a:off x="8787384" y="2560320"/>
            <a:ext cx="2944368" cy="310896"/>
          </a:xfrm>
          <a:prstGeom prst="rect">
            <a:avLst/>
          </a:prstGeom>
          <a:noFill/>
          <a:ln/>
        </p:spPr>
        <p:txBody>
          <a:bodyPr wrap="square" lIns="0" tIns="0" rIns="0" bIns="0" rtlCol="0" anchor="ctr"/>
          <a:lstStyle/>
          <a:p>
            <a:pPr indent="0" marL="0">
              <a:buNone/>
            </a:pPr>
            <a:r>
              <a:rPr lang="en-US" sz="1400" b="1" dirty="0">
                <a:solidFill>
                  <a:srgbClr val="12211C"/>
                </a:solidFill>
                <a:latin typeface="Yu Gothic" pitchFamily="34" charset="0"/>
                <a:ea typeface="Yu Gothic" pitchFamily="34" charset="-122"/>
                <a:cs typeface="Yu Gothic" pitchFamily="34" charset="-120"/>
              </a:rPr>
              <a:t>未確定の前提条件</a:t>
            </a:r>
            <a:endParaRPr lang="en-US" sz="1400" dirty="0"/>
          </a:p>
        </p:txBody>
      </p:sp>
      <p:sp>
        <p:nvSpPr>
          <p:cNvPr id="17" name="Text 15"/>
          <p:cNvSpPr/>
          <p:nvPr/>
        </p:nvSpPr>
        <p:spPr>
          <a:xfrm>
            <a:off x="8787384" y="2871216"/>
            <a:ext cx="2944368" cy="457200"/>
          </a:xfrm>
          <a:prstGeom prst="rect">
            <a:avLst/>
          </a:prstGeom>
          <a:noFill/>
          <a:ln/>
        </p:spPr>
        <p:txBody>
          <a:bodyPr wrap="square" lIns="0" tIns="0" rIns="0" bIns="0" rtlCol="0" anchor="ctr"/>
          <a:lstStyle/>
          <a:p>
            <a:pPr indent="0" marL="0">
              <a:lnSpc>
                <a:spcPts val="1700"/>
              </a:lnSpc>
              <a:buNone/>
            </a:pPr>
            <a:r>
              <a:rPr lang="en-US" sz="1150" dirty="0">
                <a:solidFill>
                  <a:srgbClr val="6C7C75"/>
                </a:solidFill>
                <a:latin typeface="Yu Gothic" pitchFamily="34" charset="0"/>
                <a:ea typeface="Yu Gothic" pitchFamily="34" charset="-122"/>
                <a:cs typeface="Yu Gothic" pitchFamily="34" charset="-120"/>
              </a:rPr>
              <a:t>うち3点は金額に直結（最終ページ）</a:t>
            </a:r>
            <a:endParaRPr lang="en-US" sz="1150" dirty="0"/>
          </a:p>
        </p:txBody>
      </p:sp>
      <p:sp>
        <p:nvSpPr>
          <p:cNvPr id="18" name="Shape 16"/>
          <p:cNvSpPr/>
          <p:nvPr/>
        </p:nvSpPr>
        <p:spPr>
          <a:xfrm>
            <a:off x="566928" y="3712464"/>
            <a:ext cx="11057839" cy="2377440"/>
          </a:xfrm>
          <a:prstGeom prst="roundRect">
            <a:avLst>
              <a:gd name="adj" fmla="val 2308"/>
            </a:avLst>
          </a:prstGeom>
          <a:solidFill>
            <a:srgbClr val="FFFFFF"/>
          </a:solidFill>
          <a:ln w="12700">
            <a:solidFill>
              <a:srgbClr val="D6E0DA"/>
            </a:solidFill>
            <a:prstDash val="solid"/>
          </a:ln>
          <a:effectLst>
            <a:outerShdw sx="100000" sy="100000" kx="0" ky="0" algn="bl" rotWithShape="0" blurRad="127000" dist="25400" dir="5400000">
              <a:srgbClr val="1F3D34">
                <a:alpha val="10000"/>
              </a:srgbClr>
            </a:outerShdw>
          </a:effectLst>
        </p:spPr>
      </p:sp>
      <p:sp>
        <p:nvSpPr>
          <p:cNvPr id="19" name="Text 17"/>
          <p:cNvSpPr/>
          <p:nvPr/>
        </p:nvSpPr>
        <p:spPr>
          <a:xfrm>
            <a:off x="950976" y="3913632"/>
            <a:ext cx="3657600" cy="310896"/>
          </a:xfrm>
          <a:prstGeom prst="rect">
            <a:avLst/>
          </a:prstGeom>
          <a:noFill/>
          <a:ln/>
        </p:spPr>
        <p:txBody>
          <a:bodyPr wrap="square" lIns="0" tIns="0" rIns="0" bIns="0" rtlCol="0" anchor="ctr"/>
          <a:lstStyle/>
          <a:p>
            <a:pPr indent="0" marL="0">
              <a:buNone/>
            </a:pPr>
            <a:r>
              <a:rPr lang="en-US" sz="1300" b="1" spc="150" kern="0" dirty="0">
                <a:solidFill>
                  <a:srgbClr val="6E9A85"/>
                </a:solidFill>
                <a:latin typeface="Yu Gothic" pitchFamily="34" charset="0"/>
                <a:ea typeface="Yu Gothic" pitchFamily="34" charset="-122"/>
                <a:cs typeface="Yu Gothic" pitchFamily="34" charset="-120"/>
              </a:rPr>
              <a:t>意思決定の要点</a:t>
            </a:r>
            <a:endParaRPr lang="en-US" sz="1300" dirty="0"/>
          </a:p>
        </p:txBody>
      </p:sp>
      <p:sp>
        <p:nvSpPr>
          <p:cNvPr id="20" name="Shape 18"/>
          <p:cNvSpPr/>
          <p:nvPr/>
        </p:nvSpPr>
        <p:spPr>
          <a:xfrm>
            <a:off x="950976" y="4315968"/>
            <a:ext cx="310896" cy="310896"/>
          </a:xfrm>
          <a:prstGeom prst="ellipse">
            <a:avLst/>
          </a:prstGeom>
          <a:solidFill>
            <a:srgbClr val="1F3D34"/>
          </a:solidFill>
          <a:ln/>
        </p:spPr>
      </p:sp>
      <p:sp>
        <p:nvSpPr>
          <p:cNvPr id="21" name="Text 19"/>
          <p:cNvSpPr/>
          <p:nvPr/>
        </p:nvSpPr>
        <p:spPr>
          <a:xfrm>
            <a:off x="950976" y="431596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1</a:t>
            </a:r>
            <a:endParaRPr lang="en-US" sz="1100" dirty="0"/>
          </a:p>
        </p:txBody>
      </p:sp>
      <p:sp>
        <p:nvSpPr>
          <p:cNvPr id="22" name="Text 20"/>
          <p:cNvSpPr/>
          <p:nvPr/>
        </p:nvSpPr>
        <p:spPr>
          <a:xfrm>
            <a:off x="1435608" y="4279392"/>
            <a:ext cx="4572000" cy="274320"/>
          </a:xfrm>
          <a:prstGeom prst="rect">
            <a:avLst/>
          </a:prstGeom>
          <a:noFill/>
          <a:ln/>
        </p:spPr>
        <p:txBody>
          <a:bodyPr wrap="square" lIns="0" tIns="0" rIns="0" bIns="0" rtlCol="0" anchor="ctr"/>
          <a:lstStyle/>
          <a:p>
            <a:pPr indent="0" marL="0">
              <a:buNone/>
            </a:pPr>
            <a:r>
              <a:rPr lang="en-US" sz="1300" b="1" dirty="0">
                <a:solidFill>
                  <a:srgbClr val="12211C"/>
                </a:solidFill>
                <a:latin typeface="Yu Gothic" pitchFamily="34" charset="0"/>
                <a:ea typeface="Yu Gothic" pitchFamily="34" charset="-122"/>
                <a:cs typeface="Yu Gothic" pitchFamily="34" charset="-120"/>
              </a:rPr>
              <a:t>作れるかどうかは論点ではない</a:t>
            </a:r>
            <a:endParaRPr lang="en-US" sz="1300" dirty="0"/>
          </a:p>
        </p:txBody>
      </p:sp>
      <p:sp>
        <p:nvSpPr>
          <p:cNvPr id="23" name="Text 21"/>
          <p:cNvSpPr/>
          <p:nvPr/>
        </p:nvSpPr>
        <p:spPr>
          <a:xfrm>
            <a:off x="6099048" y="4261104"/>
            <a:ext cx="5114239" cy="384048"/>
          </a:xfrm>
          <a:prstGeom prst="rect">
            <a:avLst/>
          </a:prstGeom>
          <a:noFill/>
          <a:ln/>
        </p:spPr>
        <p:txBody>
          <a:bodyPr wrap="square" lIns="0" tIns="0" rIns="0" bIns="0" rtlCol="0" anchor="ctr"/>
          <a:lstStyle/>
          <a:p>
            <a:pPr indent="0" marL="0">
              <a:lnSpc>
                <a:spcPts val="1600"/>
              </a:lnSpc>
              <a:buNone/>
            </a:pPr>
            <a:r>
              <a:rPr lang="en-US" sz="1150" dirty="0">
                <a:solidFill>
                  <a:srgbClr val="6C7C75"/>
                </a:solidFill>
                <a:latin typeface="Yu Gothic" pitchFamily="34" charset="0"/>
                <a:ea typeface="Yu Gothic" pitchFamily="34" charset="-122"/>
                <a:cs typeface="Yu Gothic" pitchFamily="34" charset="-120"/>
              </a:rPr>
              <a:t>音声も記憶も既存技術の組み合わせで実現できる。難所は品質ではなく単価。</a:t>
            </a:r>
            <a:endParaRPr lang="en-US" sz="1150" dirty="0"/>
          </a:p>
        </p:txBody>
      </p:sp>
      <p:sp>
        <p:nvSpPr>
          <p:cNvPr id="24" name="Shape 22"/>
          <p:cNvSpPr/>
          <p:nvPr/>
        </p:nvSpPr>
        <p:spPr>
          <a:xfrm>
            <a:off x="950976" y="4892040"/>
            <a:ext cx="310896" cy="310896"/>
          </a:xfrm>
          <a:prstGeom prst="ellipse">
            <a:avLst/>
          </a:prstGeom>
          <a:solidFill>
            <a:srgbClr val="C4682A"/>
          </a:solidFill>
          <a:ln/>
        </p:spPr>
      </p:sp>
      <p:sp>
        <p:nvSpPr>
          <p:cNvPr id="25" name="Text 23"/>
          <p:cNvSpPr/>
          <p:nvPr/>
        </p:nvSpPr>
        <p:spPr>
          <a:xfrm>
            <a:off x="950976" y="4892040"/>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2</a:t>
            </a:r>
            <a:endParaRPr lang="en-US" sz="1100" dirty="0"/>
          </a:p>
        </p:txBody>
      </p:sp>
      <p:sp>
        <p:nvSpPr>
          <p:cNvPr id="26" name="Text 24"/>
          <p:cNvSpPr/>
          <p:nvPr/>
        </p:nvSpPr>
        <p:spPr>
          <a:xfrm>
            <a:off x="1435608" y="4855464"/>
            <a:ext cx="4572000" cy="274320"/>
          </a:xfrm>
          <a:prstGeom prst="rect">
            <a:avLst/>
          </a:prstGeom>
          <a:noFill/>
          <a:ln/>
        </p:spPr>
        <p:txBody>
          <a:bodyPr wrap="square" lIns="0" tIns="0" rIns="0" bIns="0" rtlCol="0" anchor="ctr"/>
          <a:lstStyle/>
          <a:p>
            <a:pPr indent="0" marL="0">
              <a:buNone/>
            </a:pPr>
            <a:r>
              <a:rPr lang="en-US" sz="1300" b="1" dirty="0">
                <a:solidFill>
                  <a:srgbClr val="C4682A"/>
                </a:solidFill>
                <a:latin typeface="Yu Gothic" pitchFamily="34" charset="0"/>
                <a:ea typeface="Yu Gothic" pitchFamily="34" charset="-122"/>
                <a:cs typeface="Yu Gothic" pitchFamily="34" charset="-120"/>
              </a:rPr>
              <a:t>リアルタイム音声を無制限に使わせると赤字になる</a:t>
            </a:r>
            <a:endParaRPr lang="en-US" sz="1300" dirty="0"/>
          </a:p>
        </p:txBody>
      </p:sp>
      <p:sp>
        <p:nvSpPr>
          <p:cNvPr id="27" name="Text 25"/>
          <p:cNvSpPr/>
          <p:nvPr/>
        </p:nvSpPr>
        <p:spPr>
          <a:xfrm>
            <a:off x="6099048" y="4837176"/>
            <a:ext cx="5114239" cy="384048"/>
          </a:xfrm>
          <a:prstGeom prst="rect">
            <a:avLst/>
          </a:prstGeom>
          <a:noFill/>
          <a:ln/>
        </p:spPr>
        <p:txBody>
          <a:bodyPr wrap="square" lIns="0" tIns="0" rIns="0" bIns="0" rtlCol="0" anchor="ctr"/>
          <a:lstStyle/>
          <a:p>
            <a:pPr indent="0" marL="0">
              <a:lnSpc>
                <a:spcPts val="1600"/>
              </a:lnSpc>
              <a:buNone/>
            </a:pPr>
            <a:r>
              <a:rPr lang="en-US" sz="1150" dirty="0">
                <a:solidFill>
                  <a:srgbClr val="6C7C75"/>
                </a:solidFill>
                <a:latin typeface="Yu Gothic" pitchFamily="34" charset="0"/>
                <a:ea typeface="Yu Gothic" pitchFamily="34" charset="-122"/>
                <a:cs typeface="Yu Gothic" pitchFamily="34" charset="-120"/>
              </a:rPr>
              <a:t>1人月6,000〜10,500円。会話時間の上限設計が事実上の原価管理になる。</a:t>
            </a:r>
            <a:endParaRPr lang="en-US" sz="1150" dirty="0"/>
          </a:p>
        </p:txBody>
      </p:sp>
      <p:sp>
        <p:nvSpPr>
          <p:cNvPr id="28" name="Shape 26"/>
          <p:cNvSpPr/>
          <p:nvPr/>
        </p:nvSpPr>
        <p:spPr>
          <a:xfrm>
            <a:off x="950976" y="5468112"/>
            <a:ext cx="310896" cy="310896"/>
          </a:xfrm>
          <a:prstGeom prst="ellipse">
            <a:avLst/>
          </a:prstGeom>
          <a:solidFill>
            <a:srgbClr val="1F3D34"/>
          </a:solidFill>
          <a:ln/>
        </p:spPr>
      </p:sp>
      <p:sp>
        <p:nvSpPr>
          <p:cNvPr id="29" name="Text 27"/>
          <p:cNvSpPr/>
          <p:nvPr/>
        </p:nvSpPr>
        <p:spPr>
          <a:xfrm>
            <a:off x="950976" y="546811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3</a:t>
            </a:r>
            <a:endParaRPr lang="en-US" sz="1100" dirty="0"/>
          </a:p>
        </p:txBody>
      </p:sp>
      <p:sp>
        <p:nvSpPr>
          <p:cNvPr id="30" name="Text 28"/>
          <p:cNvSpPr/>
          <p:nvPr/>
        </p:nvSpPr>
        <p:spPr>
          <a:xfrm>
            <a:off x="1435608" y="5431536"/>
            <a:ext cx="4572000" cy="274320"/>
          </a:xfrm>
          <a:prstGeom prst="rect">
            <a:avLst/>
          </a:prstGeom>
          <a:noFill/>
          <a:ln/>
        </p:spPr>
        <p:txBody>
          <a:bodyPr wrap="square" lIns="0" tIns="0" rIns="0" bIns="0" rtlCol="0" anchor="ctr"/>
          <a:lstStyle/>
          <a:p>
            <a:pPr indent="0" marL="0">
              <a:buNone/>
            </a:pPr>
            <a:r>
              <a:rPr lang="en-US" sz="1300" b="1" dirty="0">
                <a:solidFill>
                  <a:srgbClr val="12211C"/>
                </a:solidFill>
                <a:latin typeface="Yu Gothic" pitchFamily="34" charset="0"/>
                <a:ea typeface="Yu Gothic" pitchFamily="34" charset="-122"/>
                <a:cs typeface="Yu Gothic" pitchFamily="34" charset="-120"/>
              </a:rPr>
              <a:t>回収モデルが決まらないと仕様が決まらない</a:t>
            </a:r>
            <a:endParaRPr lang="en-US" sz="1300" dirty="0"/>
          </a:p>
        </p:txBody>
      </p:sp>
      <p:sp>
        <p:nvSpPr>
          <p:cNvPr id="31" name="Text 29"/>
          <p:cNvSpPr/>
          <p:nvPr/>
        </p:nvSpPr>
        <p:spPr>
          <a:xfrm>
            <a:off x="6099048" y="5413248"/>
            <a:ext cx="5114239" cy="384048"/>
          </a:xfrm>
          <a:prstGeom prst="rect">
            <a:avLst/>
          </a:prstGeom>
          <a:noFill/>
          <a:ln/>
        </p:spPr>
        <p:txBody>
          <a:bodyPr wrap="square" lIns="0" tIns="0" rIns="0" bIns="0" rtlCol="0" anchor="ctr"/>
          <a:lstStyle/>
          <a:p>
            <a:pPr indent="0" marL="0">
              <a:lnSpc>
                <a:spcPts val="1600"/>
              </a:lnSpc>
              <a:buNone/>
            </a:pPr>
            <a:r>
              <a:rPr lang="en-US" sz="1150" dirty="0">
                <a:solidFill>
                  <a:srgbClr val="6C7C75"/>
                </a:solidFill>
                <a:latin typeface="Yu Gothic" pitchFamily="34" charset="0"/>
                <a:ea typeface="Yu Gothic" pitchFamily="34" charset="-122"/>
                <a:cs typeface="Yu Gothic" pitchFamily="34" charset="-120"/>
              </a:rPr>
              <a:t>個人課金か施設契約かで、音声方式・機能範囲・開発費が連動して変わる。</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57200"/>
            <a:ext cx="365760" cy="365760"/>
          </a:xfrm>
          <a:prstGeom prst="ellipse">
            <a:avLst/>
          </a:prstGeom>
          <a:solidFill>
            <a:srgbClr val="1F3D34"/>
          </a:solidFill>
          <a:ln/>
        </p:spPr>
      </p:sp>
      <p:sp>
        <p:nvSpPr>
          <p:cNvPr id="3" name="Text 1"/>
          <p:cNvSpPr/>
          <p:nvPr/>
        </p:nvSpPr>
        <p:spPr>
          <a:xfrm>
            <a:off x="566928" y="4572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4" name="Text 2"/>
          <p:cNvSpPr/>
          <p:nvPr/>
        </p:nvSpPr>
        <p:spPr>
          <a:xfrm>
            <a:off x="1133856" y="384048"/>
            <a:ext cx="10490911" cy="530352"/>
          </a:xfrm>
          <a:prstGeom prst="rect">
            <a:avLst/>
          </a:prstGeom>
          <a:noFill/>
          <a:ln/>
        </p:spPr>
        <p:txBody>
          <a:bodyPr wrap="square" lIns="0" tIns="0" rIns="0" bIns="0" rtlCol="0" anchor="ctr"/>
          <a:lstStyle/>
          <a:p>
            <a:pPr indent="0" marL="0">
              <a:buNone/>
            </a:pPr>
            <a:r>
              <a:rPr lang="en-US" sz="2700" b="1" dirty="0">
                <a:solidFill>
                  <a:srgbClr val="12211C"/>
                </a:solidFill>
                <a:latin typeface="Yu Gothic" pitchFamily="34" charset="0"/>
                <a:ea typeface="Yu Gothic" pitchFamily="34" charset="-122"/>
                <a:cs typeface="Yu Gothic" pitchFamily="34" charset="-120"/>
              </a:rPr>
              <a:t>何を作るのか</a:t>
            </a:r>
            <a:endParaRPr lang="en-US" sz="2700" dirty="0"/>
          </a:p>
        </p:txBody>
      </p:sp>
      <p:sp>
        <p:nvSpPr>
          <p:cNvPr id="5" name="Text 3"/>
          <p:cNvSpPr/>
          <p:nvPr/>
        </p:nvSpPr>
        <p:spPr>
          <a:xfrm>
            <a:off x="566928" y="969264"/>
            <a:ext cx="11057839" cy="329184"/>
          </a:xfrm>
          <a:prstGeom prst="rect">
            <a:avLst/>
          </a:prstGeom>
          <a:noFill/>
          <a:ln/>
        </p:spPr>
        <p:txBody>
          <a:bodyPr wrap="square" lIns="0" tIns="0" rIns="0" bIns="0" rtlCol="0" anchor="t"/>
          <a:lstStyle/>
          <a:p>
            <a:pPr indent="0" marL="0">
              <a:buNone/>
            </a:pPr>
            <a:r>
              <a:rPr lang="en-US" sz="1350" dirty="0">
                <a:solidFill>
                  <a:srgbClr val="6C7C75"/>
                </a:solidFill>
                <a:latin typeface="Yu Gothic" pitchFamily="34" charset="0"/>
                <a:ea typeface="Yu Gothic" pitchFamily="34" charset="-122"/>
                <a:cs typeface="Yu Gothic" pitchFamily="34" charset="-120"/>
              </a:rPr>
              <a:t>既存の高齢者向けサービスとの違いは、機能の多さではなく「覚えていること」です。</a:t>
            </a:r>
            <a:endParaRPr lang="en-US" sz="1350" dirty="0"/>
          </a:p>
        </p:txBody>
      </p:sp>
      <p:sp>
        <p:nvSpPr>
          <p:cNvPr id="6" name="Shape 4"/>
          <p:cNvSpPr/>
          <p:nvPr/>
        </p:nvSpPr>
        <p:spPr>
          <a:xfrm>
            <a:off x="566928" y="1609344"/>
            <a:ext cx="5336896" cy="1975104"/>
          </a:xfrm>
          <a:prstGeom prst="roundRect">
            <a:avLst>
              <a:gd name="adj" fmla="val 2778"/>
            </a:avLst>
          </a:prstGeom>
          <a:solidFill>
            <a:srgbClr val="FFFFFF"/>
          </a:solidFill>
          <a:ln w="12700">
            <a:solidFill>
              <a:srgbClr val="D6E0DA"/>
            </a:solidFill>
            <a:prstDash val="solid"/>
          </a:ln>
          <a:effectLst>
            <a:outerShdw sx="100000" sy="100000" kx="0" ky="0" algn="bl" rotWithShape="0" blurRad="127000" dist="25400" dir="5400000">
              <a:srgbClr val="1F3D34">
                <a:alpha val="10000"/>
              </a:srgbClr>
            </a:outerShdw>
          </a:effectLst>
        </p:spPr>
      </p:sp>
      <p:sp>
        <p:nvSpPr>
          <p:cNvPr id="7" name="Shape 5"/>
          <p:cNvSpPr/>
          <p:nvPr/>
        </p:nvSpPr>
        <p:spPr>
          <a:xfrm>
            <a:off x="914400" y="1938528"/>
            <a:ext cx="566928" cy="566928"/>
          </a:xfrm>
          <a:prstGeom prst="ellipse">
            <a:avLst/>
          </a:prstGeom>
          <a:solidFill>
            <a:srgbClr val="6E9A85"/>
          </a:solidFill>
          <a:ln/>
        </p:spPr>
      </p:sp>
      <p:sp>
        <p:nvSpPr>
          <p:cNvPr id="8" name="Text 6"/>
          <p:cNvSpPr/>
          <p:nvPr/>
        </p:nvSpPr>
        <p:spPr>
          <a:xfrm>
            <a:off x="914400" y="1938528"/>
            <a:ext cx="566928"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Yu Gothic" pitchFamily="34" charset="0"/>
                <a:ea typeface="Yu Gothic" pitchFamily="34" charset="-122"/>
                <a:cs typeface="Yu Gothic" pitchFamily="34" charset="-120"/>
              </a:rPr>
              <a:t>起動</a:t>
            </a:r>
            <a:endParaRPr lang="en-US" sz="1200" dirty="0"/>
          </a:p>
        </p:txBody>
      </p:sp>
      <p:sp>
        <p:nvSpPr>
          <p:cNvPr id="9" name="Text 7"/>
          <p:cNvSpPr/>
          <p:nvPr/>
        </p:nvSpPr>
        <p:spPr>
          <a:xfrm>
            <a:off x="1627632" y="1920240"/>
            <a:ext cx="3928720" cy="402336"/>
          </a:xfrm>
          <a:prstGeom prst="rect">
            <a:avLst/>
          </a:prstGeom>
          <a:noFill/>
          <a:ln/>
        </p:spPr>
        <p:txBody>
          <a:bodyPr wrap="square" lIns="0" tIns="0" rIns="0" bIns="0" rtlCol="0" anchor="ctr"/>
          <a:lstStyle/>
          <a:p>
            <a:pPr indent="0" marL="0">
              <a:buNone/>
            </a:pPr>
            <a:r>
              <a:rPr lang="en-US" sz="1650" b="1" dirty="0">
                <a:solidFill>
                  <a:srgbClr val="12211C"/>
                </a:solidFill>
                <a:latin typeface="Yu Gothic" pitchFamily="34" charset="0"/>
                <a:ea typeface="Yu Gothic" pitchFamily="34" charset="-122"/>
                <a:cs typeface="Yu Gothic" pitchFamily="34" charset="-120"/>
              </a:rPr>
              <a:t>開いたら、AIから話しかける</a:t>
            </a:r>
            <a:endParaRPr lang="en-US" sz="1650" dirty="0"/>
          </a:p>
        </p:txBody>
      </p:sp>
      <p:sp>
        <p:nvSpPr>
          <p:cNvPr id="10" name="Text 8"/>
          <p:cNvSpPr/>
          <p:nvPr/>
        </p:nvSpPr>
        <p:spPr>
          <a:xfrm>
            <a:off x="1627632" y="2450592"/>
            <a:ext cx="3928720" cy="914400"/>
          </a:xfrm>
          <a:prstGeom prst="rect">
            <a:avLst/>
          </a:prstGeom>
          <a:noFill/>
          <a:ln/>
        </p:spPr>
        <p:txBody>
          <a:bodyPr wrap="square" lIns="0" tIns="0" rIns="0" bIns="0" rtlCol="0" anchor="ctr"/>
          <a:lstStyle/>
          <a:p>
            <a:pPr indent="0" marL="0">
              <a:lnSpc>
                <a:spcPts val="2000"/>
              </a:lnSpc>
              <a:buNone/>
            </a:pPr>
            <a:r>
              <a:rPr lang="en-US" sz="1250" dirty="0">
                <a:solidFill>
                  <a:srgbClr val="6C7C75"/>
                </a:solidFill>
                <a:latin typeface="Yu Gothic" pitchFamily="34" charset="0"/>
                <a:ea typeface="Yu Gothic" pitchFamily="34" charset="-122"/>
                <a:cs typeface="Yu Gothic" pitchFamily="34" charset="-120"/>
              </a:rPr>
              <a:t>ボタンを押させない。高齢者向けUIの本体は文字の大きさではなく、操作を発生させないこと。</a:t>
            </a:r>
            <a:endParaRPr lang="en-US" sz="1250" dirty="0"/>
          </a:p>
        </p:txBody>
      </p:sp>
      <p:sp>
        <p:nvSpPr>
          <p:cNvPr id="11" name="Shape 9"/>
          <p:cNvSpPr/>
          <p:nvPr/>
        </p:nvSpPr>
        <p:spPr>
          <a:xfrm>
            <a:off x="6287872" y="1609344"/>
            <a:ext cx="5336896" cy="1975104"/>
          </a:xfrm>
          <a:prstGeom prst="roundRect">
            <a:avLst>
              <a:gd name="adj" fmla="val 2778"/>
            </a:avLst>
          </a:prstGeom>
          <a:solidFill>
            <a:srgbClr val="FFFFFF"/>
          </a:solidFill>
          <a:ln w="12700">
            <a:solidFill>
              <a:srgbClr val="D6E0DA"/>
            </a:solidFill>
            <a:prstDash val="solid"/>
          </a:ln>
          <a:effectLst>
            <a:outerShdw sx="100000" sy="100000" kx="0" ky="0" algn="bl" rotWithShape="0" blurRad="127000" dist="25400" dir="5400000">
              <a:srgbClr val="1F3D34">
                <a:alpha val="10000"/>
              </a:srgbClr>
            </a:outerShdw>
          </a:effectLst>
        </p:spPr>
      </p:sp>
      <p:sp>
        <p:nvSpPr>
          <p:cNvPr id="12" name="Shape 10"/>
          <p:cNvSpPr/>
          <p:nvPr/>
        </p:nvSpPr>
        <p:spPr>
          <a:xfrm>
            <a:off x="6635344" y="1938528"/>
            <a:ext cx="566928" cy="566928"/>
          </a:xfrm>
          <a:prstGeom prst="ellipse">
            <a:avLst/>
          </a:prstGeom>
          <a:solidFill>
            <a:srgbClr val="6E9A85"/>
          </a:solidFill>
          <a:ln/>
        </p:spPr>
      </p:sp>
      <p:sp>
        <p:nvSpPr>
          <p:cNvPr id="13" name="Text 11"/>
          <p:cNvSpPr/>
          <p:nvPr/>
        </p:nvSpPr>
        <p:spPr>
          <a:xfrm>
            <a:off x="6635344" y="1938528"/>
            <a:ext cx="566928"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Yu Gothic" pitchFamily="34" charset="0"/>
                <a:ea typeface="Yu Gothic" pitchFamily="34" charset="-122"/>
                <a:cs typeface="Yu Gothic" pitchFamily="34" charset="-120"/>
              </a:rPr>
              <a:t>会話</a:t>
            </a:r>
            <a:endParaRPr lang="en-US" sz="1200" dirty="0"/>
          </a:p>
        </p:txBody>
      </p:sp>
      <p:sp>
        <p:nvSpPr>
          <p:cNvPr id="14" name="Text 12"/>
          <p:cNvSpPr/>
          <p:nvPr/>
        </p:nvSpPr>
        <p:spPr>
          <a:xfrm>
            <a:off x="7348576" y="1920240"/>
            <a:ext cx="3928720" cy="402336"/>
          </a:xfrm>
          <a:prstGeom prst="rect">
            <a:avLst/>
          </a:prstGeom>
          <a:noFill/>
          <a:ln/>
        </p:spPr>
        <p:txBody>
          <a:bodyPr wrap="square" lIns="0" tIns="0" rIns="0" bIns="0" rtlCol="0" anchor="ctr"/>
          <a:lstStyle/>
          <a:p>
            <a:pPr indent="0" marL="0">
              <a:buNone/>
            </a:pPr>
            <a:r>
              <a:rPr lang="en-US" sz="1650" b="1" dirty="0">
                <a:solidFill>
                  <a:srgbClr val="12211C"/>
                </a:solidFill>
                <a:latin typeface="Yu Gothic" pitchFamily="34" charset="0"/>
                <a:ea typeface="Yu Gothic" pitchFamily="34" charset="-122"/>
                <a:cs typeface="Yu Gothic" pitchFamily="34" charset="-120"/>
              </a:rPr>
              <a:t>声で自然に話す</a:t>
            </a:r>
            <a:endParaRPr lang="en-US" sz="1650" dirty="0"/>
          </a:p>
        </p:txBody>
      </p:sp>
      <p:sp>
        <p:nvSpPr>
          <p:cNvPr id="15" name="Text 13"/>
          <p:cNvSpPr/>
          <p:nvPr/>
        </p:nvSpPr>
        <p:spPr>
          <a:xfrm>
            <a:off x="7348576" y="2450592"/>
            <a:ext cx="3928720" cy="914400"/>
          </a:xfrm>
          <a:prstGeom prst="rect">
            <a:avLst/>
          </a:prstGeom>
          <a:noFill/>
          <a:ln/>
        </p:spPr>
        <p:txBody>
          <a:bodyPr wrap="square" lIns="0" tIns="0" rIns="0" bIns="0" rtlCol="0" anchor="ctr"/>
          <a:lstStyle/>
          <a:p>
            <a:pPr indent="0" marL="0">
              <a:lnSpc>
                <a:spcPts val="2000"/>
              </a:lnSpc>
              <a:buNone/>
            </a:pPr>
            <a:r>
              <a:rPr lang="en-US" sz="1250" dirty="0">
                <a:solidFill>
                  <a:srgbClr val="6C7C75"/>
                </a:solidFill>
                <a:latin typeface="Yu Gothic" pitchFamily="34" charset="0"/>
                <a:ea typeface="Yu Gothic" pitchFamily="34" charset="-122"/>
                <a:cs typeface="Yu Gothic" pitchFamily="34" charset="-120"/>
              </a:rPr>
              <a:t>ChatGPTの音声モードと同等の体験。途中で割り込め、間が不自然でない。</a:t>
            </a:r>
            <a:endParaRPr lang="en-US" sz="1250" dirty="0"/>
          </a:p>
        </p:txBody>
      </p:sp>
      <p:sp>
        <p:nvSpPr>
          <p:cNvPr id="16" name="Shape 14"/>
          <p:cNvSpPr/>
          <p:nvPr/>
        </p:nvSpPr>
        <p:spPr>
          <a:xfrm>
            <a:off x="566928" y="3913632"/>
            <a:ext cx="5336896" cy="1975104"/>
          </a:xfrm>
          <a:prstGeom prst="roundRect">
            <a:avLst>
              <a:gd name="adj" fmla="val 2778"/>
            </a:avLst>
          </a:prstGeom>
          <a:solidFill>
            <a:srgbClr val="FFFFFF"/>
          </a:solidFill>
          <a:ln w="12700">
            <a:solidFill>
              <a:srgbClr val="D6E0DA"/>
            </a:solidFill>
            <a:prstDash val="solid"/>
          </a:ln>
          <a:effectLst>
            <a:outerShdw sx="100000" sy="100000" kx="0" ky="0" algn="bl" rotWithShape="0" blurRad="127000" dist="25400" dir="5400000">
              <a:srgbClr val="1F3D34">
                <a:alpha val="10000"/>
              </a:srgbClr>
            </a:outerShdw>
          </a:effectLst>
        </p:spPr>
      </p:sp>
      <p:sp>
        <p:nvSpPr>
          <p:cNvPr id="17" name="Shape 15"/>
          <p:cNvSpPr/>
          <p:nvPr/>
        </p:nvSpPr>
        <p:spPr>
          <a:xfrm>
            <a:off x="914400" y="4242816"/>
            <a:ext cx="566928" cy="566928"/>
          </a:xfrm>
          <a:prstGeom prst="ellipse">
            <a:avLst/>
          </a:prstGeom>
          <a:solidFill>
            <a:srgbClr val="C4682A"/>
          </a:solidFill>
          <a:ln/>
        </p:spPr>
      </p:sp>
      <p:sp>
        <p:nvSpPr>
          <p:cNvPr id="18" name="Text 16"/>
          <p:cNvSpPr/>
          <p:nvPr/>
        </p:nvSpPr>
        <p:spPr>
          <a:xfrm>
            <a:off x="914400" y="4242816"/>
            <a:ext cx="566928"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Yu Gothic" pitchFamily="34" charset="0"/>
                <a:ea typeface="Yu Gothic" pitchFamily="34" charset="-122"/>
                <a:cs typeface="Yu Gothic" pitchFamily="34" charset="-120"/>
              </a:rPr>
              <a:t>記憶</a:t>
            </a:r>
            <a:endParaRPr lang="en-US" sz="1200" dirty="0"/>
          </a:p>
        </p:txBody>
      </p:sp>
      <p:sp>
        <p:nvSpPr>
          <p:cNvPr id="19" name="Text 17"/>
          <p:cNvSpPr/>
          <p:nvPr/>
        </p:nvSpPr>
        <p:spPr>
          <a:xfrm>
            <a:off x="1627632" y="4224528"/>
            <a:ext cx="3928720" cy="402336"/>
          </a:xfrm>
          <a:prstGeom prst="rect">
            <a:avLst/>
          </a:prstGeom>
          <a:noFill/>
          <a:ln/>
        </p:spPr>
        <p:txBody>
          <a:bodyPr wrap="square" lIns="0" tIns="0" rIns="0" bIns="0" rtlCol="0" anchor="ctr"/>
          <a:lstStyle/>
          <a:p>
            <a:pPr indent="0" marL="0">
              <a:buNone/>
            </a:pPr>
            <a:r>
              <a:rPr lang="en-US" sz="1650" b="1" dirty="0">
                <a:solidFill>
                  <a:srgbClr val="12211C"/>
                </a:solidFill>
                <a:latin typeface="Yu Gothic" pitchFamily="34" charset="0"/>
                <a:ea typeface="Yu Gothic" pitchFamily="34" charset="-122"/>
                <a:cs typeface="Yu Gothic" pitchFamily="34" charset="-120"/>
              </a:rPr>
              <a:t>昨日の話を覚えている</a:t>
            </a:r>
            <a:endParaRPr lang="en-US" sz="1650" dirty="0"/>
          </a:p>
        </p:txBody>
      </p:sp>
      <p:sp>
        <p:nvSpPr>
          <p:cNvPr id="20" name="Text 18"/>
          <p:cNvSpPr/>
          <p:nvPr/>
        </p:nvSpPr>
        <p:spPr>
          <a:xfrm>
            <a:off x="1627632" y="4754880"/>
            <a:ext cx="3928720" cy="914400"/>
          </a:xfrm>
          <a:prstGeom prst="rect">
            <a:avLst/>
          </a:prstGeom>
          <a:noFill/>
          <a:ln/>
        </p:spPr>
        <p:txBody>
          <a:bodyPr wrap="square" lIns="0" tIns="0" rIns="0" bIns="0" rtlCol="0" anchor="ctr"/>
          <a:lstStyle/>
          <a:p>
            <a:pPr indent="0" marL="0">
              <a:lnSpc>
                <a:spcPts val="2000"/>
              </a:lnSpc>
              <a:buNone/>
            </a:pPr>
            <a:r>
              <a:rPr lang="en-US" sz="1250" dirty="0">
                <a:solidFill>
                  <a:srgbClr val="6C7C75"/>
                </a:solidFill>
                <a:latin typeface="Yu Gothic" pitchFamily="34" charset="0"/>
                <a:ea typeface="Yu Gothic" pitchFamily="34" charset="-122"/>
                <a:cs typeface="Yu Gothic" pitchFamily="34" charset="-120"/>
              </a:rPr>
              <a:t>会話は全件永久保存。4層の記憶設計で、必要なときに正確に思い出す（第7項）。</a:t>
            </a:r>
            <a:endParaRPr lang="en-US" sz="1250" dirty="0"/>
          </a:p>
        </p:txBody>
      </p:sp>
      <p:sp>
        <p:nvSpPr>
          <p:cNvPr id="21" name="Shape 19"/>
          <p:cNvSpPr/>
          <p:nvPr/>
        </p:nvSpPr>
        <p:spPr>
          <a:xfrm>
            <a:off x="6287872" y="3913632"/>
            <a:ext cx="5336896" cy="1975104"/>
          </a:xfrm>
          <a:prstGeom prst="roundRect">
            <a:avLst>
              <a:gd name="adj" fmla="val 2778"/>
            </a:avLst>
          </a:prstGeom>
          <a:solidFill>
            <a:srgbClr val="FFFFFF"/>
          </a:solidFill>
          <a:ln w="12700">
            <a:solidFill>
              <a:srgbClr val="D6E0DA"/>
            </a:solidFill>
            <a:prstDash val="solid"/>
          </a:ln>
          <a:effectLst>
            <a:outerShdw sx="100000" sy="100000" kx="0" ky="0" algn="bl" rotWithShape="0" blurRad="127000" dist="25400" dir="5400000">
              <a:srgbClr val="1F3D34">
                <a:alpha val="10000"/>
              </a:srgbClr>
            </a:outerShdw>
          </a:effectLst>
        </p:spPr>
      </p:sp>
      <p:sp>
        <p:nvSpPr>
          <p:cNvPr id="22" name="Shape 20"/>
          <p:cNvSpPr/>
          <p:nvPr/>
        </p:nvSpPr>
        <p:spPr>
          <a:xfrm>
            <a:off x="6635344" y="4242816"/>
            <a:ext cx="566928" cy="566928"/>
          </a:xfrm>
          <a:prstGeom prst="ellipse">
            <a:avLst/>
          </a:prstGeom>
          <a:solidFill>
            <a:srgbClr val="6E9A85"/>
          </a:solidFill>
          <a:ln/>
        </p:spPr>
      </p:sp>
      <p:sp>
        <p:nvSpPr>
          <p:cNvPr id="23" name="Text 21"/>
          <p:cNvSpPr/>
          <p:nvPr/>
        </p:nvSpPr>
        <p:spPr>
          <a:xfrm>
            <a:off x="6635344" y="4242816"/>
            <a:ext cx="566928"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Yu Gothic" pitchFamily="34" charset="0"/>
                <a:ea typeface="Yu Gothic" pitchFamily="34" charset="-122"/>
                <a:cs typeface="Yu Gothic" pitchFamily="34" charset="-120"/>
              </a:rPr>
              <a:t>復帰</a:t>
            </a:r>
            <a:endParaRPr lang="en-US" sz="1200" dirty="0"/>
          </a:p>
        </p:txBody>
      </p:sp>
      <p:sp>
        <p:nvSpPr>
          <p:cNvPr id="24" name="Text 22"/>
          <p:cNvSpPr/>
          <p:nvPr/>
        </p:nvSpPr>
        <p:spPr>
          <a:xfrm>
            <a:off x="7348576" y="4224528"/>
            <a:ext cx="3928720" cy="402336"/>
          </a:xfrm>
          <a:prstGeom prst="rect">
            <a:avLst/>
          </a:prstGeom>
          <a:noFill/>
          <a:ln/>
        </p:spPr>
        <p:txBody>
          <a:bodyPr wrap="square" lIns="0" tIns="0" rIns="0" bIns="0" rtlCol="0" anchor="ctr"/>
          <a:lstStyle/>
          <a:p>
            <a:pPr indent="0" marL="0">
              <a:buNone/>
            </a:pPr>
            <a:r>
              <a:rPr lang="en-US" sz="1650" b="1" dirty="0">
                <a:solidFill>
                  <a:srgbClr val="12211C"/>
                </a:solidFill>
                <a:latin typeface="Yu Gothic" pitchFamily="34" charset="0"/>
                <a:ea typeface="Yu Gothic" pitchFamily="34" charset="-122"/>
                <a:cs typeface="Yu Gothic" pitchFamily="34" charset="-120"/>
              </a:rPr>
              <a:t>通知で会話に呼び戻す</a:t>
            </a:r>
            <a:endParaRPr lang="en-US" sz="1650" dirty="0"/>
          </a:p>
        </p:txBody>
      </p:sp>
      <p:sp>
        <p:nvSpPr>
          <p:cNvPr id="25" name="Text 23"/>
          <p:cNvSpPr/>
          <p:nvPr/>
        </p:nvSpPr>
        <p:spPr>
          <a:xfrm>
            <a:off x="7348576" y="4754880"/>
            <a:ext cx="3928720" cy="914400"/>
          </a:xfrm>
          <a:prstGeom prst="rect">
            <a:avLst/>
          </a:prstGeom>
          <a:noFill/>
          <a:ln/>
        </p:spPr>
        <p:txBody>
          <a:bodyPr wrap="square" lIns="0" tIns="0" rIns="0" bIns="0" rtlCol="0" anchor="ctr"/>
          <a:lstStyle/>
          <a:p>
            <a:pPr indent="0" marL="0">
              <a:lnSpc>
                <a:spcPts val="2000"/>
              </a:lnSpc>
              <a:buNone/>
            </a:pPr>
            <a:r>
              <a:rPr lang="en-US" sz="1250" dirty="0">
                <a:solidFill>
                  <a:srgbClr val="6C7C75"/>
                </a:solidFill>
                <a:latin typeface="Yu Gothic" pitchFamily="34" charset="0"/>
                <a:ea typeface="Yu Gothic" pitchFamily="34" charset="-122"/>
                <a:cs typeface="Yu Gothic" pitchFamily="34" charset="-120"/>
              </a:rPr>
              <a:t>「今日はまだお話ししていませんよ」。継続率を左右する最重要機能。</a:t>
            </a:r>
            <a:endParaRPr lang="en-US" sz="1250" dirty="0"/>
          </a:p>
        </p:txBody>
      </p:sp>
      <p:sp>
        <p:nvSpPr>
          <p:cNvPr id="26" name="Text 24"/>
          <p:cNvSpPr/>
          <p:nvPr/>
        </p:nvSpPr>
        <p:spPr>
          <a:xfrm>
            <a:off x="566928" y="6236208"/>
            <a:ext cx="11057839" cy="310896"/>
          </a:xfrm>
          <a:prstGeom prst="rect">
            <a:avLst/>
          </a:prstGeom>
          <a:noFill/>
          <a:ln/>
        </p:spPr>
        <p:txBody>
          <a:bodyPr wrap="square" lIns="0" tIns="0" rIns="0" bIns="0" rtlCol="0" anchor="ctr"/>
          <a:lstStyle/>
          <a:p>
            <a:pPr indent="0" marL="0">
              <a:buNone/>
            </a:pPr>
            <a:r>
              <a:rPr lang="en-US" sz="1050" i="1" dirty="0">
                <a:solidFill>
                  <a:srgbClr val="6C7C75"/>
                </a:solidFill>
                <a:latin typeface="Yu Gothic" pitchFamily="34" charset="0"/>
                <a:ea typeface="Yu Gothic" pitchFamily="34" charset="-122"/>
                <a:cs typeface="Yu Gothic" pitchFamily="34" charset="-120"/>
              </a:rPr>
              <a:t>対応言語は日本語のみ。医療助言・診断・緊急通報は対象外とし、規約と画面表示の両方で責任範囲を明示する。</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57200"/>
            <a:ext cx="365760" cy="365760"/>
          </a:xfrm>
          <a:prstGeom prst="ellipse">
            <a:avLst/>
          </a:prstGeom>
          <a:solidFill>
            <a:srgbClr val="1F3D34"/>
          </a:solidFill>
          <a:ln/>
        </p:spPr>
      </p:sp>
      <p:sp>
        <p:nvSpPr>
          <p:cNvPr id="3" name="Text 1"/>
          <p:cNvSpPr/>
          <p:nvPr/>
        </p:nvSpPr>
        <p:spPr>
          <a:xfrm>
            <a:off x="566928" y="4572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4" name="Text 2"/>
          <p:cNvSpPr/>
          <p:nvPr/>
        </p:nvSpPr>
        <p:spPr>
          <a:xfrm>
            <a:off x="1133856" y="384048"/>
            <a:ext cx="10490911" cy="530352"/>
          </a:xfrm>
          <a:prstGeom prst="rect">
            <a:avLst/>
          </a:prstGeom>
          <a:noFill/>
          <a:ln/>
        </p:spPr>
        <p:txBody>
          <a:bodyPr wrap="square" lIns="0" tIns="0" rIns="0" bIns="0" rtlCol="0" anchor="ctr"/>
          <a:lstStyle/>
          <a:p>
            <a:pPr indent="0" marL="0">
              <a:buNone/>
            </a:pPr>
            <a:r>
              <a:rPr lang="en-US" sz="2700" b="1" dirty="0">
                <a:solidFill>
                  <a:srgbClr val="12211C"/>
                </a:solidFill>
                <a:latin typeface="Yu Gothic" pitchFamily="34" charset="0"/>
                <a:ea typeface="Yu Gothic" pitchFamily="34" charset="-122"/>
                <a:cs typeface="Yu Gothic" pitchFamily="34" charset="-120"/>
              </a:rPr>
              <a:t>3つの進め方</a:t>
            </a:r>
            <a:endParaRPr lang="en-US" sz="2700" dirty="0"/>
          </a:p>
        </p:txBody>
      </p:sp>
      <p:sp>
        <p:nvSpPr>
          <p:cNvPr id="5" name="Text 3"/>
          <p:cNvSpPr/>
          <p:nvPr/>
        </p:nvSpPr>
        <p:spPr>
          <a:xfrm>
            <a:off x="566928" y="969264"/>
            <a:ext cx="11057839" cy="329184"/>
          </a:xfrm>
          <a:prstGeom prst="rect">
            <a:avLst/>
          </a:prstGeom>
          <a:noFill/>
          <a:ln/>
        </p:spPr>
        <p:txBody>
          <a:bodyPr wrap="square" lIns="0" tIns="0" rIns="0" bIns="0" rtlCol="0" anchor="t"/>
          <a:lstStyle/>
          <a:p>
            <a:pPr indent="0" marL="0">
              <a:buNone/>
            </a:pPr>
            <a:r>
              <a:rPr lang="en-US" sz="1350" dirty="0">
                <a:solidFill>
                  <a:srgbClr val="6C7C75"/>
                </a:solidFill>
                <a:latin typeface="Yu Gothic" pitchFamily="34" charset="0"/>
                <a:ea typeface="Yu Gothic" pitchFamily="34" charset="-122"/>
                <a:cs typeface="Yu Gothic" pitchFamily="34" charset="-120"/>
              </a:rPr>
              <a:t>音声AIは単価で事業性が決まるため、いきなり本番版を作らずA案で実測することを推奨します。</a:t>
            </a:r>
            <a:endParaRPr lang="en-US" sz="1350" dirty="0"/>
          </a:p>
        </p:txBody>
      </p:sp>
      <p:sp>
        <p:nvSpPr>
          <p:cNvPr id="6" name="Shape 4"/>
          <p:cNvSpPr/>
          <p:nvPr/>
        </p:nvSpPr>
        <p:spPr>
          <a:xfrm>
            <a:off x="566928" y="1572768"/>
            <a:ext cx="3529584" cy="4096512"/>
          </a:xfrm>
          <a:prstGeom prst="roundRect">
            <a:avLst>
              <a:gd name="adj" fmla="val 1554"/>
            </a:avLst>
          </a:prstGeom>
          <a:solidFill>
            <a:srgbClr val="FFFFFF"/>
          </a:solidFill>
          <a:ln w="12700">
            <a:solidFill>
              <a:srgbClr val="D6E0DA"/>
            </a:solidFill>
            <a:prstDash val="solid"/>
          </a:ln>
          <a:effectLst>
            <a:outerShdw sx="100000" sy="100000" kx="0" ky="0" algn="bl" rotWithShape="0" blurRad="127000" dist="25400" dir="5400000">
              <a:srgbClr val="1F3D34">
                <a:alpha val="10000"/>
              </a:srgbClr>
            </a:outerShdw>
          </a:effectLst>
        </p:spPr>
      </p:sp>
      <p:sp>
        <p:nvSpPr>
          <p:cNvPr id="7" name="Text 5"/>
          <p:cNvSpPr/>
          <p:nvPr/>
        </p:nvSpPr>
        <p:spPr>
          <a:xfrm>
            <a:off x="877824" y="1828800"/>
            <a:ext cx="2907792" cy="237744"/>
          </a:xfrm>
          <a:prstGeom prst="rect">
            <a:avLst/>
          </a:prstGeom>
          <a:noFill/>
          <a:ln/>
        </p:spPr>
        <p:txBody>
          <a:bodyPr wrap="square" lIns="0" tIns="0" rIns="0" bIns="0" rtlCol="0" anchor="ctr"/>
          <a:lstStyle/>
          <a:p>
            <a:pPr indent="0" marL="0">
              <a:buNone/>
            </a:pPr>
            <a:r>
              <a:rPr lang="en-US" sz="1100" b="1" spc="200" kern="0" dirty="0">
                <a:solidFill>
                  <a:srgbClr val="6E9A85"/>
                </a:solidFill>
                <a:latin typeface="Arial" pitchFamily="34" charset="0"/>
                <a:ea typeface="Arial" pitchFamily="34" charset="-122"/>
                <a:cs typeface="Arial" pitchFamily="34" charset="-120"/>
              </a:rPr>
              <a:t>PLAN A</a:t>
            </a:r>
            <a:endParaRPr lang="en-US" sz="1100" dirty="0"/>
          </a:p>
        </p:txBody>
      </p:sp>
      <p:sp>
        <p:nvSpPr>
          <p:cNvPr id="8" name="Text 6"/>
          <p:cNvSpPr/>
          <p:nvPr/>
        </p:nvSpPr>
        <p:spPr>
          <a:xfrm>
            <a:off x="877824" y="2084832"/>
            <a:ext cx="2907792" cy="347472"/>
          </a:xfrm>
          <a:prstGeom prst="rect">
            <a:avLst/>
          </a:prstGeom>
          <a:noFill/>
          <a:ln/>
        </p:spPr>
        <p:txBody>
          <a:bodyPr wrap="square" lIns="0" tIns="0" rIns="0" bIns="0" rtlCol="0" anchor="ctr"/>
          <a:lstStyle/>
          <a:p>
            <a:pPr indent="0" marL="0">
              <a:buNone/>
            </a:pPr>
            <a:r>
              <a:rPr lang="en-US" sz="1600" b="1" dirty="0">
                <a:solidFill>
                  <a:srgbClr val="12211C"/>
                </a:solidFill>
                <a:latin typeface="Yu Gothic" pitchFamily="34" charset="0"/>
                <a:ea typeface="Yu Gothic" pitchFamily="34" charset="-122"/>
                <a:cs typeface="Yu Gothic" pitchFamily="34" charset="-120"/>
              </a:rPr>
              <a:t>検証版（PoC）</a:t>
            </a:r>
            <a:endParaRPr lang="en-US" sz="1600" dirty="0"/>
          </a:p>
        </p:txBody>
      </p:sp>
      <p:sp>
        <p:nvSpPr>
          <p:cNvPr id="9" name="Text 7"/>
          <p:cNvSpPr/>
          <p:nvPr/>
        </p:nvSpPr>
        <p:spPr>
          <a:xfrm>
            <a:off x="877824" y="2505456"/>
            <a:ext cx="2907792" cy="603504"/>
          </a:xfrm>
          <a:prstGeom prst="rect">
            <a:avLst/>
          </a:prstGeom>
          <a:noFill/>
          <a:ln/>
        </p:spPr>
        <p:txBody>
          <a:bodyPr wrap="square" lIns="0" tIns="0" rIns="0" bIns="0" rtlCol="0" anchor="ctr"/>
          <a:lstStyle/>
          <a:p>
            <a:pPr indent="0" marL="0">
              <a:buNone/>
            </a:pPr>
            <a:r>
              <a:rPr lang="en-US" sz="3800" b="1" dirty="0">
                <a:solidFill>
                  <a:srgbClr val="1F3D34"/>
                </a:solidFill>
                <a:latin typeface="Arial" pitchFamily="34" charset="0"/>
                <a:ea typeface="Arial" pitchFamily="34" charset="-122"/>
                <a:cs typeface="Arial" pitchFamily="34" charset="-120"/>
              </a:rPr>
              <a:t>203</a:t>
            </a:r>
            <a:pPr indent="0" marL="0">
              <a:buNone/>
            </a:pPr>
            <a:r>
              <a:rPr lang="en-US" sz="1400" b="1" dirty="0">
                <a:solidFill>
                  <a:srgbClr val="1F3D34"/>
                </a:solidFill>
                <a:latin typeface="Yu Gothic" pitchFamily="34" charset="0"/>
                <a:ea typeface="Yu Gothic" pitchFamily="34" charset="-122"/>
                <a:cs typeface="Yu Gothic" pitchFamily="34" charset="-120"/>
              </a:rPr>
              <a:t> 万円</a:t>
            </a:r>
            <a:endParaRPr lang="en-US" sz="3800" dirty="0"/>
          </a:p>
        </p:txBody>
      </p:sp>
      <p:sp>
        <p:nvSpPr>
          <p:cNvPr id="10" name="Text 8"/>
          <p:cNvSpPr/>
          <p:nvPr/>
        </p:nvSpPr>
        <p:spPr>
          <a:xfrm>
            <a:off x="877824" y="3127248"/>
            <a:ext cx="2907792" cy="237744"/>
          </a:xfrm>
          <a:prstGeom prst="rect">
            <a:avLst/>
          </a:prstGeom>
          <a:noFill/>
          <a:ln/>
        </p:spPr>
        <p:txBody>
          <a:bodyPr wrap="square" lIns="0" tIns="0" rIns="0" bIns="0" rtlCol="0" anchor="ctr"/>
          <a:lstStyle/>
          <a:p>
            <a:pPr indent="0" marL="0">
              <a:buNone/>
            </a:pPr>
            <a:r>
              <a:rPr lang="en-US" sz="1100" dirty="0">
                <a:solidFill>
                  <a:srgbClr val="6C7C75"/>
                </a:solidFill>
                <a:latin typeface="Arial" pitchFamily="34" charset="0"/>
                <a:ea typeface="Arial" pitchFamily="34" charset="-122"/>
                <a:cs typeface="Arial" pitchFamily="34" charset="-120"/>
              </a:rPr>
              <a:t>幅 180〜240万円</a:t>
            </a:r>
            <a:endParaRPr lang="en-US" sz="1100" dirty="0"/>
          </a:p>
        </p:txBody>
      </p:sp>
      <p:sp>
        <p:nvSpPr>
          <p:cNvPr id="11" name="Shape 9"/>
          <p:cNvSpPr/>
          <p:nvPr/>
        </p:nvSpPr>
        <p:spPr>
          <a:xfrm>
            <a:off x="877824" y="3493008"/>
            <a:ext cx="2907792" cy="9144"/>
          </a:xfrm>
          <a:prstGeom prst="rect">
            <a:avLst/>
          </a:prstGeom>
          <a:solidFill>
            <a:srgbClr val="D6E0DA"/>
          </a:solidFill>
          <a:ln/>
        </p:spPr>
      </p:sp>
      <p:sp>
        <p:nvSpPr>
          <p:cNvPr id="12" name="Text 10"/>
          <p:cNvSpPr/>
          <p:nvPr/>
        </p:nvSpPr>
        <p:spPr>
          <a:xfrm>
            <a:off x="877824" y="3584448"/>
            <a:ext cx="2907792" cy="274320"/>
          </a:xfrm>
          <a:prstGeom prst="rect">
            <a:avLst/>
          </a:prstGeom>
          <a:noFill/>
          <a:ln/>
        </p:spPr>
        <p:txBody>
          <a:bodyPr wrap="square" lIns="0" tIns="0" rIns="0" bIns="0" rtlCol="0" anchor="ctr"/>
          <a:lstStyle/>
          <a:p>
            <a:pPr indent="0" marL="0">
              <a:buNone/>
            </a:pPr>
            <a:r>
              <a:rPr lang="en-US" sz="1200" b="1" dirty="0">
                <a:solidFill>
                  <a:srgbClr val="12211C"/>
                </a:solidFill>
                <a:latin typeface="Yu Gothic" pitchFamily="34" charset="0"/>
                <a:ea typeface="Yu Gothic" pitchFamily="34" charset="-122"/>
                <a:cs typeface="Yu Gothic" pitchFamily="34" charset="-120"/>
              </a:rPr>
              <a:t>29人日　</a:t>
            </a:r>
            <a:pPr indent="0" marL="0">
              <a:buNone/>
            </a:pPr>
            <a:r>
              <a:rPr lang="en-US" sz="1200" b="1" dirty="0">
                <a:solidFill>
                  <a:srgbClr val="12211C"/>
                </a:solidFill>
                <a:latin typeface="Yu Gothic" pitchFamily="34" charset="0"/>
                <a:ea typeface="Yu Gothic" pitchFamily="34" charset="-122"/>
                <a:cs typeface="Yu Gothic" pitchFamily="34" charset="-120"/>
              </a:rPr>
              <a:t>約1.5ヶ月　</a:t>
            </a:r>
            <a:pPr indent="0" marL="0">
              <a:buNone/>
            </a:pPr>
            <a:r>
              <a:rPr lang="en-US" sz="1200" b="1" dirty="0">
                <a:solidFill>
                  <a:srgbClr val="12211C"/>
                </a:solidFill>
                <a:latin typeface="Yu Gothic" pitchFamily="34" charset="0"/>
                <a:ea typeface="Yu Gothic" pitchFamily="34" charset="-122"/>
                <a:cs typeface="Yu Gothic" pitchFamily="34" charset="-120"/>
              </a:rPr>
              <a:t>2名</a:t>
            </a:r>
            <a:endParaRPr lang="en-US" sz="1200" dirty="0"/>
          </a:p>
        </p:txBody>
      </p:sp>
      <p:sp>
        <p:nvSpPr>
          <p:cNvPr id="13" name="Text 11"/>
          <p:cNvSpPr/>
          <p:nvPr/>
        </p:nvSpPr>
        <p:spPr>
          <a:xfrm>
            <a:off x="877824" y="3968496"/>
            <a:ext cx="2980944" cy="1554480"/>
          </a:xfrm>
          <a:prstGeom prst="rect">
            <a:avLst/>
          </a:prstGeom>
          <a:noFill/>
          <a:ln/>
        </p:spPr>
        <p:txBody>
          <a:bodyPr wrap="square" lIns="0" tIns="0" rIns="0" bIns="0" rtlCol="0" anchor="ctr"/>
          <a:lstStyle/>
          <a:p>
            <a:pPr marL="342900" indent="-342900">
              <a:lnSpc>
                <a:spcPts val="1900"/>
              </a:lnSpc>
              <a:spcAft>
                <a:spcPts val="600"/>
              </a:spcAft>
              <a:buSzPct val="100000"/>
              <a:buChar char="•"/>
            </a:pPr>
            <a:r>
              <a:rPr lang="en-US" sz="1200" dirty="0">
                <a:solidFill>
                  <a:srgbClr val="6C7C75"/>
                </a:solidFill>
                <a:latin typeface="Yu Gothic" pitchFamily="34" charset="0"/>
                <a:ea typeface="Yu Gothic" pitchFamily="34" charset="-122"/>
                <a:cs typeface="Yu Gothic" pitchFamily="34" charset="-120"/>
              </a:rPr>
              <a:t>音声会話と記憶の中核のみ</a:t>
            </a:r>
            <a:endParaRPr lang="en-US" sz="1200" dirty="0"/>
          </a:p>
          <a:p>
            <a:pPr marL="342900" indent="-342900">
              <a:lnSpc>
                <a:spcPts val="1900"/>
              </a:lnSpc>
              <a:spcAft>
                <a:spcPts val="600"/>
              </a:spcAft>
              <a:buSzPct val="100000"/>
              <a:buChar char="•"/>
            </a:pPr>
            <a:r>
              <a:rPr lang="en-US" sz="1200" dirty="0">
                <a:solidFill>
                  <a:srgbClr val="6C7C75"/>
                </a:solidFill>
                <a:latin typeface="Yu Gothic" pitchFamily="34" charset="0"/>
                <a:ea typeface="Yu Gothic" pitchFamily="34" charset="-122"/>
                <a:cs typeface="Yu Gothic" pitchFamily="34" charset="-120"/>
              </a:rPr>
              <a:t>Web・招待した数名で試用</a:t>
            </a:r>
            <a:endParaRPr lang="en-US" sz="1200" dirty="0"/>
          </a:p>
          <a:p>
            <a:pPr marL="342900" indent="-342900">
              <a:lnSpc>
                <a:spcPts val="1900"/>
              </a:lnSpc>
              <a:spcAft>
                <a:spcPts val="600"/>
              </a:spcAft>
              <a:buSzPct val="100000"/>
              <a:buChar char="•"/>
            </a:pPr>
            <a:r>
              <a:rPr lang="en-US" sz="1200" dirty="0">
                <a:solidFill>
                  <a:srgbClr val="6C7C75"/>
                </a:solidFill>
                <a:latin typeface="Yu Gothic" pitchFamily="34" charset="0"/>
                <a:ea typeface="Yu Gothic" pitchFamily="34" charset="-122"/>
                <a:cs typeface="Yu Gothic" pitchFamily="34" charset="-120"/>
              </a:rPr>
              <a:t>API単価と体験を実測する</a:t>
            </a:r>
            <a:endParaRPr lang="en-US" sz="1200" dirty="0"/>
          </a:p>
        </p:txBody>
      </p:sp>
      <p:sp>
        <p:nvSpPr>
          <p:cNvPr id="14" name="Shape 12"/>
          <p:cNvSpPr/>
          <p:nvPr/>
        </p:nvSpPr>
        <p:spPr>
          <a:xfrm>
            <a:off x="4530852" y="1572768"/>
            <a:ext cx="3529584" cy="4096512"/>
          </a:xfrm>
          <a:prstGeom prst="roundRect">
            <a:avLst>
              <a:gd name="adj" fmla="val 1554"/>
            </a:avLst>
          </a:prstGeom>
          <a:solidFill>
            <a:srgbClr val="1F3D34"/>
          </a:solidFill>
          <a:ln w="12700">
            <a:solidFill>
              <a:srgbClr val="1F3D34"/>
            </a:solidFill>
            <a:prstDash val="solid"/>
          </a:ln>
          <a:effectLst>
            <a:outerShdw sx="100000" sy="100000" kx="0" ky="0" algn="bl" rotWithShape="0" blurRad="127000" dist="25400" dir="5400000">
              <a:srgbClr val="1F3D34">
                <a:alpha val="10000"/>
              </a:srgbClr>
            </a:outerShdw>
          </a:effectLst>
        </p:spPr>
      </p:sp>
      <p:sp>
        <p:nvSpPr>
          <p:cNvPr id="15" name="Shape 13"/>
          <p:cNvSpPr/>
          <p:nvPr/>
        </p:nvSpPr>
        <p:spPr>
          <a:xfrm>
            <a:off x="6890004" y="1444752"/>
            <a:ext cx="914400" cy="310896"/>
          </a:xfrm>
          <a:prstGeom prst="roundRect">
            <a:avLst>
              <a:gd name="adj" fmla="val 14706"/>
            </a:avLst>
          </a:prstGeom>
          <a:solidFill>
            <a:srgbClr val="C4682A"/>
          </a:solidFill>
          <a:ln/>
        </p:spPr>
      </p:sp>
      <p:sp>
        <p:nvSpPr>
          <p:cNvPr id="16" name="Text 14"/>
          <p:cNvSpPr/>
          <p:nvPr/>
        </p:nvSpPr>
        <p:spPr>
          <a:xfrm>
            <a:off x="6890004" y="1444752"/>
            <a:ext cx="914400"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Yu Gothic" pitchFamily="34" charset="0"/>
                <a:ea typeface="Yu Gothic" pitchFamily="34" charset="-122"/>
                <a:cs typeface="Yu Gothic" pitchFamily="34" charset="-120"/>
              </a:rPr>
              <a:t>推 奨</a:t>
            </a:r>
            <a:endParaRPr lang="en-US" sz="1050" dirty="0"/>
          </a:p>
        </p:txBody>
      </p:sp>
      <p:sp>
        <p:nvSpPr>
          <p:cNvPr id="17" name="Text 15"/>
          <p:cNvSpPr/>
          <p:nvPr/>
        </p:nvSpPr>
        <p:spPr>
          <a:xfrm>
            <a:off x="4841748" y="1828800"/>
            <a:ext cx="2907792" cy="237744"/>
          </a:xfrm>
          <a:prstGeom prst="rect">
            <a:avLst/>
          </a:prstGeom>
          <a:noFill/>
          <a:ln/>
        </p:spPr>
        <p:txBody>
          <a:bodyPr wrap="square" lIns="0" tIns="0" rIns="0" bIns="0" rtlCol="0" anchor="ctr"/>
          <a:lstStyle/>
          <a:p>
            <a:pPr indent="0" marL="0">
              <a:buNone/>
            </a:pPr>
            <a:r>
              <a:rPr lang="en-US" sz="1100" b="1" spc="200" kern="0" dirty="0">
                <a:solidFill>
                  <a:srgbClr val="6E9A85"/>
                </a:solidFill>
                <a:latin typeface="Arial" pitchFamily="34" charset="0"/>
                <a:ea typeface="Arial" pitchFamily="34" charset="-122"/>
                <a:cs typeface="Arial" pitchFamily="34" charset="-120"/>
              </a:rPr>
              <a:t>PLAN B</a:t>
            </a:r>
            <a:endParaRPr lang="en-US" sz="1100" dirty="0"/>
          </a:p>
        </p:txBody>
      </p:sp>
      <p:sp>
        <p:nvSpPr>
          <p:cNvPr id="18" name="Text 16"/>
          <p:cNvSpPr/>
          <p:nvPr/>
        </p:nvSpPr>
        <p:spPr>
          <a:xfrm>
            <a:off x="4841748" y="2084832"/>
            <a:ext cx="2907792" cy="347472"/>
          </a:xfrm>
          <a:prstGeom prst="rect">
            <a:avLst/>
          </a:prstGeom>
          <a:noFill/>
          <a:ln/>
        </p:spPr>
        <p:txBody>
          <a:bodyPr wrap="square" lIns="0" tIns="0" rIns="0" bIns="0" rtlCol="0" anchor="ctr"/>
          <a:lstStyle/>
          <a:p>
            <a:pPr indent="0" marL="0">
              <a:buNone/>
            </a:pPr>
            <a:r>
              <a:rPr lang="en-US" sz="1600" b="1" dirty="0">
                <a:solidFill>
                  <a:srgbClr val="FFFFFF"/>
                </a:solidFill>
                <a:latin typeface="Yu Gothic" pitchFamily="34" charset="0"/>
                <a:ea typeface="Yu Gothic" pitchFamily="34" charset="-122"/>
                <a:cs typeface="Yu Gothic" pitchFamily="34" charset="-120"/>
              </a:rPr>
              <a:t>MVP（Web＋LINE通知）</a:t>
            </a:r>
            <a:endParaRPr lang="en-US" sz="1600" dirty="0"/>
          </a:p>
        </p:txBody>
      </p:sp>
      <p:sp>
        <p:nvSpPr>
          <p:cNvPr id="19" name="Text 17"/>
          <p:cNvSpPr/>
          <p:nvPr/>
        </p:nvSpPr>
        <p:spPr>
          <a:xfrm>
            <a:off x="4841748" y="2505456"/>
            <a:ext cx="2907792" cy="603504"/>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658</a:t>
            </a:r>
            <a:pPr indent="0" marL="0">
              <a:buNone/>
            </a:pPr>
            <a:r>
              <a:rPr lang="en-US" sz="1400" b="1" dirty="0">
                <a:solidFill>
                  <a:srgbClr val="FFFFFF"/>
                </a:solidFill>
                <a:latin typeface="Yu Gothic" pitchFamily="34" charset="0"/>
                <a:ea typeface="Yu Gothic" pitchFamily="34" charset="-122"/>
                <a:cs typeface="Yu Gothic" pitchFamily="34" charset="-120"/>
              </a:rPr>
              <a:t> 万円</a:t>
            </a:r>
            <a:endParaRPr lang="en-US" sz="3800" dirty="0"/>
          </a:p>
        </p:txBody>
      </p:sp>
      <p:sp>
        <p:nvSpPr>
          <p:cNvPr id="20" name="Text 18"/>
          <p:cNvSpPr/>
          <p:nvPr/>
        </p:nvSpPr>
        <p:spPr>
          <a:xfrm>
            <a:off x="4841748" y="3127248"/>
            <a:ext cx="2907792" cy="237744"/>
          </a:xfrm>
          <a:prstGeom prst="rect">
            <a:avLst/>
          </a:prstGeom>
          <a:noFill/>
          <a:ln/>
        </p:spPr>
        <p:txBody>
          <a:bodyPr wrap="square" lIns="0" tIns="0" rIns="0" bIns="0" rtlCol="0" anchor="ctr"/>
          <a:lstStyle/>
          <a:p>
            <a:pPr indent="0" marL="0">
              <a:buNone/>
            </a:pPr>
            <a:r>
              <a:rPr lang="en-US" sz="1100" dirty="0">
                <a:solidFill>
                  <a:srgbClr val="9DB2A8"/>
                </a:solidFill>
                <a:latin typeface="Arial" pitchFamily="34" charset="0"/>
                <a:ea typeface="Arial" pitchFamily="34" charset="-122"/>
                <a:cs typeface="Arial" pitchFamily="34" charset="-120"/>
              </a:rPr>
              <a:t>幅 560〜760万円</a:t>
            </a:r>
            <a:endParaRPr lang="en-US" sz="1100" dirty="0"/>
          </a:p>
        </p:txBody>
      </p:sp>
      <p:sp>
        <p:nvSpPr>
          <p:cNvPr id="21" name="Shape 19"/>
          <p:cNvSpPr/>
          <p:nvPr/>
        </p:nvSpPr>
        <p:spPr>
          <a:xfrm>
            <a:off x="4841748" y="3493008"/>
            <a:ext cx="2907792" cy="9144"/>
          </a:xfrm>
          <a:prstGeom prst="rect">
            <a:avLst/>
          </a:prstGeom>
          <a:solidFill>
            <a:srgbClr val="2E5A4C"/>
          </a:solidFill>
          <a:ln/>
        </p:spPr>
      </p:sp>
      <p:sp>
        <p:nvSpPr>
          <p:cNvPr id="22" name="Text 20"/>
          <p:cNvSpPr/>
          <p:nvPr/>
        </p:nvSpPr>
        <p:spPr>
          <a:xfrm>
            <a:off x="4841748" y="3584448"/>
            <a:ext cx="2907792" cy="274320"/>
          </a:xfrm>
          <a:prstGeom prst="rect">
            <a:avLst/>
          </a:prstGeom>
          <a:noFill/>
          <a:ln/>
        </p:spPr>
        <p:txBody>
          <a:bodyPr wrap="square" lIns="0" tIns="0" rIns="0" bIns="0" rtlCol="0" anchor="ctr"/>
          <a:lstStyle/>
          <a:p>
            <a:pPr indent="0" marL="0">
              <a:buNone/>
            </a:pPr>
            <a:r>
              <a:rPr lang="en-US" sz="1200" b="1" dirty="0">
                <a:solidFill>
                  <a:srgbClr val="FFFFFF"/>
                </a:solidFill>
                <a:latin typeface="Yu Gothic" pitchFamily="34" charset="0"/>
                <a:ea typeface="Yu Gothic" pitchFamily="34" charset="-122"/>
                <a:cs typeface="Yu Gothic" pitchFamily="34" charset="-120"/>
              </a:rPr>
              <a:t>94人日　</a:t>
            </a:r>
            <a:pPr indent="0" marL="0">
              <a:buNone/>
            </a:pPr>
            <a:r>
              <a:rPr lang="en-US" sz="1200" b="1" dirty="0">
                <a:solidFill>
                  <a:srgbClr val="FFFFFF"/>
                </a:solidFill>
                <a:latin typeface="Yu Gothic" pitchFamily="34" charset="0"/>
                <a:ea typeface="Yu Gothic" pitchFamily="34" charset="-122"/>
                <a:cs typeface="Yu Gothic" pitchFamily="34" charset="-120"/>
              </a:rPr>
              <a:t>約4ヶ月　</a:t>
            </a:r>
            <a:pPr indent="0" marL="0">
              <a:buNone/>
            </a:pPr>
            <a:r>
              <a:rPr lang="en-US" sz="1200" b="1" dirty="0">
                <a:solidFill>
                  <a:srgbClr val="FFFFFF"/>
                </a:solidFill>
                <a:latin typeface="Yu Gothic" pitchFamily="34" charset="0"/>
                <a:ea typeface="Yu Gothic" pitchFamily="34" charset="-122"/>
                <a:cs typeface="Yu Gothic" pitchFamily="34" charset="-120"/>
              </a:rPr>
              <a:t>3名</a:t>
            </a:r>
            <a:endParaRPr lang="en-US" sz="1200" dirty="0"/>
          </a:p>
        </p:txBody>
      </p:sp>
      <p:sp>
        <p:nvSpPr>
          <p:cNvPr id="23" name="Text 21"/>
          <p:cNvSpPr/>
          <p:nvPr/>
        </p:nvSpPr>
        <p:spPr>
          <a:xfrm>
            <a:off x="4841748" y="3968496"/>
            <a:ext cx="2980944" cy="1554480"/>
          </a:xfrm>
          <a:prstGeom prst="rect">
            <a:avLst/>
          </a:prstGeom>
          <a:noFill/>
          <a:ln/>
        </p:spPr>
        <p:txBody>
          <a:bodyPr wrap="square" lIns="0" tIns="0" rIns="0" bIns="0" rtlCol="0" anchor="ctr"/>
          <a:lstStyle/>
          <a:p>
            <a:pPr marL="342900" indent="-342900">
              <a:lnSpc>
                <a:spcPts val="1900"/>
              </a:lnSpc>
              <a:spcAft>
                <a:spcPts val="600"/>
              </a:spcAft>
              <a:buSzPct val="100000"/>
              <a:buChar char="•"/>
            </a:pPr>
            <a:r>
              <a:rPr lang="en-US" sz="1200" dirty="0">
                <a:solidFill>
                  <a:srgbClr val="E4EDE8"/>
                </a:solidFill>
                <a:latin typeface="Yu Gothic" pitchFamily="34" charset="0"/>
                <a:ea typeface="Yu Gothic" pitchFamily="34" charset="-122"/>
                <a:cs typeface="Yu Gothic" pitchFamily="34" charset="-120"/>
              </a:rPr>
              <a:t>ログイン・記憶基盤・通知</a:t>
            </a:r>
            <a:endParaRPr lang="en-US" sz="1200" dirty="0"/>
          </a:p>
          <a:p>
            <a:pPr marL="342900" indent="-342900">
              <a:lnSpc>
                <a:spcPts val="1900"/>
              </a:lnSpc>
              <a:spcAft>
                <a:spcPts val="600"/>
              </a:spcAft>
              <a:buSzPct val="100000"/>
              <a:buChar char="•"/>
            </a:pPr>
            <a:r>
              <a:rPr lang="en-US" sz="1200" dirty="0">
                <a:solidFill>
                  <a:srgbClr val="E4EDE8"/>
                </a:solidFill>
                <a:latin typeface="Yu Gothic" pitchFamily="34" charset="0"/>
                <a:ea typeface="Yu Gothic" pitchFamily="34" charset="-122"/>
                <a:cs typeface="Yu Gothic" pitchFamily="34" charset="-120"/>
              </a:rPr>
              <a:t>管理画面と個人情報対応</a:t>
            </a:r>
            <a:endParaRPr lang="en-US" sz="1200" dirty="0"/>
          </a:p>
          <a:p>
            <a:pPr marL="342900" indent="-342900">
              <a:lnSpc>
                <a:spcPts val="1900"/>
              </a:lnSpc>
              <a:spcAft>
                <a:spcPts val="600"/>
              </a:spcAft>
              <a:buSzPct val="100000"/>
              <a:buChar char="•"/>
            </a:pPr>
            <a:r>
              <a:rPr lang="en-US" sz="1200" dirty="0">
                <a:solidFill>
                  <a:srgbClr val="E4EDE8"/>
                </a:solidFill>
                <a:latin typeface="Yu Gothic" pitchFamily="34" charset="0"/>
                <a:ea typeface="Yu Gothic" pitchFamily="34" charset="-122"/>
                <a:cs typeface="Yu Gothic" pitchFamily="34" charset="-120"/>
              </a:rPr>
              <a:t>実利用者に配り継続率を見る</a:t>
            </a:r>
            <a:endParaRPr lang="en-US" sz="1200" dirty="0"/>
          </a:p>
        </p:txBody>
      </p:sp>
      <p:sp>
        <p:nvSpPr>
          <p:cNvPr id="24" name="Shape 22"/>
          <p:cNvSpPr/>
          <p:nvPr/>
        </p:nvSpPr>
        <p:spPr>
          <a:xfrm>
            <a:off x="8494776" y="1572768"/>
            <a:ext cx="3529584" cy="4096512"/>
          </a:xfrm>
          <a:prstGeom prst="roundRect">
            <a:avLst>
              <a:gd name="adj" fmla="val 1554"/>
            </a:avLst>
          </a:prstGeom>
          <a:solidFill>
            <a:srgbClr val="FFFFFF"/>
          </a:solidFill>
          <a:ln w="12700">
            <a:solidFill>
              <a:srgbClr val="D6E0DA"/>
            </a:solidFill>
            <a:prstDash val="solid"/>
          </a:ln>
          <a:effectLst>
            <a:outerShdw sx="100000" sy="100000" kx="0" ky="0" algn="bl" rotWithShape="0" blurRad="127000" dist="25400" dir="5400000">
              <a:srgbClr val="1F3D34">
                <a:alpha val="10000"/>
              </a:srgbClr>
            </a:outerShdw>
          </a:effectLst>
        </p:spPr>
      </p:sp>
      <p:sp>
        <p:nvSpPr>
          <p:cNvPr id="25" name="Text 23"/>
          <p:cNvSpPr/>
          <p:nvPr/>
        </p:nvSpPr>
        <p:spPr>
          <a:xfrm>
            <a:off x="8805672" y="1828800"/>
            <a:ext cx="2907792" cy="237744"/>
          </a:xfrm>
          <a:prstGeom prst="rect">
            <a:avLst/>
          </a:prstGeom>
          <a:noFill/>
          <a:ln/>
        </p:spPr>
        <p:txBody>
          <a:bodyPr wrap="square" lIns="0" tIns="0" rIns="0" bIns="0" rtlCol="0" anchor="ctr"/>
          <a:lstStyle/>
          <a:p>
            <a:pPr indent="0" marL="0">
              <a:buNone/>
            </a:pPr>
            <a:r>
              <a:rPr lang="en-US" sz="1100" b="1" spc="200" kern="0" dirty="0">
                <a:solidFill>
                  <a:srgbClr val="6E9A85"/>
                </a:solidFill>
                <a:latin typeface="Arial" pitchFamily="34" charset="0"/>
                <a:ea typeface="Arial" pitchFamily="34" charset="-122"/>
                <a:cs typeface="Arial" pitchFamily="34" charset="-120"/>
              </a:rPr>
              <a:t>PLAN C</a:t>
            </a:r>
            <a:endParaRPr lang="en-US" sz="1100" dirty="0"/>
          </a:p>
        </p:txBody>
      </p:sp>
      <p:sp>
        <p:nvSpPr>
          <p:cNvPr id="26" name="Text 24"/>
          <p:cNvSpPr/>
          <p:nvPr/>
        </p:nvSpPr>
        <p:spPr>
          <a:xfrm>
            <a:off x="8805672" y="2084832"/>
            <a:ext cx="2907792" cy="347472"/>
          </a:xfrm>
          <a:prstGeom prst="rect">
            <a:avLst/>
          </a:prstGeom>
          <a:noFill/>
          <a:ln/>
        </p:spPr>
        <p:txBody>
          <a:bodyPr wrap="square" lIns="0" tIns="0" rIns="0" bIns="0" rtlCol="0" anchor="ctr"/>
          <a:lstStyle/>
          <a:p>
            <a:pPr indent="0" marL="0">
              <a:buNone/>
            </a:pPr>
            <a:r>
              <a:rPr lang="en-US" sz="1600" b="1" dirty="0">
                <a:solidFill>
                  <a:srgbClr val="12211C"/>
                </a:solidFill>
                <a:latin typeface="Yu Gothic" pitchFamily="34" charset="0"/>
                <a:ea typeface="Yu Gothic" pitchFamily="34" charset="-122"/>
                <a:cs typeface="Yu Gothic" pitchFamily="34" charset="-120"/>
              </a:rPr>
              <a:t>本番版（アプリ）</a:t>
            </a:r>
            <a:endParaRPr lang="en-US" sz="1600" dirty="0"/>
          </a:p>
        </p:txBody>
      </p:sp>
      <p:sp>
        <p:nvSpPr>
          <p:cNvPr id="27" name="Text 25"/>
          <p:cNvSpPr/>
          <p:nvPr/>
        </p:nvSpPr>
        <p:spPr>
          <a:xfrm>
            <a:off x="8805672" y="2505456"/>
            <a:ext cx="2907792" cy="603504"/>
          </a:xfrm>
          <a:prstGeom prst="rect">
            <a:avLst/>
          </a:prstGeom>
          <a:noFill/>
          <a:ln/>
        </p:spPr>
        <p:txBody>
          <a:bodyPr wrap="square" lIns="0" tIns="0" rIns="0" bIns="0" rtlCol="0" anchor="ctr"/>
          <a:lstStyle/>
          <a:p>
            <a:pPr indent="0" marL="0">
              <a:buNone/>
            </a:pPr>
            <a:r>
              <a:rPr lang="en-US" sz="3800" b="1" dirty="0">
                <a:solidFill>
                  <a:srgbClr val="1F3D34"/>
                </a:solidFill>
                <a:latin typeface="Arial" pitchFamily="34" charset="0"/>
                <a:ea typeface="Arial" pitchFamily="34" charset="-122"/>
                <a:cs typeface="Arial" pitchFamily="34" charset="-120"/>
              </a:rPr>
              <a:t>1,190</a:t>
            </a:r>
            <a:pPr indent="0" marL="0">
              <a:buNone/>
            </a:pPr>
            <a:r>
              <a:rPr lang="en-US" sz="1400" b="1" dirty="0">
                <a:solidFill>
                  <a:srgbClr val="1F3D34"/>
                </a:solidFill>
                <a:latin typeface="Yu Gothic" pitchFamily="34" charset="0"/>
                <a:ea typeface="Yu Gothic" pitchFamily="34" charset="-122"/>
                <a:cs typeface="Yu Gothic" pitchFamily="34" charset="-120"/>
              </a:rPr>
              <a:t> 万円</a:t>
            </a:r>
            <a:endParaRPr lang="en-US" sz="3800" dirty="0"/>
          </a:p>
        </p:txBody>
      </p:sp>
      <p:sp>
        <p:nvSpPr>
          <p:cNvPr id="28" name="Text 26"/>
          <p:cNvSpPr/>
          <p:nvPr/>
        </p:nvSpPr>
        <p:spPr>
          <a:xfrm>
            <a:off x="8805672" y="3127248"/>
            <a:ext cx="2907792" cy="237744"/>
          </a:xfrm>
          <a:prstGeom prst="rect">
            <a:avLst/>
          </a:prstGeom>
          <a:noFill/>
          <a:ln/>
        </p:spPr>
        <p:txBody>
          <a:bodyPr wrap="square" lIns="0" tIns="0" rIns="0" bIns="0" rtlCol="0" anchor="ctr"/>
          <a:lstStyle/>
          <a:p>
            <a:pPr indent="0" marL="0">
              <a:buNone/>
            </a:pPr>
            <a:r>
              <a:rPr lang="en-US" sz="1100" dirty="0">
                <a:solidFill>
                  <a:srgbClr val="6C7C75"/>
                </a:solidFill>
                <a:latin typeface="Arial" pitchFamily="34" charset="0"/>
                <a:ea typeface="Arial" pitchFamily="34" charset="-122"/>
                <a:cs typeface="Arial" pitchFamily="34" charset="-120"/>
              </a:rPr>
              <a:t>幅 1,000〜1,400万円</a:t>
            </a:r>
            <a:endParaRPr lang="en-US" sz="1100" dirty="0"/>
          </a:p>
        </p:txBody>
      </p:sp>
      <p:sp>
        <p:nvSpPr>
          <p:cNvPr id="29" name="Shape 27"/>
          <p:cNvSpPr/>
          <p:nvPr/>
        </p:nvSpPr>
        <p:spPr>
          <a:xfrm>
            <a:off x="8805672" y="3493008"/>
            <a:ext cx="2907792" cy="9144"/>
          </a:xfrm>
          <a:prstGeom prst="rect">
            <a:avLst/>
          </a:prstGeom>
          <a:solidFill>
            <a:srgbClr val="D6E0DA"/>
          </a:solidFill>
          <a:ln/>
        </p:spPr>
      </p:sp>
      <p:sp>
        <p:nvSpPr>
          <p:cNvPr id="30" name="Text 28"/>
          <p:cNvSpPr/>
          <p:nvPr/>
        </p:nvSpPr>
        <p:spPr>
          <a:xfrm>
            <a:off x="8805672" y="3584448"/>
            <a:ext cx="2907792" cy="274320"/>
          </a:xfrm>
          <a:prstGeom prst="rect">
            <a:avLst/>
          </a:prstGeom>
          <a:noFill/>
          <a:ln/>
        </p:spPr>
        <p:txBody>
          <a:bodyPr wrap="square" lIns="0" tIns="0" rIns="0" bIns="0" rtlCol="0" anchor="ctr"/>
          <a:lstStyle/>
          <a:p>
            <a:pPr indent="0" marL="0">
              <a:buNone/>
            </a:pPr>
            <a:r>
              <a:rPr lang="en-US" sz="1200" b="1" dirty="0">
                <a:solidFill>
                  <a:srgbClr val="12211C"/>
                </a:solidFill>
                <a:latin typeface="Yu Gothic" pitchFamily="34" charset="0"/>
                <a:ea typeface="Yu Gothic" pitchFamily="34" charset="-122"/>
                <a:cs typeface="Yu Gothic" pitchFamily="34" charset="-120"/>
              </a:rPr>
              <a:t>170人日　</a:t>
            </a:r>
            <a:pPr indent="0" marL="0">
              <a:buNone/>
            </a:pPr>
            <a:r>
              <a:rPr lang="en-US" sz="1200" b="1" dirty="0">
                <a:solidFill>
                  <a:srgbClr val="12211C"/>
                </a:solidFill>
                <a:latin typeface="Yu Gothic" pitchFamily="34" charset="0"/>
                <a:ea typeface="Yu Gothic" pitchFamily="34" charset="-122"/>
                <a:cs typeface="Yu Gothic" pitchFamily="34" charset="-120"/>
              </a:rPr>
              <a:t>約7ヶ月　</a:t>
            </a:r>
            <a:pPr indent="0" marL="0">
              <a:buNone/>
            </a:pPr>
            <a:r>
              <a:rPr lang="en-US" sz="1200" b="1" dirty="0">
                <a:solidFill>
                  <a:srgbClr val="12211C"/>
                </a:solidFill>
                <a:latin typeface="Yu Gothic" pitchFamily="34" charset="0"/>
                <a:ea typeface="Yu Gothic" pitchFamily="34" charset="-122"/>
                <a:cs typeface="Yu Gothic" pitchFamily="34" charset="-120"/>
              </a:rPr>
              <a:t>3〜4名</a:t>
            </a:r>
            <a:endParaRPr lang="en-US" sz="1200" dirty="0"/>
          </a:p>
        </p:txBody>
      </p:sp>
      <p:sp>
        <p:nvSpPr>
          <p:cNvPr id="31" name="Text 29"/>
          <p:cNvSpPr/>
          <p:nvPr/>
        </p:nvSpPr>
        <p:spPr>
          <a:xfrm>
            <a:off x="8805672" y="3968496"/>
            <a:ext cx="2980944" cy="1554480"/>
          </a:xfrm>
          <a:prstGeom prst="rect">
            <a:avLst/>
          </a:prstGeom>
          <a:noFill/>
          <a:ln/>
        </p:spPr>
        <p:txBody>
          <a:bodyPr wrap="square" lIns="0" tIns="0" rIns="0" bIns="0" rtlCol="0" anchor="ctr"/>
          <a:lstStyle/>
          <a:p>
            <a:pPr marL="342900" indent="-342900">
              <a:lnSpc>
                <a:spcPts val="1900"/>
              </a:lnSpc>
              <a:spcAft>
                <a:spcPts val="600"/>
              </a:spcAft>
              <a:buSzPct val="100000"/>
              <a:buChar char="•"/>
            </a:pPr>
            <a:r>
              <a:rPr lang="en-US" sz="1200" dirty="0">
                <a:solidFill>
                  <a:srgbClr val="6C7C75"/>
                </a:solidFill>
                <a:latin typeface="Yu Gothic" pitchFamily="34" charset="0"/>
                <a:ea typeface="Yu Gothic" pitchFamily="34" charset="-122"/>
                <a:cs typeface="Yu Gothic" pitchFamily="34" charset="-120"/>
              </a:rPr>
              <a:t>iOS / Android ネイティブ</a:t>
            </a:r>
            <a:endParaRPr lang="en-US" sz="1200" dirty="0"/>
          </a:p>
          <a:p>
            <a:pPr marL="342900" indent="-342900">
              <a:lnSpc>
                <a:spcPts val="1900"/>
              </a:lnSpc>
              <a:spcAft>
                <a:spcPts val="600"/>
              </a:spcAft>
              <a:buSzPct val="100000"/>
              <a:buChar char="•"/>
            </a:pPr>
            <a:r>
              <a:rPr lang="en-US" sz="1200" dirty="0">
                <a:solidFill>
                  <a:srgbClr val="6C7C75"/>
                </a:solidFill>
                <a:latin typeface="Yu Gothic" pitchFamily="34" charset="0"/>
                <a:ea typeface="Yu Gothic" pitchFamily="34" charset="-122"/>
                <a:cs typeface="Yu Gothic" pitchFamily="34" charset="-120"/>
              </a:rPr>
              <a:t>家族向け見守り画面</a:t>
            </a:r>
            <a:endParaRPr lang="en-US" sz="1200" dirty="0"/>
          </a:p>
          <a:p>
            <a:pPr marL="342900" indent="-342900">
              <a:lnSpc>
                <a:spcPts val="1900"/>
              </a:lnSpc>
              <a:spcAft>
                <a:spcPts val="600"/>
              </a:spcAft>
              <a:buSzPct val="100000"/>
              <a:buChar char="•"/>
            </a:pPr>
            <a:r>
              <a:rPr lang="en-US" sz="1200" dirty="0">
                <a:solidFill>
                  <a:srgbClr val="6C7C75"/>
                </a:solidFill>
                <a:latin typeface="Yu Gothic" pitchFamily="34" charset="0"/>
                <a:ea typeface="Yu Gothic" pitchFamily="34" charset="-122"/>
                <a:cs typeface="Yu Gothic" pitchFamily="34" charset="-120"/>
              </a:rPr>
              <a:t>一般提供・見守り事業化</a:t>
            </a:r>
            <a:endParaRPr lang="en-US" sz="1200" dirty="0"/>
          </a:p>
        </p:txBody>
      </p:sp>
      <p:sp>
        <p:nvSpPr>
          <p:cNvPr id="32" name="Text 30"/>
          <p:cNvSpPr/>
          <p:nvPr/>
        </p:nvSpPr>
        <p:spPr>
          <a:xfrm>
            <a:off x="566928" y="6236208"/>
            <a:ext cx="11057839" cy="310896"/>
          </a:xfrm>
          <a:prstGeom prst="rect">
            <a:avLst/>
          </a:prstGeom>
          <a:noFill/>
          <a:ln/>
        </p:spPr>
        <p:txBody>
          <a:bodyPr wrap="square" lIns="0" tIns="0" rIns="0" bIns="0" rtlCol="0" anchor="ctr"/>
          <a:lstStyle/>
          <a:p>
            <a:pPr indent="0" marL="0">
              <a:buNone/>
            </a:pPr>
            <a:r>
              <a:rPr lang="en-US" sz="1050" i="1" dirty="0">
                <a:solidFill>
                  <a:srgbClr val="6C7C75"/>
                </a:solidFill>
                <a:latin typeface="Yu Gothic" pitchFamily="34" charset="0"/>
                <a:ea typeface="Yu Gothic" pitchFamily="34" charset="-122"/>
                <a:cs typeface="Yu Gothic" pitchFamily="34" charset="-120"/>
              </a:rPr>
              <a:t>税別・単価7万円／人日。C案はB案を包含した単独総額。A→B→Cと段階実施する場合は手戻り分として合計に10〜15%を見込む。</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57200"/>
            <a:ext cx="365760" cy="365760"/>
          </a:xfrm>
          <a:prstGeom prst="ellipse">
            <a:avLst/>
          </a:prstGeom>
          <a:solidFill>
            <a:srgbClr val="1F3D34"/>
          </a:solidFill>
          <a:ln/>
        </p:spPr>
      </p:sp>
      <p:sp>
        <p:nvSpPr>
          <p:cNvPr id="3" name="Text 1"/>
          <p:cNvSpPr/>
          <p:nvPr/>
        </p:nvSpPr>
        <p:spPr>
          <a:xfrm>
            <a:off x="566928" y="4572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4</a:t>
            </a:r>
            <a:endParaRPr lang="en-US" sz="1200" dirty="0"/>
          </a:p>
        </p:txBody>
      </p:sp>
      <p:sp>
        <p:nvSpPr>
          <p:cNvPr id="4" name="Text 2"/>
          <p:cNvSpPr/>
          <p:nvPr/>
        </p:nvSpPr>
        <p:spPr>
          <a:xfrm>
            <a:off x="1133856" y="384048"/>
            <a:ext cx="10490911" cy="530352"/>
          </a:xfrm>
          <a:prstGeom prst="rect">
            <a:avLst/>
          </a:prstGeom>
          <a:noFill/>
          <a:ln/>
        </p:spPr>
        <p:txBody>
          <a:bodyPr wrap="square" lIns="0" tIns="0" rIns="0" bIns="0" rtlCol="0" anchor="ctr"/>
          <a:lstStyle/>
          <a:p>
            <a:pPr indent="0" marL="0">
              <a:buNone/>
            </a:pPr>
            <a:r>
              <a:rPr lang="en-US" sz="2700" b="1" dirty="0">
                <a:solidFill>
                  <a:srgbClr val="12211C"/>
                </a:solidFill>
                <a:latin typeface="Yu Gothic" pitchFamily="34" charset="0"/>
                <a:ea typeface="Yu Gothic" pitchFamily="34" charset="-122"/>
                <a:cs typeface="Yu Gothic" pitchFamily="34" charset="-120"/>
              </a:rPr>
              <a:t>開発費はどこに集中するか</a:t>
            </a:r>
            <a:endParaRPr lang="en-US" sz="2700" dirty="0"/>
          </a:p>
        </p:txBody>
      </p:sp>
      <p:sp>
        <p:nvSpPr>
          <p:cNvPr id="5" name="Text 3"/>
          <p:cNvSpPr/>
          <p:nvPr/>
        </p:nvSpPr>
        <p:spPr>
          <a:xfrm>
            <a:off x="566928" y="969264"/>
            <a:ext cx="11057839" cy="329184"/>
          </a:xfrm>
          <a:prstGeom prst="rect">
            <a:avLst/>
          </a:prstGeom>
          <a:noFill/>
          <a:ln/>
        </p:spPr>
        <p:txBody>
          <a:bodyPr wrap="square" lIns="0" tIns="0" rIns="0" bIns="0" rtlCol="0" anchor="t"/>
          <a:lstStyle/>
          <a:p>
            <a:pPr indent="0" marL="0">
              <a:buNone/>
            </a:pPr>
            <a:r>
              <a:rPr lang="en-US" sz="1350" dirty="0">
                <a:solidFill>
                  <a:srgbClr val="6C7C75"/>
                </a:solidFill>
                <a:latin typeface="Yu Gothic" pitchFamily="34" charset="0"/>
                <a:ea typeface="Yu Gothic" pitchFamily="34" charset="-122"/>
                <a:cs typeface="Yu Gothic" pitchFamily="34" charset="-120"/>
              </a:rPr>
              <a:t>推奨案（658万円・94人日）の内訳。削るなら機能ではなく、初期の対象人数です。</a:t>
            </a:r>
            <a:endParaRPr lang="en-US" sz="1350" dirty="0"/>
          </a:p>
        </p:txBody>
      </p:sp>
      <p:graphicFrame>
        <p:nvGraphicFramePr>
          <p:cNvPr id="6" name="Chart 0" descr=""/>
          <p:cNvGraphicFramePr/>
          <p:nvPr/>
        </p:nvGraphicFramePr>
        <p:xfrm>
          <a:off x="566928" y="1591056"/>
          <a:ext cx="7040880" cy="411480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7882128" y="1591056"/>
            <a:ext cx="3742639" cy="4114800"/>
          </a:xfrm>
          <a:prstGeom prst="roundRect">
            <a:avLst>
              <a:gd name="adj" fmla="val 1466"/>
            </a:avLst>
          </a:prstGeom>
          <a:solidFill>
            <a:srgbClr val="F2F7F4"/>
          </a:solidFill>
          <a:ln w="12700">
            <a:solidFill>
              <a:srgbClr val="D6E0DA"/>
            </a:solidFill>
            <a:prstDash val="solid"/>
          </a:ln>
        </p:spPr>
      </p:sp>
      <p:sp>
        <p:nvSpPr>
          <p:cNvPr id="8" name="Text 5"/>
          <p:cNvSpPr/>
          <p:nvPr/>
        </p:nvSpPr>
        <p:spPr>
          <a:xfrm>
            <a:off x="8211312" y="1847088"/>
            <a:ext cx="3291840" cy="274320"/>
          </a:xfrm>
          <a:prstGeom prst="rect">
            <a:avLst/>
          </a:prstGeom>
          <a:noFill/>
          <a:ln/>
        </p:spPr>
        <p:txBody>
          <a:bodyPr wrap="square" lIns="0" tIns="0" rIns="0" bIns="0" rtlCol="0" anchor="ctr"/>
          <a:lstStyle/>
          <a:p>
            <a:pPr indent="0" marL="0">
              <a:buNone/>
            </a:pPr>
            <a:r>
              <a:rPr lang="en-US" sz="1300" b="1" spc="150" kern="0" dirty="0">
                <a:solidFill>
                  <a:srgbClr val="6E9A85"/>
                </a:solidFill>
                <a:latin typeface="Yu Gothic" pitchFamily="34" charset="0"/>
                <a:ea typeface="Yu Gothic" pitchFamily="34" charset="-122"/>
                <a:cs typeface="Yu Gothic" pitchFamily="34" charset="-120"/>
              </a:rPr>
              <a:t>読みどころ</a:t>
            </a:r>
            <a:endParaRPr lang="en-US" sz="1300" dirty="0"/>
          </a:p>
        </p:txBody>
      </p:sp>
      <p:sp>
        <p:nvSpPr>
          <p:cNvPr id="9" name="Text 6"/>
          <p:cNvSpPr/>
          <p:nvPr/>
        </p:nvSpPr>
        <p:spPr>
          <a:xfrm>
            <a:off x="8211312" y="2286000"/>
            <a:ext cx="1005840" cy="384048"/>
          </a:xfrm>
          <a:prstGeom prst="rect">
            <a:avLst/>
          </a:prstGeom>
          <a:noFill/>
          <a:ln/>
        </p:spPr>
        <p:txBody>
          <a:bodyPr wrap="square" lIns="0" tIns="0" rIns="0" bIns="0" rtlCol="0" anchor="ctr"/>
          <a:lstStyle/>
          <a:p>
            <a:pPr indent="0" marL="0">
              <a:buNone/>
            </a:pPr>
            <a:r>
              <a:rPr lang="en-US" sz="2400" b="1" dirty="0">
                <a:solidFill>
                  <a:srgbClr val="C4682A"/>
                </a:solidFill>
                <a:latin typeface="Arial" pitchFamily="34" charset="0"/>
                <a:ea typeface="Arial" pitchFamily="34" charset="-122"/>
                <a:cs typeface="Arial" pitchFamily="34" charset="-120"/>
              </a:rPr>
              <a:t>30%</a:t>
            </a:r>
            <a:endParaRPr lang="en-US" sz="2400" dirty="0"/>
          </a:p>
        </p:txBody>
      </p:sp>
      <p:sp>
        <p:nvSpPr>
          <p:cNvPr id="10" name="Text 7"/>
          <p:cNvSpPr/>
          <p:nvPr/>
        </p:nvSpPr>
        <p:spPr>
          <a:xfrm>
            <a:off x="8211312" y="2688336"/>
            <a:ext cx="3084271" cy="713232"/>
          </a:xfrm>
          <a:prstGeom prst="rect">
            <a:avLst/>
          </a:prstGeom>
          <a:noFill/>
          <a:ln/>
        </p:spPr>
        <p:txBody>
          <a:bodyPr wrap="square" lIns="0" tIns="0" rIns="0" bIns="0" rtlCol="0" anchor="ctr"/>
          <a:lstStyle/>
          <a:p>
            <a:pPr indent="0" marL="0">
              <a:lnSpc>
                <a:spcPts val="1700"/>
              </a:lnSpc>
              <a:buNone/>
            </a:pPr>
            <a:r>
              <a:rPr lang="en-US" sz="1150" dirty="0">
                <a:solidFill>
                  <a:srgbClr val="6C7C75"/>
                </a:solidFill>
                <a:latin typeface="Yu Gothic" pitchFamily="34" charset="0"/>
                <a:ea typeface="Yu Gothic" pitchFamily="34" charset="-122"/>
                <a:cs typeface="Yu Gothic" pitchFamily="34" charset="-120"/>
              </a:rPr>
              <a:t>音声会話コアと記憶基盤の2項目だけで28人日。ここがプロダクトの中身そのもので、削れない。</a:t>
            </a:r>
            <a:endParaRPr lang="en-US" sz="1150" dirty="0"/>
          </a:p>
        </p:txBody>
      </p:sp>
      <p:sp>
        <p:nvSpPr>
          <p:cNvPr id="11" name="Text 8"/>
          <p:cNvSpPr/>
          <p:nvPr/>
        </p:nvSpPr>
        <p:spPr>
          <a:xfrm>
            <a:off x="8211312" y="3419856"/>
            <a:ext cx="1005840" cy="384048"/>
          </a:xfrm>
          <a:prstGeom prst="rect">
            <a:avLst/>
          </a:prstGeom>
          <a:noFill/>
          <a:ln/>
        </p:spPr>
        <p:txBody>
          <a:bodyPr wrap="square" lIns="0" tIns="0" rIns="0" bIns="0" rtlCol="0" anchor="ctr"/>
          <a:lstStyle/>
          <a:p>
            <a:pPr indent="0" marL="0">
              <a:buNone/>
            </a:pPr>
            <a:r>
              <a:rPr lang="en-US" sz="2400" b="1" dirty="0">
                <a:solidFill>
                  <a:srgbClr val="1F3D34"/>
                </a:solidFill>
                <a:latin typeface="Arial" pitchFamily="34" charset="0"/>
                <a:ea typeface="Arial" pitchFamily="34" charset="-122"/>
                <a:cs typeface="Arial" pitchFamily="34" charset="-120"/>
              </a:rPr>
              <a:t>17%</a:t>
            </a:r>
            <a:endParaRPr lang="en-US" sz="2400" dirty="0"/>
          </a:p>
        </p:txBody>
      </p:sp>
      <p:sp>
        <p:nvSpPr>
          <p:cNvPr id="12" name="Text 9"/>
          <p:cNvSpPr/>
          <p:nvPr/>
        </p:nvSpPr>
        <p:spPr>
          <a:xfrm>
            <a:off x="8211312" y="3822192"/>
            <a:ext cx="3084271" cy="713232"/>
          </a:xfrm>
          <a:prstGeom prst="rect">
            <a:avLst/>
          </a:prstGeom>
          <a:noFill/>
          <a:ln/>
        </p:spPr>
        <p:txBody>
          <a:bodyPr wrap="square" lIns="0" tIns="0" rIns="0" bIns="0" rtlCol="0" anchor="ctr"/>
          <a:lstStyle/>
          <a:p>
            <a:pPr indent="0" marL="0">
              <a:lnSpc>
                <a:spcPts val="1700"/>
              </a:lnSpc>
              <a:buNone/>
            </a:pPr>
            <a:r>
              <a:rPr lang="en-US" sz="1150" dirty="0">
                <a:solidFill>
                  <a:srgbClr val="6C7C75"/>
                </a:solidFill>
                <a:latin typeface="Yu Gothic" pitchFamily="34" charset="0"/>
                <a:ea typeface="Yu Gothic" pitchFamily="34" charset="-122"/>
                <a:cs typeface="Yu Gothic" pitchFamily="34" charset="-120"/>
              </a:rPr>
              <a:t>要件定義とPM。前提が10点未確定のまま着手すると、ここが最初に膨らむ。</a:t>
            </a:r>
            <a:endParaRPr lang="en-US" sz="1150" dirty="0"/>
          </a:p>
        </p:txBody>
      </p:sp>
      <p:sp>
        <p:nvSpPr>
          <p:cNvPr id="13" name="Text 10"/>
          <p:cNvSpPr/>
          <p:nvPr/>
        </p:nvSpPr>
        <p:spPr>
          <a:xfrm>
            <a:off x="8211312" y="4553712"/>
            <a:ext cx="1005840" cy="384048"/>
          </a:xfrm>
          <a:prstGeom prst="rect">
            <a:avLst/>
          </a:prstGeom>
          <a:noFill/>
          <a:ln/>
        </p:spPr>
        <p:txBody>
          <a:bodyPr wrap="square" lIns="0" tIns="0" rIns="0" bIns="0" rtlCol="0" anchor="ctr"/>
          <a:lstStyle/>
          <a:p>
            <a:pPr indent="0" marL="0">
              <a:buNone/>
            </a:pPr>
            <a:r>
              <a:rPr lang="en-US" sz="2400" b="1" dirty="0">
                <a:solidFill>
                  <a:srgbClr val="1F3D34"/>
                </a:solidFill>
                <a:latin typeface="Arial" pitchFamily="34" charset="0"/>
                <a:ea typeface="Arial" pitchFamily="34" charset="-122"/>
                <a:cs typeface="Arial" pitchFamily="34" charset="-120"/>
              </a:rPr>
              <a:t>8.5%</a:t>
            </a:r>
            <a:endParaRPr lang="en-US" sz="2400" dirty="0"/>
          </a:p>
        </p:txBody>
      </p:sp>
      <p:sp>
        <p:nvSpPr>
          <p:cNvPr id="14" name="Text 11"/>
          <p:cNvSpPr/>
          <p:nvPr/>
        </p:nvSpPr>
        <p:spPr>
          <a:xfrm>
            <a:off x="8211312" y="4956048"/>
            <a:ext cx="3084271" cy="713232"/>
          </a:xfrm>
          <a:prstGeom prst="rect">
            <a:avLst/>
          </a:prstGeom>
          <a:noFill/>
          <a:ln/>
        </p:spPr>
        <p:txBody>
          <a:bodyPr wrap="square" lIns="0" tIns="0" rIns="0" bIns="0" rtlCol="0" anchor="ctr"/>
          <a:lstStyle/>
          <a:p>
            <a:pPr indent="0" marL="0">
              <a:lnSpc>
                <a:spcPts val="1700"/>
              </a:lnSpc>
              <a:buNone/>
            </a:pPr>
            <a:r>
              <a:rPr lang="en-US" sz="1150" dirty="0">
                <a:solidFill>
                  <a:srgbClr val="6C7C75"/>
                </a:solidFill>
                <a:latin typeface="Yu Gothic" pitchFamily="34" charset="0"/>
                <a:ea typeface="Yu Gothic" pitchFamily="34" charset="-122"/>
                <a:cs typeface="Yu Gothic" pitchFamily="34" charset="-120"/>
              </a:rPr>
              <a:t>テスト。高齢者ユーザーテストを含む。ここを削ると使われないものが出来上がる。</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F3D34"/>
        </a:solidFill>
      </p:bgPr>
    </p:bg>
    <p:spTree>
      <p:nvGrpSpPr>
        <p:cNvPr id="1" name=""/>
        <p:cNvGrpSpPr/>
        <p:nvPr/>
      </p:nvGrpSpPr>
      <p:grpSpPr>
        <a:xfrm>
          <a:off x="0" y="0"/>
          <a:ext cx="0" cy="0"/>
          <a:chOff x="0" y="0"/>
          <a:chExt cx="0" cy="0"/>
        </a:xfrm>
      </p:grpSpPr>
      <p:sp>
        <p:nvSpPr>
          <p:cNvPr id="2" name="Shape 0"/>
          <p:cNvSpPr/>
          <p:nvPr/>
        </p:nvSpPr>
        <p:spPr>
          <a:xfrm>
            <a:off x="566928" y="457200"/>
            <a:ext cx="365760" cy="365760"/>
          </a:xfrm>
          <a:prstGeom prst="ellipse">
            <a:avLst/>
          </a:prstGeom>
          <a:solidFill>
            <a:srgbClr val="6E9A85"/>
          </a:solidFill>
          <a:ln/>
        </p:spPr>
      </p:sp>
      <p:sp>
        <p:nvSpPr>
          <p:cNvPr id="3" name="Text 1"/>
          <p:cNvSpPr/>
          <p:nvPr/>
        </p:nvSpPr>
        <p:spPr>
          <a:xfrm>
            <a:off x="566928" y="4572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5</a:t>
            </a:r>
            <a:endParaRPr lang="en-US" sz="1200" dirty="0"/>
          </a:p>
        </p:txBody>
      </p:sp>
      <p:sp>
        <p:nvSpPr>
          <p:cNvPr id="4" name="Text 2"/>
          <p:cNvSpPr/>
          <p:nvPr/>
        </p:nvSpPr>
        <p:spPr>
          <a:xfrm>
            <a:off x="1133856" y="384048"/>
            <a:ext cx="10490911" cy="530352"/>
          </a:xfrm>
          <a:prstGeom prst="rect">
            <a:avLst/>
          </a:prstGeom>
          <a:noFill/>
          <a:ln/>
        </p:spPr>
        <p:txBody>
          <a:bodyPr wrap="square" lIns="0" tIns="0" rIns="0" bIns="0" rtlCol="0" anchor="ctr"/>
          <a:lstStyle/>
          <a:p>
            <a:pPr indent="0" marL="0">
              <a:buNone/>
            </a:pPr>
            <a:r>
              <a:rPr lang="en-US" sz="2700" b="1" dirty="0">
                <a:solidFill>
                  <a:srgbClr val="FFFFFF"/>
                </a:solidFill>
                <a:latin typeface="Yu Gothic" pitchFamily="34" charset="0"/>
                <a:ea typeface="Yu Gothic" pitchFamily="34" charset="-122"/>
                <a:cs typeface="Yu Gothic" pitchFamily="34" charset="-120"/>
              </a:rPr>
              <a:t>事業性を決めるのは開発費ではなく原価</a:t>
            </a:r>
            <a:endParaRPr lang="en-US" sz="2700" dirty="0"/>
          </a:p>
        </p:txBody>
      </p:sp>
      <p:sp>
        <p:nvSpPr>
          <p:cNvPr id="5" name="Text 3"/>
          <p:cNvSpPr/>
          <p:nvPr/>
        </p:nvSpPr>
        <p:spPr>
          <a:xfrm>
            <a:off x="566928" y="969264"/>
            <a:ext cx="11057839" cy="329184"/>
          </a:xfrm>
          <a:prstGeom prst="rect">
            <a:avLst/>
          </a:prstGeom>
          <a:noFill/>
          <a:ln/>
        </p:spPr>
        <p:txBody>
          <a:bodyPr wrap="square" lIns="0" tIns="0" rIns="0" bIns="0" rtlCol="0" anchor="t"/>
          <a:lstStyle/>
          <a:p>
            <a:pPr indent="0" marL="0">
              <a:buNone/>
            </a:pPr>
            <a:r>
              <a:rPr lang="en-US" sz="1350" dirty="0">
                <a:solidFill>
                  <a:srgbClr val="9DB2A8"/>
                </a:solidFill>
                <a:latin typeface="Yu Gothic" pitchFamily="34" charset="0"/>
                <a:ea typeface="Yu Gothic" pitchFamily="34" charset="-122"/>
                <a:cs typeface="Yu Gothic" pitchFamily="34" charset="-120"/>
              </a:rPr>
              <a:t>1人が1日15分・月20日会話する前提（＝月300分）での試算です。</a:t>
            </a:r>
            <a:endParaRPr lang="en-US" sz="1350" dirty="0"/>
          </a:p>
        </p:txBody>
      </p:sp>
      <p:sp>
        <p:nvSpPr>
          <p:cNvPr id="6" name="Shape 4"/>
          <p:cNvSpPr/>
          <p:nvPr/>
        </p:nvSpPr>
        <p:spPr>
          <a:xfrm>
            <a:off x="566928" y="1627632"/>
            <a:ext cx="6400800" cy="4041648"/>
          </a:xfrm>
          <a:prstGeom prst="roundRect">
            <a:avLst>
              <a:gd name="adj" fmla="val 1357"/>
            </a:avLst>
          </a:prstGeom>
          <a:solidFill>
            <a:srgbClr val="FFFFFF"/>
          </a:solidFill>
          <a:ln/>
          <a:effectLst>
            <a:outerShdw sx="100000" sy="100000" kx="0" ky="0" algn="bl" rotWithShape="0" blurRad="127000" dist="25400" dir="5400000">
              <a:srgbClr val="1F3D34">
                <a:alpha val="10000"/>
              </a:srgbClr>
            </a:outerShdw>
          </a:effectLst>
        </p:spPr>
      </p:sp>
      <p:graphicFrame>
        <p:nvGraphicFramePr>
          <p:cNvPr id="7" name="Chart 0" descr=""/>
          <p:cNvGraphicFramePr/>
          <p:nvPr/>
        </p:nvGraphicFramePr>
        <p:xfrm>
          <a:off x="713232" y="1773936"/>
          <a:ext cx="6108192" cy="3749040"/>
        </p:xfrm>
        <a:graphic xmlns:a="http://schemas.openxmlformats.org/drawingml/2006/main">
          <a:graphicData uri="http://schemas.openxmlformats.org/drawingml/2006/chart">
            <c:chart xmlns:c="http://schemas.openxmlformats.org/drawingml/2006/chart" r:id="rId1"/>
          </a:graphicData>
        </a:graphic>
      </p:graphicFrame>
      <p:sp>
        <p:nvSpPr>
          <p:cNvPr id="8" name="Shape 5"/>
          <p:cNvSpPr/>
          <p:nvPr/>
        </p:nvSpPr>
        <p:spPr>
          <a:xfrm>
            <a:off x="7187184" y="1627632"/>
            <a:ext cx="4437583" cy="914400"/>
          </a:xfrm>
          <a:prstGeom prst="roundRect">
            <a:avLst>
              <a:gd name="adj" fmla="val 6000"/>
            </a:avLst>
          </a:prstGeom>
          <a:solidFill>
            <a:srgbClr val="2E5A4C"/>
          </a:solidFill>
          <a:ln/>
        </p:spPr>
      </p:sp>
      <p:sp>
        <p:nvSpPr>
          <p:cNvPr id="9" name="Text 6"/>
          <p:cNvSpPr/>
          <p:nvPr/>
        </p:nvSpPr>
        <p:spPr>
          <a:xfrm>
            <a:off x="7443216" y="1719072"/>
            <a:ext cx="2468880" cy="256032"/>
          </a:xfrm>
          <a:prstGeom prst="rect">
            <a:avLst/>
          </a:prstGeom>
          <a:noFill/>
          <a:ln/>
        </p:spPr>
        <p:txBody>
          <a:bodyPr wrap="square" lIns="0" tIns="0" rIns="0" bIns="0" rtlCol="0" anchor="ctr"/>
          <a:lstStyle/>
          <a:p>
            <a:pPr indent="0" marL="0">
              <a:buNone/>
            </a:pPr>
            <a:r>
              <a:rPr lang="en-US" sz="1300" b="1" dirty="0">
                <a:solidFill>
                  <a:srgbClr val="FFFFFF"/>
                </a:solidFill>
                <a:latin typeface="Yu Gothic" pitchFamily="34" charset="0"/>
                <a:ea typeface="Yu Gothic" pitchFamily="34" charset="-122"/>
                <a:cs typeface="Yu Gothic" pitchFamily="34" charset="-120"/>
              </a:rPr>
              <a:t>リアルタイム音声</a:t>
            </a:r>
            <a:endParaRPr lang="en-US" sz="1300" dirty="0"/>
          </a:p>
        </p:txBody>
      </p:sp>
      <p:sp>
        <p:nvSpPr>
          <p:cNvPr id="10" name="Text 7"/>
          <p:cNvSpPr/>
          <p:nvPr/>
        </p:nvSpPr>
        <p:spPr>
          <a:xfrm>
            <a:off x="9784080" y="1700784"/>
            <a:ext cx="1956816" cy="292608"/>
          </a:xfrm>
          <a:prstGeom prst="rect">
            <a:avLst/>
          </a:prstGeom>
          <a:noFill/>
          <a:ln/>
        </p:spPr>
        <p:txBody>
          <a:bodyPr wrap="square" lIns="0" tIns="0" rIns="0" bIns="0" rtlCol="0" anchor="ctr"/>
          <a:lstStyle/>
          <a:p>
            <a:pPr algn="r" indent="0" marL="0">
              <a:buNone/>
            </a:pPr>
            <a:r>
              <a:rPr lang="en-US" sz="1400" b="1" dirty="0">
                <a:solidFill>
                  <a:srgbClr val="E39184"/>
                </a:solidFill>
                <a:latin typeface="Arial" pitchFamily="34" charset="0"/>
                <a:ea typeface="Arial" pitchFamily="34" charset="-122"/>
                <a:cs typeface="Arial" pitchFamily="34" charset="-120"/>
              </a:rPr>
              <a:t>6,000〜10,500円</a:t>
            </a:r>
            <a:endParaRPr lang="en-US" sz="1400" dirty="0"/>
          </a:p>
        </p:txBody>
      </p:sp>
      <p:sp>
        <p:nvSpPr>
          <p:cNvPr id="11" name="Text 8"/>
          <p:cNvSpPr/>
          <p:nvPr/>
        </p:nvSpPr>
        <p:spPr>
          <a:xfrm>
            <a:off x="7443216" y="2011680"/>
            <a:ext cx="4297680" cy="237744"/>
          </a:xfrm>
          <a:prstGeom prst="rect">
            <a:avLst/>
          </a:prstGeom>
          <a:noFill/>
          <a:ln/>
        </p:spPr>
        <p:txBody>
          <a:bodyPr wrap="square" lIns="0" tIns="0" rIns="0" bIns="0" rtlCol="0" anchor="ctr"/>
          <a:lstStyle/>
          <a:p>
            <a:pPr indent="0" marL="0">
              <a:buNone/>
            </a:pPr>
            <a:r>
              <a:rPr lang="en-US" sz="1050" dirty="0">
                <a:solidFill>
                  <a:srgbClr val="9DB2A8"/>
                </a:solidFill>
                <a:latin typeface="Yu Gothic" pitchFamily="34" charset="0"/>
                <a:ea typeface="Yu Gothic" pitchFamily="34" charset="-122"/>
                <a:cs typeface="Yu Gothic" pitchFamily="34" charset="-120"/>
              </a:rPr>
              <a:t>ChatGPT音声モード相当。割り込める、間が自然</a:t>
            </a:r>
            <a:endParaRPr lang="en-US" sz="1050" dirty="0"/>
          </a:p>
        </p:txBody>
      </p:sp>
      <p:sp>
        <p:nvSpPr>
          <p:cNvPr id="12" name="Text 9"/>
          <p:cNvSpPr/>
          <p:nvPr/>
        </p:nvSpPr>
        <p:spPr>
          <a:xfrm>
            <a:off x="7443216" y="2249424"/>
            <a:ext cx="4297680" cy="237744"/>
          </a:xfrm>
          <a:prstGeom prst="rect">
            <a:avLst/>
          </a:prstGeom>
          <a:noFill/>
          <a:ln/>
        </p:spPr>
        <p:txBody>
          <a:bodyPr wrap="square" lIns="0" tIns="0" rIns="0" bIns="0" rtlCol="0" anchor="ctr"/>
          <a:lstStyle/>
          <a:p>
            <a:pPr indent="0" marL="0">
              <a:buNone/>
            </a:pPr>
            <a:r>
              <a:rPr lang="en-US" sz="1100" b="1" dirty="0">
                <a:solidFill>
                  <a:srgbClr val="E4EDE8"/>
                </a:solidFill>
                <a:latin typeface="Yu Gothic" pitchFamily="34" charset="0"/>
                <a:ea typeface="Yu Gothic" pitchFamily="34" charset="-122"/>
                <a:cs typeface="Yu Gothic" pitchFamily="34" charset="-120"/>
              </a:rPr>
              <a:t>100人で月60〜105万円</a:t>
            </a:r>
            <a:endParaRPr lang="en-US" sz="1100" dirty="0"/>
          </a:p>
        </p:txBody>
      </p:sp>
      <p:sp>
        <p:nvSpPr>
          <p:cNvPr id="13" name="Shape 10"/>
          <p:cNvSpPr/>
          <p:nvPr/>
        </p:nvSpPr>
        <p:spPr>
          <a:xfrm>
            <a:off x="7187184" y="2660904"/>
            <a:ext cx="4437583" cy="914400"/>
          </a:xfrm>
          <a:prstGeom prst="roundRect">
            <a:avLst>
              <a:gd name="adj" fmla="val 6000"/>
            </a:avLst>
          </a:prstGeom>
          <a:solidFill>
            <a:srgbClr val="2E5A4C"/>
          </a:solidFill>
          <a:ln/>
        </p:spPr>
      </p:sp>
      <p:sp>
        <p:nvSpPr>
          <p:cNvPr id="14" name="Text 11"/>
          <p:cNvSpPr/>
          <p:nvPr/>
        </p:nvSpPr>
        <p:spPr>
          <a:xfrm>
            <a:off x="7443216" y="2752344"/>
            <a:ext cx="2468880" cy="256032"/>
          </a:xfrm>
          <a:prstGeom prst="rect">
            <a:avLst/>
          </a:prstGeom>
          <a:noFill/>
          <a:ln/>
        </p:spPr>
        <p:txBody>
          <a:bodyPr wrap="square" lIns="0" tIns="0" rIns="0" bIns="0" rtlCol="0" anchor="ctr"/>
          <a:lstStyle/>
          <a:p>
            <a:pPr indent="0" marL="0">
              <a:buNone/>
            </a:pPr>
            <a:r>
              <a:rPr lang="en-US" sz="1300" b="1" dirty="0">
                <a:solidFill>
                  <a:srgbClr val="FFFFFF"/>
                </a:solidFill>
                <a:latin typeface="Yu Gothic" pitchFamily="34" charset="0"/>
                <a:ea typeface="Yu Gothic" pitchFamily="34" charset="-122"/>
                <a:cs typeface="Yu Gothic" pitchFamily="34" charset="-120"/>
              </a:rPr>
              <a:t>ハイブリッド（推奨）</a:t>
            </a:r>
            <a:endParaRPr lang="en-US" sz="1300" dirty="0"/>
          </a:p>
        </p:txBody>
      </p:sp>
      <p:sp>
        <p:nvSpPr>
          <p:cNvPr id="15" name="Text 12"/>
          <p:cNvSpPr/>
          <p:nvPr/>
        </p:nvSpPr>
        <p:spPr>
          <a:xfrm>
            <a:off x="9784080" y="2734056"/>
            <a:ext cx="1956816" cy="292608"/>
          </a:xfrm>
          <a:prstGeom prst="rect">
            <a:avLst/>
          </a:prstGeom>
          <a:noFill/>
          <a:ln/>
        </p:spPr>
        <p:txBody>
          <a:bodyPr wrap="square" lIns="0" tIns="0" rIns="0" bIns="0" rtlCol="0" anchor="ctr"/>
          <a:lstStyle/>
          <a:p>
            <a:pPr algn="r" indent="0" marL="0">
              <a:buNone/>
            </a:pPr>
            <a:r>
              <a:rPr lang="en-US" sz="1400" b="1" dirty="0">
                <a:solidFill>
                  <a:srgbClr val="E9A96C"/>
                </a:solidFill>
                <a:latin typeface="Arial" pitchFamily="34" charset="0"/>
                <a:ea typeface="Arial" pitchFamily="34" charset="-122"/>
                <a:cs typeface="Arial" pitchFamily="34" charset="-120"/>
              </a:rPr>
              <a:t>2,500〜4,000円</a:t>
            </a:r>
            <a:endParaRPr lang="en-US" sz="1400" dirty="0"/>
          </a:p>
        </p:txBody>
      </p:sp>
      <p:sp>
        <p:nvSpPr>
          <p:cNvPr id="16" name="Text 13"/>
          <p:cNvSpPr/>
          <p:nvPr/>
        </p:nvSpPr>
        <p:spPr>
          <a:xfrm>
            <a:off x="7443216" y="3044952"/>
            <a:ext cx="4297680" cy="237744"/>
          </a:xfrm>
          <a:prstGeom prst="rect">
            <a:avLst/>
          </a:prstGeom>
          <a:noFill/>
          <a:ln/>
        </p:spPr>
        <p:txBody>
          <a:bodyPr wrap="square" lIns="0" tIns="0" rIns="0" bIns="0" rtlCol="0" anchor="ctr"/>
          <a:lstStyle/>
          <a:p>
            <a:pPr indent="0" marL="0">
              <a:buNone/>
            </a:pPr>
            <a:r>
              <a:rPr lang="en-US" sz="1050" dirty="0">
                <a:solidFill>
                  <a:srgbClr val="9DB2A8"/>
                </a:solidFill>
                <a:latin typeface="Yu Gothic" pitchFamily="34" charset="0"/>
                <a:ea typeface="Yu Gothic" pitchFamily="34" charset="-122"/>
                <a:cs typeface="Yu Gothic" pitchFamily="34" charset="-120"/>
              </a:rPr>
              <a:t>1日20分までリアルタイム、超過分は自動切替</a:t>
            </a:r>
            <a:endParaRPr lang="en-US" sz="1050" dirty="0"/>
          </a:p>
        </p:txBody>
      </p:sp>
      <p:sp>
        <p:nvSpPr>
          <p:cNvPr id="17" name="Text 14"/>
          <p:cNvSpPr/>
          <p:nvPr/>
        </p:nvSpPr>
        <p:spPr>
          <a:xfrm>
            <a:off x="7443216" y="3282696"/>
            <a:ext cx="4297680" cy="237744"/>
          </a:xfrm>
          <a:prstGeom prst="rect">
            <a:avLst/>
          </a:prstGeom>
          <a:noFill/>
          <a:ln/>
        </p:spPr>
        <p:txBody>
          <a:bodyPr wrap="square" lIns="0" tIns="0" rIns="0" bIns="0" rtlCol="0" anchor="ctr"/>
          <a:lstStyle/>
          <a:p>
            <a:pPr indent="0" marL="0">
              <a:buNone/>
            </a:pPr>
            <a:r>
              <a:rPr lang="en-US" sz="1100" b="1" dirty="0">
                <a:solidFill>
                  <a:srgbClr val="E4EDE8"/>
                </a:solidFill>
                <a:latin typeface="Yu Gothic" pitchFamily="34" charset="0"/>
                <a:ea typeface="Yu Gothic" pitchFamily="34" charset="-122"/>
                <a:cs typeface="Yu Gothic" pitchFamily="34" charset="-120"/>
              </a:rPr>
              <a:t>100人で月25〜40万円</a:t>
            </a:r>
            <a:endParaRPr lang="en-US" sz="1100" dirty="0"/>
          </a:p>
        </p:txBody>
      </p:sp>
      <p:sp>
        <p:nvSpPr>
          <p:cNvPr id="18" name="Shape 15"/>
          <p:cNvSpPr/>
          <p:nvPr/>
        </p:nvSpPr>
        <p:spPr>
          <a:xfrm>
            <a:off x="7187184" y="3694176"/>
            <a:ext cx="4437583" cy="914400"/>
          </a:xfrm>
          <a:prstGeom prst="roundRect">
            <a:avLst>
              <a:gd name="adj" fmla="val 6000"/>
            </a:avLst>
          </a:prstGeom>
          <a:solidFill>
            <a:srgbClr val="2E5A4C"/>
          </a:solidFill>
          <a:ln/>
        </p:spPr>
      </p:sp>
      <p:sp>
        <p:nvSpPr>
          <p:cNvPr id="19" name="Text 16"/>
          <p:cNvSpPr/>
          <p:nvPr/>
        </p:nvSpPr>
        <p:spPr>
          <a:xfrm>
            <a:off x="7443216" y="3785616"/>
            <a:ext cx="2468880" cy="256032"/>
          </a:xfrm>
          <a:prstGeom prst="rect">
            <a:avLst/>
          </a:prstGeom>
          <a:noFill/>
          <a:ln/>
        </p:spPr>
        <p:txBody>
          <a:bodyPr wrap="square" lIns="0" tIns="0" rIns="0" bIns="0" rtlCol="0" anchor="ctr"/>
          <a:lstStyle/>
          <a:p>
            <a:pPr indent="0" marL="0">
              <a:buNone/>
            </a:pPr>
            <a:r>
              <a:rPr lang="en-US" sz="1300" b="1" dirty="0">
                <a:solidFill>
                  <a:srgbClr val="FFFFFF"/>
                </a:solidFill>
                <a:latin typeface="Yu Gothic" pitchFamily="34" charset="0"/>
                <a:ea typeface="Yu Gothic" pitchFamily="34" charset="-122"/>
                <a:cs typeface="Yu Gothic" pitchFamily="34" charset="-120"/>
              </a:rPr>
              <a:t>分割パイプライン</a:t>
            </a:r>
            <a:endParaRPr lang="en-US" sz="1300" dirty="0"/>
          </a:p>
        </p:txBody>
      </p:sp>
      <p:sp>
        <p:nvSpPr>
          <p:cNvPr id="20" name="Text 17"/>
          <p:cNvSpPr/>
          <p:nvPr/>
        </p:nvSpPr>
        <p:spPr>
          <a:xfrm>
            <a:off x="9784080" y="3767328"/>
            <a:ext cx="1956816" cy="292608"/>
          </a:xfrm>
          <a:prstGeom prst="rect">
            <a:avLst/>
          </a:prstGeom>
          <a:noFill/>
          <a:ln/>
        </p:spPr>
        <p:txBody>
          <a:bodyPr wrap="square" lIns="0" tIns="0" rIns="0" bIns="0" rtlCol="0" anchor="ctr"/>
          <a:lstStyle/>
          <a:p>
            <a:pPr algn="r" indent="0" marL="0">
              <a:buNone/>
            </a:pPr>
            <a:r>
              <a:rPr lang="en-US" sz="1400" b="1" dirty="0">
                <a:solidFill>
                  <a:srgbClr val="9FD3B8"/>
                </a:solidFill>
                <a:latin typeface="Arial" pitchFamily="34" charset="0"/>
                <a:ea typeface="Arial" pitchFamily="34" charset="-122"/>
                <a:cs typeface="Arial" pitchFamily="34" charset="-120"/>
              </a:rPr>
              <a:t>900〜2,100円</a:t>
            </a:r>
            <a:endParaRPr lang="en-US" sz="1400" dirty="0"/>
          </a:p>
        </p:txBody>
      </p:sp>
      <p:sp>
        <p:nvSpPr>
          <p:cNvPr id="21" name="Text 18"/>
          <p:cNvSpPr/>
          <p:nvPr/>
        </p:nvSpPr>
        <p:spPr>
          <a:xfrm>
            <a:off x="7443216" y="4078224"/>
            <a:ext cx="4297680" cy="237744"/>
          </a:xfrm>
          <a:prstGeom prst="rect">
            <a:avLst/>
          </a:prstGeom>
          <a:noFill/>
          <a:ln/>
        </p:spPr>
        <p:txBody>
          <a:bodyPr wrap="square" lIns="0" tIns="0" rIns="0" bIns="0" rtlCol="0" anchor="ctr"/>
          <a:lstStyle/>
          <a:p>
            <a:pPr indent="0" marL="0">
              <a:buNone/>
            </a:pPr>
            <a:r>
              <a:rPr lang="en-US" sz="1050" dirty="0">
                <a:solidFill>
                  <a:srgbClr val="9DB2A8"/>
                </a:solidFill>
                <a:latin typeface="Yu Gothic" pitchFamily="34" charset="0"/>
                <a:ea typeface="Yu Gothic" pitchFamily="34" charset="-122"/>
                <a:cs typeface="Yu Gothic" pitchFamily="34" charset="-120"/>
              </a:rPr>
              <a:t>応答に0.5〜1.5秒の間。会話としては成立する</a:t>
            </a:r>
            <a:endParaRPr lang="en-US" sz="1050" dirty="0"/>
          </a:p>
        </p:txBody>
      </p:sp>
      <p:sp>
        <p:nvSpPr>
          <p:cNvPr id="22" name="Text 19"/>
          <p:cNvSpPr/>
          <p:nvPr/>
        </p:nvSpPr>
        <p:spPr>
          <a:xfrm>
            <a:off x="7443216" y="4315968"/>
            <a:ext cx="4297680" cy="237744"/>
          </a:xfrm>
          <a:prstGeom prst="rect">
            <a:avLst/>
          </a:prstGeom>
          <a:noFill/>
          <a:ln/>
        </p:spPr>
        <p:txBody>
          <a:bodyPr wrap="square" lIns="0" tIns="0" rIns="0" bIns="0" rtlCol="0" anchor="ctr"/>
          <a:lstStyle/>
          <a:p>
            <a:pPr indent="0" marL="0">
              <a:buNone/>
            </a:pPr>
            <a:r>
              <a:rPr lang="en-US" sz="1100" b="1" dirty="0">
                <a:solidFill>
                  <a:srgbClr val="E4EDE8"/>
                </a:solidFill>
                <a:latin typeface="Yu Gothic" pitchFamily="34" charset="0"/>
                <a:ea typeface="Yu Gothic" pitchFamily="34" charset="-122"/>
                <a:cs typeface="Yu Gothic" pitchFamily="34" charset="-120"/>
              </a:rPr>
              <a:t>100人で月9〜21万円</a:t>
            </a:r>
            <a:endParaRPr lang="en-US" sz="1100" dirty="0"/>
          </a:p>
        </p:txBody>
      </p:sp>
      <p:sp>
        <p:nvSpPr>
          <p:cNvPr id="23" name="Shape 20"/>
          <p:cNvSpPr/>
          <p:nvPr/>
        </p:nvSpPr>
        <p:spPr>
          <a:xfrm>
            <a:off x="7187184" y="4727448"/>
            <a:ext cx="4437583" cy="941832"/>
          </a:xfrm>
          <a:prstGeom prst="roundRect">
            <a:avLst>
              <a:gd name="adj" fmla="val 5825"/>
            </a:avLst>
          </a:prstGeom>
          <a:solidFill>
            <a:srgbClr val="C4682A"/>
          </a:solidFill>
          <a:ln/>
        </p:spPr>
      </p:sp>
      <p:sp>
        <p:nvSpPr>
          <p:cNvPr id="24" name="Text 21"/>
          <p:cNvSpPr/>
          <p:nvPr/>
        </p:nvSpPr>
        <p:spPr>
          <a:xfrm>
            <a:off x="7443216" y="4846320"/>
            <a:ext cx="3925519" cy="694944"/>
          </a:xfrm>
          <a:prstGeom prst="rect">
            <a:avLst/>
          </a:prstGeom>
          <a:noFill/>
          <a:ln/>
        </p:spPr>
        <p:txBody>
          <a:bodyPr wrap="square" lIns="0" tIns="0" rIns="0" bIns="0" rtlCol="0" anchor="ctr"/>
          <a:lstStyle/>
          <a:p>
            <a:pPr indent="0" marL="0">
              <a:lnSpc>
                <a:spcPts val="2000"/>
              </a:lnSpc>
              <a:buNone/>
            </a:pPr>
            <a:r>
              <a:rPr lang="en-US" sz="1350" b="1" dirty="0">
                <a:solidFill>
                  <a:srgbClr val="FFFFFF"/>
                </a:solidFill>
                <a:latin typeface="Yu Gothic" pitchFamily="34" charset="0"/>
                <a:ea typeface="Yu Gothic" pitchFamily="34" charset="-122"/>
                <a:cs typeface="Yu Gothic" pitchFamily="34" charset="-120"/>
              </a:rPr>
              <a:t>会話時間の上限設計が、そのまま原価管理になる。</a:t>
            </a:r>
            <a:endParaRPr lang="en-US" sz="1350" dirty="0"/>
          </a:p>
        </p:txBody>
      </p:sp>
      <p:sp>
        <p:nvSpPr>
          <p:cNvPr id="25" name="Text 22"/>
          <p:cNvSpPr/>
          <p:nvPr/>
        </p:nvSpPr>
        <p:spPr>
          <a:xfrm>
            <a:off x="566928" y="6236208"/>
            <a:ext cx="11057839" cy="310896"/>
          </a:xfrm>
          <a:prstGeom prst="rect">
            <a:avLst/>
          </a:prstGeom>
          <a:noFill/>
          <a:ln/>
        </p:spPr>
        <p:txBody>
          <a:bodyPr wrap="square" lIns="0" tIns="0" rIns="0" bIns="0" rtlCol="0" anchor="ctr"/>
          <a:lstStyle/>
          <a:p>
            <a:pPr indent="0" marL="0">
              <a:buNone/>
            </a:pPr>
            <a:r>
              <a:rPr lang="en-US" sz="1050" i="1" dirty="0">
                <a:solidFill>
                  <a:srgbClr val="9DB2A8"/>
                </a:solidFill>
                <a:latin typeface="Yu Gothic" pitchFamily="34" charset="0"/>
                <a:ea typeface="Yu Gothic" pitchFamily="34" charset="-122"/>
                <a:cs typeface="Yu Gothic" pitchFamily="34" charset="-120"/>
              </a:rPr>
              <a:t>別途インフラ月1.5〜4万円、SMS認証1通10〜15円、LINE公式アカウント月5,000〜15,000円。API単価は2026年8月時点の想定値（契約時に再確認）。</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57200"/>
            <a:ext cx="365760" cy="365760"/>
          </a:xfrm>
          <a:prstGeom prst="ellipse">
            <a:avLst/>
          </a:prstGeom>
          <a:solidFill>
            <a:srgbClr val="1F3D34"/>
          </a:solidFill>
          <a:ln/>
        </p:spPr>
      </p:sp>
      <p:sp>
        <p:nvSpPr>
          <p:cNvPr id="3" name="Text 1"/>
          <p:cNvSpPr/>
          <p:nvPr/>
        </p:nvSpPr>
        <p:spPr>
          <a:xfrm>
            <a:off x="566928" y="4572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6</a:t>
            </a:r>
            <a:endParaRPr lang="en-US" sz="1200" dirty="0"/>
          </a:p>
        </p:txBody>
      </p:sp>
      <p:sp>
        <p:nvSpPr>
          <p:cNvPr id="4" name="Text 2"/>
          <p:cNvSpPr/>
          <p:nvPr/>
        </p:nvSpPr>
        <p:spPr>
          <a:xfrm>
            <a:off x="1133856" y="384048"/>
            <a:ext cx="10490911" cy="530352"/>
          </a:xfrm>
          <a:prstGeom prst="rect">
            <a:avLst/>
          </a:prstGeom>
          <a:noFill/>
          <a:ln/>
        </p:spPr>
        <p:txBody>
          <a:bodyPr wrap="square" lIns="0" tIns="0" rIns="0" bIns="0" rtlCol="0" anchor="ctr"/>
          <a:lstStyle/>
          <a:p>
            <a:pPr indent="0" marL="0">
              <a:buNone/>
            </a:pPr>
            <a:r>
              <a:rPr lang="en-US" sz="2700" b="1" dirty="0">
                <a:solidFill>
                  <a:srgbClr val="12211C"/>
                </a:solidFill>
                <a:latin typeface="Yu Gothic" pitchFamily="34" charset="0"/>
                <a:ea typeface="Yu Gothic" pitchFamily="34" charset="-122"/>
                <a:cs typeface="Yu Gothic" pitchFamily="34" charset="-120"/>
              </a:rPr>
              <a:t>誰が払うかで、作るものが変わる</a:t>
            </a:r>
            <a:endParaRPr lang="en-US" sz="2700" dirty="0"/>
          </a:p>
        </p:txBody>
      </p:sp>
      <p:sp>
        <p:nvSpPr>
          <p:cNvPr id="5" name="Text 3"/>
          <p:cNvSpPr/>
          <p:nvPr/>
        </p:nvSpPr>
        <p:spPr>
          <a:xfrm>
            <a:off x="566928" y="969264"/>
            <a:ext cx="11057839" cy="329184"/>
          </a:xfrm>
          <a:prstGeom prst="rect">
            <a:avLst/>
          </a:prstGeom>
          <a:noFill/>
          <a:ln/>
        </p:spPr>
        <p:txBody>
          <a:bodyPr wrap="square" lIns="0" tIns="0" rIns="0" bIns="0" rtlCol="0" anchor="t"/>
          <a:lstStyle/>
          <a:p>
            <a:pPr indent="0" marL="0">
              <a:buNone/>
            </a:pPr>
            <a:r>
              <a:rPr lang="en-US" sz="1350" dirty="0">
                <a:solidFill>
                  <a:srgbClr val="6C7C75"/>
                </a:solidFill>
                <a:latin typeface="Yu Gothic" pitchFamily="34" charset="0"/>
                <a:ea typeface="Yu Gothic" pitchFamily="34" charset="-122"/>
                <a:cs typeface="Yu Gothic" pitchFamily="34" charset="-120"/>
              </a:rPr>
              <a:t>ハイブリッド構成（原価3,000円/人月）を前提とした、3つの回収シナリオです。</a:t>
            </a:r>
            <a:endParaRPr lang="en-US" sz="13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66928" y="1627632"/>
          <a:ext cx="11057839" cy="914400"/>
        </p:xfrm>
        <a:graphic>
          <a:graphicData uri="http://schemas.openxmlformats.org/drawingml/2006/table">
            <a:tbl>
              <a:tblPr/>
              <a:tblGrid>
                <a:gridCol w="2286000"/>
                <a:gridCol w="1371600"/>
                <a:gridCol w="960120"/>
                <a:gridCol w="960120"/>
                <a:gridCol w="5477256"/>
              </a:tblGrid>
              <a:tr h="384048">
                <a:tc>
                  <a:txBody>
                    <a:bodyPr/>
                    <a:lstStyle/>
                    <a:p>
                      <a:pPr algn="l" indent="0" marL="0">
                        <a:buNone/>
                      </a:pPr>
                      <a:r>
                        <a:rPr lang="en-US" sz="1150" b="1" dirty="0">
                          <a:solidFill>
                            <a:srgbClr val="FFFFFF"/>
                          </a:solidFill>
                          <a:latin typeface="Yu Gothic" pitchFamily="34" charset="0"/>
                          <a:ea typeface="Yu Gothic" pitchFamily="34" charset="-122"/>
                          <a:cs typeface="Yu Gothic" pitchFamily="34" charset="-120"/>
                        </a:rPr>
                        <a:t>回収モデル</a:t>
                      </a:r>
                      <a:endParaRPr lang="en-US" sz="1150" dirty="0">
                        <a:latin typeface="Yu Gothic" charset="0"/>
                        <a:ea typeface="Yu Gothic" charset="0"/>
                        <a:cs typeface="Yu Gothic" charset="0"/>
                      </a:endParaRPr>
                    </a:p>
                  </a:txBody>
                  <a:tcPr marL="91440" marR="91440" marT="45720" marB="45720" anchor="ctr">
                    <a:lnL w="12700" cap="flat" cmpd="sng" algn="ctr">
                      <a:solidFill>
                        <a:srgbClr val="D6E0DA"/>
                      </a:solidFill>
                      <a:prstDash val="solid"/>
                      <a:round/>
                      <a:headEnd type="none" w="med" len="med"/>
                      <a:tailEnd type="none" w="med" len="med"/>
                    </a:lnL>
                    <a:lnR w="12700" cap="flat" cmpd="sng" algn="ctr">
                      <a:solidFill>
                        <a:srgbClr val="D6E0DA"/>
                      </a:solidFill>
                      <a:prstDash val="solid"/>
                      <a:round/>
                      <a:headEnd type="none" w="med" len="med"/>
                      <a:tailEnd type="none" w="med" len="med"/>
                    </a:lnR>
                    <a:lnT w="12700" cap="flat" cmpd="sng" algn="ctr">
                      <a:solidFill>
                        <a:srgbClr val="D6E0DA"/>
                      </a:solidFill>
                      <a:prstDash val="solid"/>
                      <a:round/>
                      <a:headEnd type="none" w="med" len="med"/>
                      <a:tailEnd type="none" w="med" len="med"/>
                    </a:lnT>
                    <a:lnB w="12700" cap="flat" cmpd="sng" algn="ctr">
                      <a:solidFill>
                        <a:srgbClr val="D6E0DA"/>
                      </a:solidFill>
                      <a:prstDash val="solid"/>
                      <a:round/>
                      <a:headEnd type="none" w="med" len="med"/>
                      <a:tailEnd type="none" w="med" len="med"/>
                    </a:lnB>
                    <a:solidFill>
                      <a:srgbClr val="2E5A4C"/>
                    </a:solidFill>
                  </a:tcPr>
                </a:tc>
                <a:tc>
                  <a:txBody>
                    <a:bodyPr/>
                    <a:lstStyle/>
                    <a:p>
                      <a:pPr algn="r" indent="0" marL="0">
                        <a:buNone/>
                      </a:pPr>
                      <a:r>
                        <a:rPr lang="en-US" sz="1150" b="1" dirty="0">
                          <a:solidFill>
                            <a:srgbClr val="FFFFFF"/>
                          </a:solidFill>
                          <a:latin typeface="Yu Gothic" pitchFamily="34" charset="0"/>
                          <a:ea typeface="Yu Gothic" pitchFamily="34" charset="-122"/>
                          <a:cs typeface="Yu Gothic" pitchFamily="34" charset="-120"/>
                        </a:rPr>
                        <a:t>想定単価</a:t>
                      </a:r>
                      <a:endParaRPr lang="en-US" sz="1150" dirty="0">
                        <a:latin typeface="Yu Gothic" charset="0"/>
                        <a:ea typeface="Yu Gothic" charset="0"/>
                        <a:cs typeface="Yu Gothic" charset="0"/>
                      </a:endParaRPr>
                    </a:p>
                  </a:txBody>
                  <a:tcPr marL="91440" marR="91440" marT="45720" marB="45720" anchor="ctr">
                    <a:lnL w="12700" cap="flat" cmpd="sng" algn="ctr">
                      <a:solidFill>
                        <a:srgbClr val="D6E0DA"/>
                      </a:solidFill>
                      <a:prstDash val="solid"/>
                      <a:round/>
                      <a:headEnd type="none" w="med" len="med"/>
                      <a:tailEnd type="none" w="med" len="med"/>
                    </a:lnL>
                    <a:lnR w="12700" cap="flat" cmpd="sng" algn="ctr">
                      <a:solidFill>
                        <a:srgbClr val="D6E0DA"/>
                      </a:solidFill>
                      <a:prstDash val="solid"/>
                      <a:round/>
                      <a:headEnd type="none" w="med" len="med"/>
                      <a:tailEnd type="none" w="med" len="med"/>
                    </a:lnR>
                    <a:lnT w="12700" cap="flat" cmpd="sng" algn="ctr">
                      <a:solidFill>
                        <a:srgbClr val="D6E0DA"/>
                      </a:solidFill>
                      <a:prstDash val="solid"/>
                      <a:round/>
                      <a:headEnd type="none" w="med" len="med"/>
                      <a:tailEnd type="none" w="med" len="med"/>
                    </a:lnT>
                    <a:lnB w="12700" cap="flat" cmpd="sng" algn="ctr">
                      <a:solidFill>
                        <a:srgbClr val="D6E0DA"/>
                      </a:solidFill>
                      <a:prstDash val="solid"/>
                      <a:round/>
                      <a:headEnd type="none" w="med" len="med"/>
                      <a:tailEnd type="none" w="med" len="med"/>
                    </a:lnB>
                    <a:solidFill>
                      <a:srgbClr val="2E5A4C"/>
                    </a:solidFill>
                  </a:tcPr>
                </a:tc>
                <a:tc>
                  <a:txBody>
                    <a:bodyPr/>
                    <a:lstStyle/>
                    <a:p>
                      <a:pPr algn="r" indent="0" marL="0">
                        <a:buNone/>
                      </a:pPr>
                      <a:r>
                        <a:rPr lang="en-US" sz="1150" b="1" dirty="0">
                          <a:solidFill>
                            <a:srgbClr val="FFFFFF"/>
                          </a:solidFill>
                          <a:latin typeface="Yu Gothic" pitchFamily="34" charset="0"/>
                          <a:ea typeface="Yu Gothic" pitchFamily="34" charset="-122"/>
                          <a:cs typeface="Yu Gothic" pitchFamily="34" charset="-120"/>
                        </a:rPr>
                        <a:t>原価</a:t>
                      </a:r>
                      <a:endParaRPr lang="en-US" sz="1150" dirty="0">
                        <a:latin typeface="Yu Gothic" charset="0"/>
                        <a:ea typeface="Yu Gothic" charset="0"/>
                        <a:cs typeface="Yu Gothic" charset="0"/>
                      </a:endParaRPr>
                    </a:p>
                  </a:txBody>
                  <a:tcPr marL="91440" marR="91440" marT="45720" marB="45720" anchor="ctr">
                    <a:lnL w="12700" cap="flat" cmpd="sng" algn="ctr">
                      <a:solidFill>
                        <a:srgbClr val="D6E0DA"/>
                      </a:solidFill>
                      <a:prstDash val="solid"/>
                      <a:round/>
                      <a:headEnd type="none" w="med" len="med"/>
                      <a:tailEnd type="none" w="med" len="med"/>
                    </a:lnL>
                    <a:lnR w="12700" cap="flat" cmpd="sng" algn="ctr">
                      <a:solidFill>
                        <a:srgbClr val="D6E0DA"/>
                      </a:solidFill>
                      <a:prstDash val="solid"/>
                      <a:round/>
                      <a:headEnd type="none" w="med" len="med"/>
                      <a:tailEnd type="none" w="med" len="med"/>
                    </a:lnR>
                    <a:lnT w="12700" cap="flat" cmpd="sng" algn="ctr">
                      <a:solidFill>
                        <a:srgbClr val="D6E0DA"/>
                      </a:solidFill>
                      <a:prstDash val="solid"/>
                      <a:round/>
                      <a:headEnd type="none" w="med" len="med"/>
                      <a:tailEnd type="none" w="med" len="med"/>
                    </a:lnT>
                    <a:lnB w="12700" cap="flat" cmpd="sng" algn="ctr">
                      <a:solidFill>
                        <a:srgbClr val="D6E0DA"/>
                      </a:solidFill>
                      <a:prstDash val="solid"/>
                      <a:round/>
                      <a:headEnd type="none" w="med" len="med"/>
                      <a:tailEnd type="none" w="med" len="med"/>
                    </a:lnB>
                    <a:solidFill>
                      <a:srgbClr val="2E5A4C"/>
                    </a:solidFill>
                  </a:tcPr>
                </a:tc>
                <a:tc>
                  <a:txBody>
                    <a:bodyPr/>
                    <a:lstStyle/>
                    <a:p>
                      <a:pPr algn="r" indent="0" marL="0">
                        <a:buNone/>
                      </a:pPr>
                      <a:r>
                        <a:rPr lang="en-US" sz="1150" b="1" dirty="0">
                          <a:solidFill>
                            <a:srgbClr val="FFFFFF"/>
                          </a:solidFill>
                          <a:latin typeface="Yu Gothic" pitchFamily="34" charset="0"/>
                          <a:ea typeface="Yu Gothic" pitchFamily="34" charset="-122"/>
                          <a:cs typeface="Yu Gothic" pitchFamily="34" charset="-120"/>
                        </a:rPr>
                        <a:t>粗利</a:t>
                      </a:r>
                      <a:endParaRPr lang="en-US" sz="1150" dirty="0">
                        <a:latin typeface="Yu Gothic" charset="0"/>
                        <a:ea typeface="Yu Gothic" charset="0"/>
                        <a:cs typeface="Yu Gothic" charset="0"/>
                      </a:endParaRPr>
                    </a:p>
                  </a:txBody>
                  <a:tcPr marL="91440" marR="91440" marT="45720" marB="45720" anchor="ctr">
                    <a:lnL w="12700" cap="flat" cmpd="sng" algn="ctr">
                      <a:solidFill>
                        <a:srgbClr val="D6E0DA"/>
                      </a:solidFill>
                      <a:prstDash val="solid"/>
                      <a:round/>
                      <a:headEnd type="none" w="med" len="med"/>
                      <a:tailEnd type="none" w="med" len="med"/>
                    </a:lnL>
                    <a:lnR w="12700" cap="flat" cmpd="sng" algn="ctr">
                      <a:solidFill>
                        <a:srgbClr val="D6E0DA"/>
                      </a:solidFill>
                      <a:prstDash val="solid"/>
                      <a:round/>
                      <a:headEnd type="none" w="med" len="med"/>
                      <a:tailEnd type="none" w="med" len="med"/>
                    </a:lnR>
                    <a:lnT w="12700" cap="flat" cmpd="sng" algn="ctr">
                      <a:solidFill>
                        <a:srgbClr val="D6E0DA"/>
                      </a:solidFill>
                      <a:prstDash val="solid"/>
                      <a:round/>
                      <a:headEnd type="none" w="med" len="med"/>
                      <a:tailEnd type="none" w="med" len="med"/>
                    </a:lnT>
                    <a:lnB w="12700" cap="flat" cmpd="sng" algn="ctr">
                      <a:solidFill>
                        <a:srgbClr val="D6E0DA"/>
                      </a:solidFill>
                      <a:prstDash val="solid"/>
                      <a:round/>
                      <a:headEnd type="none" w="med" len="med"/>
                      <a:tailEnd type="none" w="med" len="med"/>
                    </a:lnB>
                    <a:solidFill>
                      <a:srgbClr val="2E5A4C"/>
                    </a:solidFill>
                  </a:tcPr>
                </a:tc>
                <a:tc>
                  <a:txBody>
                    <a:bodyPr/>
                    <a:lstStyle/>
                    <a:p>
                      <a:pPr algn="l" indent="0" marL="0">
                        <a:buNone/>
                      </a:pPr>
                      <a:r>
                        <a:rPr lang="en-US" sz="1150" b="1" dirty="0">
                          <a:solidFill>
                            <a:srgbClr val="FFFFFF"/>
                          </a:solidFill>
                          <a:latin typeface="Yu Gothic" pitchFamily="34" charset="0"/>
                          <a:ea typeface="Yu Gothic" pitchFamily="34" charset="-122"/>
                          <a:cs typeface="Yu Gothic" pitchFamily="34" charset="-120"/>
                        </a:rPr>
                        <a:t>成立条件と、仕様への影響</a:t>
                      </a:r>
                      <a:endParaRPr lang="en-US" sz="1150" dirty="0">
                        <a:latin typeface="Yu Gothic" charset="0"/>
                        <a:ea typeface="Yu Gothic" charset="0"/>
                        <a:cs typeface="Yu Gothic" charset="0"/>
                      </a:endParaRPr>
                    </a:p>
                  </a:txBody>
                  <a:tcPr marL="91440" marR="91440" marT="45720" marB="45720" anchor="ctr">
                    <a:lnL w="12700" cap="flat" cmpd="sng" algn="ctr">
                      <a:solidFill>
                        <a:srgbClr val="D6E0DA"/>
                      </a:solidFill>
                      <a:prstDash val="solid"/>
                      <a:round/>
                      <a:headEnd type="none" w="med" len="med"/>
                      <a:tailEnd type="none" w="med" len="med"/>
                    </a:lnL>
                    <a:lnR w="12700" cap="flat" cmpd="sng" algn="ctr">
                      <a:solidFill>
                        <a:srgbClr val="D6E0DA"/>
                      </a:solidFill>
                      <a:prstDash val="solid"/>
                      <a:round/>
                      <a:headEnd type="none" w="med" len="med"/>
                      <a:tailEnd type="none" w="med" len="med"/>
                    </a:lnR>
                    <a:lnT w="12700" cap="flat" cmpd="sng" algn="ctr">
                      <a:solidFill>
                        <a:srgbClr val="D6E0DA"/>
                      </a:solidFill>
                      <a:prstDash val="solid"/>
                      <a:round/>
                      <a:headEnd type="none" w="med" len="med"/>
                      <a:tailEnd type="none" w="med" len="med"/>
                    </a:lnT>
                    <a:lnB w="12700" cap="flat" cmpd="sng" algn="ctr">
                      <a:solidFill>
                        <a:srgbClr val="D6E0DA"/>
                      </a:solidFill>
                      <a:prstDash val="solid"/>
                      <a:round/>
                      <a:headEnd type="none" w="med" len="med"/>
                      <a:tailEnd type="none" w="med" len="med"/>
                    </a:lnB>
                    <a:solidFill>
                      <a:srgbClr val="2E5A4C"/>
                    </a:solidFill>
                  </a:tcPr>
                </a:tc>
              </a:tr>
              <a:tr h="896112">
                <a:tc>
                  <a:txBody>
                    <a:bodyPr/>
                    <a:lstStyle/>
                    <a:p>
                      <a:pPr indent="0" marL="0">
                        <a:buNone/>
                      </a:pPr>
                      <a:r>
                        <a:rPr lang="en-US" sz="1200" b="1" dirty="0">
                          <a:solidFill>
                            <a:srgbClr val="12211C"/>
                          </a:solidFill>
                          <a:latin typeface="Yu Gothic" pitchFamily="34" charset="0"/>
                          <a:ea typeface="Yu Gothic" pitchFamily="34" charset="-122"/>
                          <a:cs typeface="Yu Gothic" pitchFamily="34" charset="-120"/>
                        </a:rPr>
                        <a:t>個人向けサブスク</a:t>
                      </a:r>
                      <a:endParaRPr lang="en-US" sz="1200" dirty="0">
                        <a:latin typeface="Yu Gothic" charset="0"/>
                        <a:ea typeface="Yu Gothic" charset="0"/>
                        <a:cs typeface="Yu Gothic" charset="0"/>
                      </a:endParaRPr>
                    </a:p>
                  </a:txBody>
                  <a:tcPr marL="91440" marR="91440" marT="45720" marB="45720" anchor="ctr">
                    <a:lnL w="12700" cap="flat" cmpd="sng" algn="ctr">
                      <a:solidFill>
                        <a:srgbClr val="D6E0DA"/>
                      </a:solidFill>
                      <a:prstDash val="solid"/>
                      <a:round/>
                      <a:headEnd type="none" w="med" len="med"/>
                      <a:tailEnd type="none" w="med" len="med"/>
                    </a:lnL>
                    <a:lnR w="12700" cap="flat" cmpd="sng" algn="ctr">
                      <a:solidFill>
                        <a:srgbClr val="D6E0DA"/>
                      </a:solidFill>
                      <a:prstDash val="solid"/>
                      <a:round/>
                      <a:headEnd type="none" w="med" len="med"/>
                      <a:tailEnd type="none" w="med" len="med"/>
                    </a:lnR>
                    <a:lnT w="12700" cap="flat" cmpd="sng" algn="ctr">
                      <a:solidFill>
                        <a:srgbClr val="D6E0DA"/>
                      </a:solidFill>
                      <a:prstDash val="solid"/>
                      <a:round/>
                      <a:headEnd type="none" w="med" len="med"/>
                      <a:tailEnd type="none" w="med" len="med"/>
                    </a:lnT>
                    <a:lnB w="12700" cap="flat" cmpd="sng" algn="ctr">
                      <a:solidFill>
                        <a:srgbClr val="D6E0DA"/>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2211C"/>
                          </a:solidFill>
                          <a:latin typeface="Arial" pitchFamily="34" charset="0"/>
                          <a:ea typeface="Arial" pitchFamily="34" charset="-122"/>
                          <a:cs typeface="Arial" pitchFamily="34" charset="-120"/>
                        </a:rPr>
                        <a:t>月 5,000円</a:t>
                      </a:r>
                      <a:endParaRPr lang="en-US" sz="1200" dirty="0">
                        <a:latin typeface="Arial" charset="0"/>
                        <a:ea typeface="Arial" charset="0"/>
                        <a:cs typeface="Arial" charset="0"/>
                      </a:endParaRPr>
                    </a:p>
                  </a:txBody>
                  <a:tcPr marL="91440" marR="91440" marT="45720" marB="45720" anchor="ctr">
                    <a:lnL w="12700" cap="flat" cmpd="sng" algn="ctr">
                      <a:solidFill>
                        <a:srgbClr val="D6E0DA"/>
                      </a:solidFill>
                      <a:prstDash val="solid"/>
                      <a:round/>
                      <a:headEnd type="none" w="med" len="med"/>
                      <a:tailEnd type="none" w="med" len="med"/>
                    </a:lnL>
                    <a:lnR w="12700" cap="flat" cmpd="sng" algn="ctr">
                      <a:solidFill>
                        <a:srgbClr val="D6E0DA"/>
                      </a:solidFill>
                      <a:prstDash val="solid"/>
                      <a:round/>
                      <a:headEnd type="none" w="med" len="med"/>
                      <a:tailEnd type="none" w="med" len="med"/>
                    </a:lnR>
                    <a:lnT w="12700" cap="flat" cmpd="sng" algn="ctr">
                      <a:solidFill>
                        <a:srgbClr val="D6E0DA"/>
                      </a:solidFill>
                      <a:prstDash val="solid"/>
                      <a:round/>
                      <a:headEnd type="none" w="med" len="med"/>
                      <a:tailEnd type="none" w="med" len="med"/>
                    </a:lnT>
                    <a:lnB w="12700" cap="flat" cmpd="sng" algn="ctr">
                      <a:solidFill>
                        <a:srgbClr val="D6E0DA"/>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2211C"/>
                          </a:solidFill>
                          <a:latin typeface="Arial" pitchFamily="34" charset="0"/>
                          <a:ea typeface="Arial" pitchFamily="34" charset="-122"/>
                          <a:cs typeface="Arial" pitchFamily="34" charset="-120"/>
                        </a:rPr>
                        <a:t>3,000円</a:t>
                      </a:r>
                      <a:endParaRPr lang="en-US" sz="1200" dirty="0">
                        <a:latin typeface="Arial" charset="0"/>
                        <a:ea typeface="Arial" charset="0"/>
                        <a:cs typeface="Arial" charset="0"/>
                      </a:endParaRPr>
                    </a:p>
                  </a:txBody>
                  <a:tcPr marL="91440" marR="91440" marT="45720" marB="45720" anchor="ctr">
                    <a:lnL w="12700" cap="flat" cmpd="sng" algn="ctr">
                      <a:solidFill>
                        <a:srgbClr val="D6E0DA"/>
                      </a:solidFill>
                      <a:prstDash val="solid"/>
                      <a:round/>
                      <a:headEnd type="none" w="med" len="med"/>
                      <a:tailEnd type="none" w="med" len="med"/>
                    </a:lnL>
                    <a:lnR w="12700" cap="flat" cmpd="sng" algn="ctr">
                      <a:solidFill>
                        <a:srgbClr val="D6E0DA"/>
                      </a:solidFill>
                      <a:prstDash val="solid"/>
                      <a:round/>
                      <a:headEnd type="none" w="med" len="med"/>
                      <a:tailEnd type="none" w="med" len="med"/>
                    </a:lnR>
                    <a:lnT w="12700" cap="flat" cmpd="sng" algn="ctr">
                      <a:solidFill>
                        <a:srgbClr val="D6E0DA"/>
                      </a:solidFill>
                      <a:prstDash val="solid"/>
                      <a:round/>
                      <a:headEnd type="none" w="med" len="med"/>
                      <a:tailEnd type="none" w="med" len="med"/>
                    </a:lnT>
                    <a:lnB w="12700" cap="flat" cmpd="sng" algn="ctr">
                      <a:solidFill>
                        <a:srgbClr val="D6E0DA"/>
                      </a:solidFill>
                      <a:prstDash val="solid"/>
                      <a:round/>
                      <a:headEnd type="none" w="med" len="med"/>
                      <a:tailEnd type="none" w="med" len="med"/>
                    </a:lnB>
                    <a:solidFill>
                      <a:srgbClr val="FFFFFF"/>
                    </a:solidFill>
                  </a:tcPr>
                </a:tc>
                <a:tc>
                  <a:txBody>
                    <a:bodyPr/>
                    <a:lstStyle/>
                    <a:p>
                      <a:pPr algn="r" indent="0" marL="0">
                        <a:buNone/>
                      </a:pPr>
                      <a:r>
                        <a:rPr lang="en-US" sz="1200" b="1" dirty="0">
                          <a:solidFill>
                            <a:srgbClr val="9E3B2D"/>
                          </a:solidFill>
                          <a:latin typeface="Arial" pitchFamily="34" charset="0"/>
                          <a:ea typeface="Arial" pitchFamily="34" charset="-122"/>
                          <a:cs typeface="Arial" pitchFamily="34" charset="-120"/>
                        </a:rPr>
                        <a:t>2,000円</a:t>
                      </a:r>
                      <a:endParaRPr lang="en-US" sz="1200" dirty="0">
                        <a:latin typeface="Arial" charset="0"/>
                        <a:ea typeface="Arial" charset="0"/>
                        <a:cs typeface="Arial" charset="0"/>
                      </a:endParaRPr>
                    </a:p>
                  </a:txBody>
                  <a:tcPr marL="91440" marR="91440" marT="45720" marB="45720" anchor="ctr">
                    <a:lnL w="12700" cap="flat" cmpd="sng" algn="ctr">
                      <a:solidFill>
                        <a:srgbClr val="D6E0DA"/>
                      </a:solidFill>
                      <a:prstDash val="solid"/>
                      <a:round/>
                      <a:headEnd type="none" w="med" len="med"/>
                      <a:tailEnd type="none" w="med" len="med"/>
                    </a:lnL>
                    <a:lnR w="12700" cap="flat" cmpd="sng" algn="ctr">
                      <a:solidFill>
                        <a:srgbClr val="D6E0DA"/>
                      </a:solidFill>
                      <a:prstDash val="solid"/>
                      <a:round/>
                      <a:headEnd type="none" w="med" len="med"/>
                      <a:tailEnd type="none" w="med" len="med"/>
                    </a:lnR>
                    <a:lnT w="12700" cap="flat" cmpd="sng" algn="ctr">
                      <a:solidFill>
                        <a:srgbClr val="D6E0DA"/>
                      </a:solidFill>
                      <a:prstDash val="solid"/>
                      <a:round/>
                      <a:headEnd type="none" w="med" len="med"/>
                      <a:tailEnd type="none" w="med" len="med"/>
                    </a:lnT>
                    <a:lnB w="12700" cap="flat" cmpd="sng" algn="ctr">
                      <a:solidFill>
                        <a:srgbClr val="D6E0DA"/>
                      </a:solidFill>
                      <a:prstDash val="solid"/>
                      <a:round/>
                      <a:headEnd type="none" w="med" len="med"/>
                      <a:tailEnd type="none" w="med" len="med"/>
                    </a:lnB>
                    <a:solidFill>
                      <a:srgbClr val="FFFFFF"/>
                    </a:solidFill>
                  </a:tcPr>
                </a:tc>
                <a:tc>
                  <a:txBody>
                    <a:bodyPr/>
                    <a:lstStyle/>
                    <a:p>
                      <a:pPr indent="0" marL="0">
                        <a:buNone/>
                      </a:pPr>
                      <a:r>
                        <a:rPr lang="en-US" sz="1200" dirty="0">
                          <a:solidFill>
                            <a:srgbClr val="12211C"/>
                          </a:solidFill>
                          <a:latin typeface="Yu Gothic" pitchFamily="34" charset="0"/>
                          <a:ea typeface="Yu Gothic" pitchFamily="34" charset="-122"/>
                          <a:cs typeface="Yu Gothic" pitchFamily="34" charset="-120"/>
                        </a:rPr>
                        <a:t>高齢者本人がカード決済しない。家族が契約者になる導線が必須で、家族画面（+12人日）の優先度が上がる</a:t>
                      </a:r>
                      <a:endParaRPr lang="en-US" sz="1200" dirty="0">
                        <a:latin typeface="Yu Gothic" charset="0"/>
                        <a:ea typeface="Yu Gothic" charset="0"/>
                        <a:cs typeface="Yu Gothic" charset="0"/>
                      </a:endParaRPr>
                    </a:p>
                  </a:txBody>
                  <a:tcPr marL="91440" marR="91440" marT="45720" marB="45720" anchor="ctr">
                    <a:lnL w="12700" cap="flat" cmpd="sng" algn="ctr">
                      <a:solidFill>
                        <a:srgbClr val="D6E0DA"/>
                      </a:solidFill>
                      <a:prstDash val="solid"/>
                      <a:round/>
                      <a:headEnd type="none" w="med" len="med"/>
                      <a:tailEnd type="none" w="med" len="med"/>
                    </a:lnL>
                    <a:lnR w="12700" cap="flat" cmpd="sng" algn="ctr">
                      <a:solidFill>
                        <a:srgbClr val="D6E0DA"/>
                      </a:solidFill>
                      <a:prstDash val="solid"/>
                      <a:round/>
                      <a:headEnd type="none" w="med" len="med"/>
                      <a:tailEnd type="none" w="med" len="med"/>
                    </a:lnR>
                    <a:lnT w="12700" cap="flat" cmpd="sng" algn="ctr">
                      <a:solidFill>
                        <a:srgbClr val="D6E0DA"/>
                      </a:solidFill>
                      <a:prstDash val="solid"/>
                      <a:round/>
                      <a:headEnd type="none" w="med" len="med"/>
                      <a:tailEnd type="none" w="med" len="med"/>
                    </a:lnT>
                    <a:lnB w="12700" cap="flat" cmpd="sng" algn="ctr">
                      <a:solidFill>
                        <a:srgbClr val="D6E0DA"/>
                      </a:solidFill>
                      <a:prstDash val="solid"/>
                      <a:round/>
                      <a:headEnd type="none" w="med" len="med"/>
                      <a:tailEnd type="none" w="med" len="med"/>
                    </a:lnB>
                    <a:solidFill>
                      <a:srgbClr val="FFFFFF"/>
                    </a:solidFill>
                  </a:tcPr>
                </a:tc>
              </a:tr>
              <a:tr h="896112">
                <a:tc>
                  <a:txBody>
                    <a:bodyPr/>
                    <a:lstStyle/>
                    <a:p>
                      <a:pPr indent="0" marL="0">
                        <a:buNone/>
                      </a:pPr>
                      <a:r>
                        <a:rPr lang="en-US" sz="1200" b="1" dirty="0">
                          <a:solidFill>
                            <a:srgbClr val="12211C"/>
                          </a:solidFill>
                          <a:latin typeface="Yu Gothic" pitchFamily="34" charset="0"/>
                          <a:ea typeface="Yu Gothic" pitchFamily="34" charset="-122"/>
                          <a:cs typeface="Yu Gothic" pitchFamily="34" charset="-120"/>
                        </a:rPr>
                        <a:t>家族が支払う見守りプラン</a:t>
                      </a:r>
                      <a:endParaRPr lang="en-US" sz="1200" dirty="0">
                        <a:latin typeface="Yu Gothic" charset="0"/>
                        <a:ea typeface="Yu Gothic" charset="0"/>
                        <a:cs typeface="Yu Gothic" charset="0"/>
                      </a:endParaRPr>
                    </a:p>
                  </a:txBody>
                  <a:tcPr marL="91440" marR="91440" marT="45720" marB="45720" anchor="ctr">
                    <a:lnL w="12700" cap="flat" cmpd="sng" algn="ctr">
                      <a:solidFill>
                        <a:srgbClr val="D6E0DA"/>
                      </a:solidFill>
                      <a:prstDash val="solid"/>
                      <a:round/>
                      <a:headEnd type="none" w="med" len="med"/>
                      <a:tailEnd type="none" w="med" len="med"/>
                    </a:lnL>
                    <a:lnR w="12700" cap="flat" cmpd="sng" algn="ctr">
                      <a:solidFill>
                        <a:srgbClr val="D6E0DA"/>
                      </a:solidFill>
                      <a:prstDash val="solid"/>
                      <a:round/>
                      <a:headEnd type="none" w="med" len="med"/>
                      <a:tailEnd type="none" w="med" len="med"/>
                    </a:lnR>
                    <a:lnT w="12700" cap="flat" cmpd="sng" algn="ctr">
                      <a:solidFill>
                        <a:srgbClr val="D6E0DA"/>
                      </a:solidFill>
                      <a:prstDash val="solid"/>
                      <a:round/>
                      <a:headEnd type="none" w="med" len="med"/>
                      <a:tailEnd type="none" w="med" len="med"/>
                    </a:lnT>
                    <a:lnB w="12700" cap="flat" cmpd="sng" algn="ctr">
                      <a:solidFill>
                        <a:srgbClr val="D6E0DA"/>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2211C"/>
                          </a:solidFill>
                          <a:latin typeface="Arial" pitchFamily="34" charset="0"/>
                          <a:ea typeface="Arial" pitchFamily="34" charset="-122"/>
                          <a:cs typeface="Arial" pitchFamily="34" charset="-120"/>
                        </a:rPr>
                        <a:t>月 8,000円</a:t>
                      </a:r>
                      <a:endParaRPr lang="en-US" sz="1200" dirty="0">
                        <a:latin typeface="Arial" charset="0"/>
                        <a:ea typeface="Arial" charset="0"/>
                        <a:cs typeface="Arial" charset="0"/>
                      </a:endParaRPr>
                    </a:p>
                  </a:txBody>
                  <a:tcPr marL="91440" marR="91440" marT="45720" marB="45720" anchor="ctr">
                    <a:lnL w="12700" cap="flat" cmpd="sng" algn="ctr">
                      <a:solidFill>
                        <a:srgbClr val="D6E0DA"/>
                      </a:solidFill>
                      <a:prstDash val="solid"/>
                      <a:round/>
                      <a:headEnd type="none" w="med" len="med"/>
                      <a:tailEnd type="none" w="med" len="med"/>
                    </a:lnL>
                    <a:lnR w="12700" cap="flat" cmpd="sng" algn="ctr">
                      <a:solidFill>
                        <a:srgbClr val="D6E0DA"/>
                      </a:solidFill>
                      <a:prstDash val="solid"/>
                      <a:round/>
                      <a:headEnd type="none" w="med" len="med"/>
                      <a:tailEnd type="none" w="med" len="med"/>
                    </a:lnR>
                    <a:lnT w="12700" cap="flat" cmpd="sng" algn="ctr">
                      <a:solidFill>
                        <a:srgbClr val="D6E0DA"/>
                      </a:solidFill>
                      <a:prstDash val="solid"/>
                      <a:round/>
                      <a:headEnd type="none" w="med" len="med"/>
                      <a:tailEnd type="none" w="med" len="med"/>
                    </a:lnT>
                    <a:lnB w="12700" cap="flat" cmpd="sng" algn="ctr">
                      <a:solidFill>
                        <a:srgbClr val="D6E0DA"/>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2211C"/>
                          </a:solidFill>
                          <a:latin typeface="Arial" pitchFamily="34" charset="0"/>
                          <a:ea typeface="Arial" pitchFamily="34" charset="-122"/>
                          <a:cs typeface="Arial" pitchFamily="34" charset="-120"/>
                        </a:rPr>
                        <a:t>3,000円</a:t>
                      </a:r>
                      <a:endParaRPr lang="en-US" sz="1200" dirty="0">
                        <a:latin typeface="Arial" charset="0"/>
                        <a:ea typeface="Arial" charset="0"/>
                        <a:cs typeface="Arial" charset="0"/>
                      </a:endParaRPr>
                    </a:p>
                  </a:txBody>
                  <a:tcPr marL="91440" marR="91440" marT="45720" marB="45720" anchor="ctr">
                    <a:lnL w="12700" cap="flat" cmpd="sng" algn="ctr">
                      <a:solidFill>
                        <a:srgbClr val="D6E0DA"/>
                      </a:solidFill>
                      <a:prstDash val="solid"/>
                      <a:round/>
                      <a:headEnd type="none" w="med" len="med"/>
                      <a:tailEnd type="none" w="med" len="med"/>
                    </a:lnL>
                    <a:lnR w="12700" cap="flat" cmpd="sng" algn="ctr">
                      <a:solidFill>
                        <a:srgbClr val="D6E0DA"/>
                      </a:solidFill>
                      <a:prstDash val="solid"/>
                      <a:round/>
                      <a:headEnd type="none" w="med" len="med"/>
                      <a:tailEnd type="none" w="med" len="med"/>
                    </a:lnR>
                    <a:lnT w="12700" cap="flat" cmpd="sng" algn="ctr">
                      <a:solidFill>
                        <a:srgbClr val="D6E0DA"/>
                      </a:solidFill>
                      <a:prstDash val="solid"/>
                      <a:round/>
                      <a:headEnd type="none" w="med" len="med"/>
                      <a:tailEnd type="none" w="med" len="med"/>
                    </a:lnT>
                    <a:lnB w="12700" cap="flat" cmpd="sng" algn="ctr">
                      <a:solidFill>
                        <a:srgbClr val="D6E0DA"/>
                      </a:solidFill>
                      <a:prstDash val="solid"/>
                      <a:round/>
                      <a:headEnd type="none" w="med" len="med"/>
                      <a:tailEnd type="none" w="med" len="med"/>
                    </a:lnB>
                    <a:solidFill>
                      <a:srgbClr val="FFFFFF"/>
                    </a:solidFill>
                  </a:tcPr>
                </a:tc>
                <a:tc>
                  <a:txBody>
                    <a:bodyPr/>
                    <a:lstStyle/>
                    <a:p>
                      <a:pPr algn="r" indent="0" marL="0">
                        <a:buNone/>
                      </a:pPr>
                      <a:r>
                        <a:rPr lang="en-US" sz="1200" b="1" dirty="0">
                          <a:solidFill>
                            <a:srgbClr val="1F3D34"/>
                          </a:solidFill>
                          <a:latin typeface="Arial" pitchFamily="34" charset="0"/>
                          <a:ea typeface="Arial" pitchFamily="34" charset="-122"/>
                          <a:cs typeface="Arial" pitchFamily="34" charset="-120"/>
                        </a:rPr>
                        <a:t>5,000円</a:t>
                      </a:r>
                      <a:endParaRPr lang="en-US" sz="1200" dirty="0">
                        <a:latin typeface="Arial" charset="0"/>
                        <a:ea typeface="Arial" charset="0"/>
                        <a:cs typeface="Arial" charset="0"/>
                      </a:endParaRPr>
                    </a:p>
                  </a:txBody>
                  <a:tcPr marL="91440" marR="91440" marT="45720" marB="45720" anchor="ctr">
                    <a:lnL w="12700" cap="flat" cmpd="sng" algn="ctr">
                      <a:solidFill>
                        <a:srgbClr val="D6E0DA"/>
                      </a:solidFill>
                      <a:prstDash val="solid"/>
                      <a:round/>
                      <a:headEnd type="none" w="med" len="med"/>
                      <a:tailEnd type="none" w="med" len="med"/>
                    </a:lnL>
                    <a:lnR w="12700" cap="flat" cmpd="sng" algn="ctr">
                      <a:solidFill>
                        <a:srgbClr val="D6E0DA"/>
                      </a:solidFill>
                      <a:prstDash val="solid"/>
                      <a:round/>
                      <a:headEnd type="none" w="med" len="med"/>
                      <a:tailEnd type="none" w="med" len="med"/>
                    </a:lnR>
                    <a:lnT w="12700" cap="flat" cmpd="sng" algn="ctr">
                      <a:solidFill>
                        <a:srgbClr val="D6E0DA"/>
                      </a:solidFill>
                      <a:prstDash val="solid"/>
                      <a:round/>
                      <a:headEnd type="none" w="med" len="med"/>
                      <a:tailEnd type="none" w="med" len="med"/>
                    </a:lnT>
                    <a:lnB w="12700" cap="flat" cmpd="sng" algn="ctr">
                      <a:solidFill>
                        <a:srgbClr val="D6E0DA"/>
                      </a:solidFill>
                      <a:prstDash val="solid"/>
                      <a:round/>
                      <a:headEnd type="none" w="med" len="med"/>
                      <a:tailEnd type="none" w="med" len="med"/>
                    </a:lnB>
                    <a:solidFill>
                      <a:srgbClr val="FFFFFF"/>
                    </a:solidFill>
                  </a:tcPr>
                </a:tc>
                <a:tc>
                  <a:txBody>
                    <a:bodyPr/>
                    <a:lstStyle/>
                    <a:p>
                      <a:pPr indent="0" marL="0">
                        <a:buNone/>
                      </a:pPr>
                      <a:r>
                        <a:rPr lang="en-US" sz="1200" dirty="0">
                          <a:solidFill>
                            <a:srgbClr val="12211C"/>
                          </a:solidFill>
                          <a:latin typeface="Yu Gothic" pitchFamily="34" charset="0"/>
                          <a:ea typeface="Yu Gothic" pitchFamily="34" charset="-122"/>
                          <a:cs typeface="Yu Gothic" pitchFamily="34" charset="-120"/>
                        </a:rPr>
                        <a:t>「様子が分かる」ことに払う。家族向け見守り画面が価値の中心になり、C案の範囲が必要になる</a:t>
                      </a:r>
                      <a:endParaRPr lang="en-US" sz="1200" dirty="0">
                        <a:latin typeface="Yu Gothic" charset="0"/>
                        <a:ea typeface="Yu Gothic" charset="0"/>
                        <a:cs typeface="Yu Gothic" charset="0"/>
                      </a:endParaRPr>
                    </a:p>
                  </a:txBody>
                  <a:tcPr marL="91440" marR="91440" marT="45720" marB="45720" anchor="ctr">
                    <a:lnL w="12700" cap="flat" cmpd="sng" algn="ctr">
                      <a:solidFill>
                        <a:srgbClr val="D6E0DA"/>
                      </a:solidFill>
                      <a:prstDash val="solid"/>
                      <a:round/>
                      <a:headEnd type="none" w="med" len="med"/>
                      <a:tailEnd type="none" w="med" len="med"/>
                    </a:lnL>
                    <a:lnR w="12700" cap="flat" cmpd="sng" algn="ctr">
                      <a:solidFill>
                        <a:srgbClr val="D6E0DA"/>
                      </a:solidFill>
                      <a:prstDash val="solid"/>
                      <a:round/>
                      <a:headEnd type="none" w="med" len="med"/>
                      <a:tailEnd type="none" w="med" len="med"/>
                    </a:lnR>
                    <a:lnT w="12700" cap="flat" cmpd="sng" algn="ctr">
                      <a:solidFill>
                        <a:srgbClr val="D6E0DA"/>
                      </a:solidFill>
                      <a:prstDash val="solid"/>
                      <a:round/>
                      <a:headEnd type="none" w="med" len="med"/>
                      <a:tailEnd type="none" w="med" len="med"/>
                    </a:lnT>
                    <a:lnB w="12700" cap="flat" cmpd="sng" algn="ctr">
                      <a:solidFill>
                        <a:srgbClr val="D6E0DA"/>
                      </a:solidFill>
                      <a:prstDash val="solid"/>
                      <a:round/>
                      <a:headEnd type="none" w="med" len="med"/>
                      <a:tailEnd type="none" w="med" len="med"/>
                    </a:lnB>
                    <a:solidFill>
                      <a:srgbClr val="FFFFFF"/>
                    </a:solidFill>
                  </a:tcPr>
                </a:tc>
              </a:tr>
              <a:tr h="896112">
                <a:tc>
                  <a:txBody>
                    <a:bodyPr/>
                    <a:lstStyle/>
                    <a:p>
                      <a:pPr indent="0" marL="0">
                        <a:buNone/>
                      </a:pPr>
                      <a:r>
                        <a:rPr lang="en-US" sz="1200" b="1" dirty="0">
                          <a:solidFill>
                            <a:srgbClr val="12211C"/>
                          </a:solidFill>
                          <a:latin typeface="Yu Gothic" pitchFamily="34" charset="0"/>
                          <a:ea typeface="Yu Gothic" pitchFamily="34" charset="-122"/>
                          <a:cs typeface="Yu Gothic" pitchFamily="34" charset="-120"/>
                        </a:rPr>
                        <a:t>介護施設・自治体との契約</a:t>
                      </a:r>
                      <a:endParaRPr lang="en-US" sz="1200" dirty="0">
                        <a:latin typeface="Yu Gothic" charset="0"/>
                        <a:ea typeface="Yu Gothic" charset="0"/>
                        <a:cs typeface="Yu Gothic" charset="0"/>
                      </a:endParaRPr>
                    </a:p>
                  </a:txBody>
                  <a:tcPr marL="91440" marR="91440" marT="45720" marB="45720" anchor="ctr">
                    <a:lnL w="12700" cap="flat" cmpd="sng" algn="ctr">
                      <a:solidFill>
                        <a:srgbClr val="D6E0DA"/>
                      </a:solidFill>
                      <a:prstDash val="solid"/>
                      <a:round/>
                      <a:headEnd type="none" w="med" len="med"/>
                      <a:tailEnd type="none" w="med" len="med"/>
                    </a:lnL>
                    <a:lnR w="12700" cap="flat" cmpd="sng" algn="ctr">
                      <a:solidFill>
                        <a:srgbClr val="D6E0DA"/>
                      </a:solidFill>
                      <a:prstDash val="solid"/>
                      <a:round/>
                      <a:headEnd type="none" w="med" len="med"/>
                      <a:tailEnd type="none" w="med" len="med"/>
                    </a:lnR>
                    <a:lnT w="12700" cap="flat" cmpd="sng" algn="ctr">
                      <a:solidFill>
                        <a:srgbClr val="D6E0DA"/>
                      </a:solidFill>
                      <a:prstDash val="solid"/>
                      <a:round/>
                      <a:headEnd type="none" w="med" len="med"/>
                      <a:tailEnd type="none" w="med" len="med"/>
                    </a:lnT>
                    <a:lnB w="12700" cap="flat" cmpd="sng" algn="ctr">
                      <a:solidFill>
                        <a:srgbClr val="D6E0DA"/>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2211C"/>
                          </a:solidFill>
                          <a:latin typeface="Yu Gothic" pitchFamily="34" charset="0"/>
                          <a:ea typeface="Yu Gothic" pitchFamily="34" charset="-122"/>
                          <a:cs typeface="Yu Gothic" pitchFamily="34" charset="-120"/>
                        </a:rPr>
                        <a:t>1人 月6,000円</a:t>
                      </a:r>
                      <a:endParaRPr lang="en-US" sz="1100" dirty="0">
                        <a:latin typeface="Yu Gothic" charset="0"/>
                        <a:ea typeface="Yu Gothic" charset="0"/>
                        <a:cs typeface="Yu Gothic" charset="0"/>
                      </a:endParaRPr>
                    </a:p>
                    <a:p>
                      <a:pPr algn="r" indent="0" marL="0">
                        <a:buNone/>
                      </a:pPr>
                      <a:r>
                        <a:rPr lang="en-US" sz="1100" dirty="0">
                          <a:solidFill>
                            <a:srgbClr val="12211C"/>
                          </a:solidFill>
                          <a:latin typeface="Yu Gothic" pitchFamily="34" charset="0"/>
                          <a:ea typeface="Yu Gothic" pitchFamily="34" charset="-122"/>
                          <a:cs typeface="Yu Gothic" pitchFamily="34" charset="-120"/>
                        </a:rPr>
                        <a:t>（20人単位）</a:t>
                      </a:r>
                      <a:endParaRPr lang="en-US" sz="1100" dirty="0">
                        <a:latin typeface="Yu Gothic" charset="0"/>
                        <a:ea typeface="Yu Gothic" charset="0"/>
                        <a:cs typeface="Yu Gothic" charset="0"/>
                      </a:endParaRPr>
                    </a:p>
                  </a:txBody>
                  <a:tcPr marL="91440" marR="91440" marT="45720" marB="45720" anchor="ctr">
                    <a:lnL w="12700" cap="flat" cmpd="sng" algn="ctr">
                      <a:solidFill>
                        <a:srgbClr val="D6E0DA"/>
                      </a:solidFill>
                      <a:prstDash val="solid"/>
                      <a:round/>
                      <a:headEnd type="none" w="med" len="med"/>
                      <a:tailEnd type="none" w="med" len="med"/>
                    </a:lnL>
                    <a:lnR w="12700" cap="flat" cmpd="sng" algn="ctr">
                      <a:solidFill>
                        <a:srgbClr val="D6E0DA"/>
                      </a:solidFill>
                      <a:prstDash val="solid"/>
                      <a:round/>
                      <a:headEnd type="none" w="med" len="med"/>
                      <a:tailEnd type="none" w="med" len="med"/>
                    </a:lnR>
                    <a:lnT w="12700" cap="flat" cmpd="sng" algn="ctr">
                      <a:solidFill>
                        <a:srgbClr val="D6E0DA"/>
                      </a:solidFill>
                      <a:prstDash val="solid"/>
                      <a:round/>
                      <a:headEnd type="none" w="med" len="med"/>
                      <a:tailEnd type="none" w="med" len="med"/>
                    </a:lnT>
                    <a:lnB w="12700" cap="flat" cmpd="sng" algn="ctr">
                      <a:solidFill>
                        <a:srgbClr val="D6E0DA"/>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2211C"/>
                          </a:solidFill>
                          <a:latin typeface="Arial" pitchFamily="34" charset="0"/>
                          <a:ea typeface="Arial" pitchFamily="34" charset="-122"/>
                          <a:cs typeface="Arial" pitchFamily="34" charset="-120"/>
                        </a:rPr>
                        <a:t>3,000円</a:t>
                      </a:r>
                      <a:endParaRPr lang="en-US" sz="1200" dirty="0">
                        <a:latin typeface="Arial" charset="0"/>
                        <a:ea typeface="Arial" charset="0"/>
                        <a:cs typeface="Arial" charset="0"/>
                      </a:endParaRPr>
                    </a:p>
                  </a:txBody>
                  <a:tcPr marL="91440" marR="91440" marT="45720" marB="45720" anchor="ctr">
                    <a:lnL w="12700" cap="flat" cmpd="sng" algn="ctr">
                      <a:solidFill>
                        <a:srgbClr val="D6E0DA"/>
                      </a:solidFill>
                      <a:prstDash val="solid"/>
                      <a:round/>
                      <a:headEnd type="none" w="med" len="med"/>
                      <a:tailEnd type="none" w="med" len="med"/>
                    </a:lnL>
                    <a:lnR w="12700" cap="flat" cmpd="sng" algn="ctr">
                      <a:solidFill>
                        <a:srgbClr val="D6E0DA"/>
                      </a:solidFill>
                      <a:prstDash val="solid"/>
                      <a:round/>
                      <a:headEnd type="none" w="med" len="med"/>
                      <a:tailEnd type="none" w="med" len="med"/>
                    </a:lnR>
                    <a:lnT w="12700" cap="flat" cmpd="sng" algn="ctr">
                      <a:solidFill>
                        <a:srgbClr val="D6E0DA"/>
                      </a:solidFill>
                      <a:prstDash val="solid"/>
                      <a:round/>
                      <a:headEnd type="none" w="med" len="med"/>
                      <a:tailEnd type="none" w="med" len="med"/>
                    </a:lnT>
                    <a:lnB w="12700" cap="flat" cmpd="sng" algn="ctr">
                      <a:solidFill>
                        <a:srgbClr val="D6E0DA"/>
                      </a:solidFill>
                      <a:prstDash val="solid"/>
                      <a:round/>
                      <a:headEnd type="none" w="med" len="med"/>
                      <a:tailEnd type="none" w="med" len="med"/>
                    </a:lnB>
                    <a:solidFill>
                      <a:srgbClr val="FFFFFF"/>
                    </a:solidFill>
                  </a:tcPr>
                </a:tc>
                <a:tc>
                  <a:txBody>
                    <a:bodyPr/>
                    <a:lstStyle/>
                    <a:p>
                      <a:pPr algn="r" indent="0" marL="0">
                        <a:buNone/>
                      </a:pPr>
                      <a:r>
                        <a:rPr lang="en-US" sz="1200" b="1" dirty="0">
                          <a:solidFill>
                            <a:srgbClr val="1F3D34"/>
                          </a:solidFill>
                          <a:latin typeface="Arial" pitchFamily="34" charset="0"/>
                          <a:ea typeface="Arial" pitchFamily="34" charset="-122"/>
                          <a:cs typeface="Arial" pitchFamily="34" charset="-120"/>
                        </a:rPr>
                        <a:t>3,000円</a:t>
                      </a:r>
                      <a:endParaRPr lang="en-US" sz="1200" dirty="0">
                        <a:latin typeface="Arial" charset="0"/>
                        <a:ea typeface="Arial" charset="0"/>
                        <a:cs typeface="Arial" charset="0"/>
                      </a:endParaRPr>
                    </a:p>
                  </a:txBody>
                  <a:tcPr marL="91440" marR="91440" marT="45720" marB="45720" anchor="ctr">
                    <a:lnL w="12700" cap="flat" cmpd="sng" algn="ctr">
                      <a:solidFill>
                        <a:srgbClr val="D6E0DA"/>
                      </a:solidFill>
                      <a:prstDash val="solid"/>
                      <a:round/>
                      <a:headEnd type="none" w="med" len="med"/>
                      <a:tailEnd type="none" w="med" len="med"/>
                    </a:lnL>
                    <a:lnR w="12700" cap="flat" cmpd="sng" algn="ctr">
                      <a:solidFill>
                        <a:srgbClr val="D6E0DA"/>
                      </a:solidFill>
                      <a:prstDash val="solid"/>
                      <a:round/>
                      <a:headEnd type="none" w="med" len="med"/>
                      <a:tailEnd type="none" w="med" len="med"/>
                    </a:lnR>
                    <a:lnT w="12700" cap="flat" cmpd="sng" algn="ctr">
                      <a:solidFill>
                        <a:srgbClr val="D6E0DA"/>
                      </a:solidFill>
                      <a:prstDash val="solid"/>
                      <a:round/>
                      <a:headEnd type="none" w="med" len="med"/>
                      <a:tailEnd type="none" w="med" len="med"/>
                    </a:lnT>
                    <a:lnB w="12700" cap="flat" cmpd="sng" algn="ctr">
                      <a:solidFill>
                        <a:srgbClr val="D6E0DA"/>
                      </a:solidFill>
                      <a:prstDash val="solid"/>
                      <a:round/>
                      <a:headEnd type="none" w="med" len="med"/>
                      <a:tailEnd type="none" w="med" len="med"/>
                    </a:lnB>
                    <a:solidFill>
                      <a:srgbClr val="FFFFFF"/>
                    </a:solidFill>
                  </a:tcPr>
                </a:tc>
                <a:tc>
                  <a:txBody>
                    <a:bodyPr/>
                    <a:lstStyle/>
                    <a:p>
                      <a:pPr indent="0" marL="0">
                        <a:buNone/>
                      </a:pPr>
                      <a:r>
                        <a:rPr lang="en-US" sz="1200" dirty="0">
                          <a:solidFill>
                            <a:srgbClr val="12211C"/>
                          </a:solidFill>
                          <a:latin typeface="Yu Gothic" pitchFamily="34" charset="0"/>
                          <a:ea typeface="Yu Gothic" pitchFamily="34" charset="-122"/>
                          <a:cs typeface="Yu Gothic" pitchFamily="34" charset="-120"/>
                        </a:rPr>
                        <a:t>解約が起きにくく単価も安定。ただし個人情報の国内完結が要件化されやすく、構成変更（+3人日）が要る</a:t>
                      </a:r>
                      <a:endParaRPr lang="en-US" sz="1200" dirty="0">
                        <a:latin typeface="Yu Gothic" charset="0"/>
                        <a:ea typeface="Yu Gothic" charset="0"/>
                        <a:cs typeface="Yu Gothic" charset="0"/>
                      </a:endParaRPr>
                    </a:p>
                  </a:txBody>
                  <a:tcPr marL="91440" marR="91440" marT="45720" marB="45720" anchor="ctr">
                    <a:lnL w="12700" cap="flat" cmpd="sng" algn="ctr">
                      <a:solidFill>
                        <a:srgbClr val="D6E0DA"/>
                      </a:solidFill>
                      <a:prstDash val="solid"/>
                      <a:round/>
                      <a:headEnd type="none" w="med" len="med"/>
                      <a:tailEnd type="none" w="med" len="med"/>
                    </a:lnL>
                    <a:lnR w="12700" cap="flat" cmpd="sng" algn="ctr">
                      <a:solidFill>
                        <a:srgbClr val="D6E0DA"/>
                      </a:solidFill>
                      <a:prstDash val="solid"/>
                      <a:round/>
                      <a:headEnd type="none" w="med" len="med"/>
                      <a:tailEnd type="none" w="med" len="med"/>
                    </a:lnR>
                    <a:lnT w="12700" cap="flat" cmpd="sng" algn="ctr">
                      <a:solidFill>
                        <a:srgbClr val="D6E0DA"/>
                      </a:solidFill>
                      <a:prstDash val="solid"/>
                      <a:round/>
                      <a:headEnd type="none" w="med" len="med"/>
                      <a:tailEnd type="none" w="med" len="med"/>
                    </a:lnT>
                    <a:lnB w="12700" cap="flat" cmpd="sng" algn="ctr">
                      <a:solidFill>
                        <a:srgbClr val="D6E0DA"/>
                      </a:solidFill>
                      <a:prstDash val="solid"/>
                      <a:round/>
                      <a:headEnd type="none" w="med" len="med"/>
                      <a:tailEnd type="none" w="med" len="med"/>
                    </a:lnB>
                    <a:solidFill>
                      <a:srgbClr val="FFFFFF"/>
                    </a:solidFill>
                  </a:tcPr>
                </a:tc>
              </a:tr>
            </a:tbl>
          </a:graphicData>
        </a:graphic>
      </p:graphicFrame>
      <p:sp>
        <p:nvSpPr>
          <p:cNvPr id="7" name="Shape 4"/>
          <p:cNvSpPr/>
          <p:nvPr/>
        </p:nvSpPr>
        <p:spPr>
          <a:xfrm>
            <a:off x="566928" y="4956048"/>
            <a:ext cx="11057839" cy="1115568"/>
          </a:xfrm>
          <a:prstGeom prst="roundRect">
            <a:avLst>
              <a:gd name="adj" fmla="val 4918"/>
            </a:avLst>
          </a:prstGeom>
          <a:solidFill>
            <a:srgbClr val="FAEDE1"/>
          </a:solidFill>
          <a:ln w="12700">
            <a:solidFill>
              <a:srgbClr val="EDD3BC"/>
            </a:solidFill>
            <a:prstDash val="solid"/>
          </a:ln>
        </p:spPr>
      </p:sp>
      <p:sp>
        <p:nvSpPr>
          <p:cNvPr id="8" name="Shape 5"/>
          <p:cNvSpPr/>
          <p:nvPr/>
        </p:nvSpPr>
        <p:spPr>
          <a:xfrm>
            <a:off x="896112" y="5248656"/>
            <a:ext cx="384048" cy="384048"/>
          </a:xfrm>
          <a:prstGeom prst="ellipse">
            <a:avLst/>
          </a:prstGeom>
          <a:solidFill>
            <a:srgbClr val="C4682A"/>
          </a:solidFill>
          <a:ln/>
        </p:spPr>
      </p:sp>
      <p:sp>
        <p:nvSpPr>
          <p:cNvPr id="9" name="Text 6"/>
          <p:cNvSpPr/>
          <p:nvPr/>
        </p:nvSpPr>
        <p:spPr>
          <a:xfrm>
            <a:off x="896112" y="5248656"/>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a:t>
            </a:r>
            <a:endParaRPr lang="en-US" sz="1500" dirty="0"/>
          </a:p>
        </p:txBody>
      </p:sp>
      <p:sp>
        <p:nvSpPr>
          <p:cNvPr id="10" name="Text 7"/>
          <p:cNvSpPr/>
          <p:nvPr/>
        </p:nvSpPr>
        <p:spPr>
          <a:xfrm>
            <a:off x="1463040" y="5138928"/>
            <a:ext cx="9777679" cy="292608"/>
          </a:xfrm>
          <a:prstGeom prst="rect">
            <a:avLst/>
          </a:prstGeom>
          <a:noFill/>
          <a:ln/>
        </p:spPr>
        <p:txBody>
          <a:bodyPr wrap="square" lIns="0" tIns="0" rIns="0" bIns="0" rtlCol="0" anchor="ctr"/>
          <a:lstStyle/>
          <a:p>
            <a:pPr indent="0" marL="0">
              <a:buNone/>
            </a:pPr>
            <a:r>
              <a:rPr lang="en-US" sz="1450" b="1" dirty="0">
                <a:solidFill>
                  <a:srgbClr val="C4682A"/>
                </a:solidFill>
                <a:latin typeface="Yu Gothic" pitchFamily="34" charset="0"/>
                <a:ea typeface="Yu Gothic" pitchFamily="34" charset="-122"/>
                <a:cs typeface="Yu Gothic" pitchFamily="34" charset="-120"/>
              </a:rPr>
              <a:t>どのシナリオでも、原価3,000円を下回る売価は成立しません。</a:t>
            </a:r>
            <a:endParaRPr lang="en-US" sz="1450" dirty="0"/>
          </a:p>
        </p:txBody>
      </p:sp>
      <p:sp>
        <p:nvSpPr>
          <p:cNvPr id="11" name="Text 8"/>
          <p:cNvSpPr/>
          <p:nvPr/>
        </p:nvSpPr>
        <p:spPr>
          <a:xfrm>
            <a:off x="1463040" y="5468112"/>
            <a:ext cx="9777679" cy="420624"/>
          </a:xfrm>
          <a:prstGeom prst="rect">
            <a:avLst/>
          </a:prstGeom>
          <a:noFill/>
          <a:ln/>
        </p:spPr>
        <p:txBody>
          <a:bodyPr wrap="square" lIns="0" tIns="0" rIns="0" bIns="0" rtlCol="0" anchor="ctr"/>
          <a:lstStyle/>
          <a:p>
            <a:pPr indent="0" marL="0">
              <a:lnSpc>
                <a:spcPts val="1800"/>
              </a:lnSpc>
              <a:buNone/>
            </a:pPr>
            <a:r>
              <a:rPr lang="en-US" sz="1200" dirty="0">
                <a:solidFill>
                  <a:srgbClr val="12211C"/>
                </a:solidFill>
                <a:latin typeface="Yu Gothic" pitchFamily="34" charset="0"/>
                <a:ea typeface="Yu Gothic" pitchFamily="34" charset="-122"/>
                <a:cs typeface="Yu Gothic" pitchFamily="34" charset="-120"/>
              </a:rPr>
              <a:t>「誰が払うか」が決まると、音声方式・会話時間の上限・家族画面の要否が連動して決まります。逆にここが未定のままだと、仕様も見積も確定できません。</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57200"/>
            <a:ext cx="365760" cy="365760"/>
          </a:xfrm>
          <a:prstGeom prst="ellipse">
            <a:avLst/>
          </a:prstGeom>
          <a:solidFill>
            <a:srgbClr val="1F3D34"/>
          </a:solidFill>
          <a:ln/>
        </p:spPr>
      </p:sp>
      <p:sp>
        <p:nvSpPr>
          <p:cNvPr id="3" name="Text 1"/>
          <p:cNvSpPr/>
          <p:nvPr/>
        </p:nvSpPr>
        <p:spPr>
          <a:xfrm>
            <a:off x="566928" y="4572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7</a:t>
            </a:r>
            <a:endParaRPr lang="en-US" sz="1200" dirty="0"/>
          </a:p>
        </p:txBody>
      </p:sp>
      <p:sp>
        <p:nvSpPr>
          <p:cNvPr id="4" name="Text 2"/>
          <p:cNvSpPr/>
          <p:nvPr/>
        </p:nvSpPr>
        <p:spPr>
          <a:xfrm>
            <a:off x="1133856" y="384048"/>
            <a:ext cx="10490911" cy="530352"/>
          </a:xfrm>
          <a:prstGeom prst="rect">
            <a:avLst/>
          </a:prstGeom>
          <a:noFill/>
          <a:ln/>
        </p:spPr>
        <p:txBody>
          <a:bodyPr wrap="square" lIns="0" tIns="0" rIns="0" bIns="0" rtlCol="0" anchor="ctr"/>
          <a:lstStyle/>
          <a:p>
            <a:pPr indent="0" marL="0">
              <a:buNone/>
            </a:pPr>
            <a:r>
              <a:rPr lang="en-US" sz="2700" b="1" dirty="0">
                <a:solidFill>
                  <a:srgbClr val="12211C"/>
                </a:solidFill>
                <a:latin typeface="Yu Gothic" pitchFamily="34" charset="0"/>
                <a:ea typeface="Yu Gothic" pitchFamily="34" charset="-122"/>
                <a:cs typeface="Yu Gothic" pitchFamily="34" charset="-120"/>
              </a:rPr>
              <a:t>「全部覚えている」の作り方</a:t>
            </a:r>
            <a:endParaRPr lang="en-US" sz="2700" dirty="0"/>
          </a:p>
        </p:txBody>
      </p:sp>
      <p:sp>
        <p:nvSpPr>
          <p:cNvPr id="5" name="Text 3"/>
          <p:cNvSpPr/>
          <p:nvPr/>
        </p:nvSpPr>
        <p:spPr>
          <a:xfrm>
            <a:off x="566928" y="969264"/>
            <a:ext cx="11057839" cy="329184"/>
          </a:xfrm>
          <a:prstGeom prst="rect">
            <a:avLst/>
          </a:prstGeom>
          <a:noFill/>
          <a:ln/>
        </p:spPr>
        <p:txBody>
          <a:bodyPr wrap="square" lIns="0" tIns="0" rIns="0" bIns="0" rtlCol="0" anchor="t"/>
          <a:lstStyle/>
          <a:p>
            <a:pPr indent="0" marL="0">
              <a:buNone/>
            </a:pPr>
            <a:r>
              <a:rPr lang="en-US" sz="1350" dirty="0">
                <a:solidFill>
                  <a:srgbClr val="6C7C75"/>
                </a:solidFill>
                <a:latin typeface="Yu Gothic" pitchFamily="34" charset="0"/>
                <a:ea typeface="Yu Gothic" pitchFamily="34" charset="-122"/>
                <a:cs typeface="Yu Gothic" pitchFamily="34" charset="-120"/>
              </a:rPr>
              <a:t>保存は全件・無期限。AIに渡す情報を4層に分けることで、コストを抑えたまま思い出せます。</a:t>
            </a:r>
            <a:endParaRPr lang="en-US" sz="1350" dirty="0"/>
          </a:p>
        </p:txBody>
      </p:sp>
      <p:sp>
        <p:nvSpPr>
          <p:cNvPr id="6" name="Shape 4"/>
          <p:cNvSpPr/>
          <p:nvPr/>
        </p:nvSpPr>
        <p:spPr>
          <a:xfrm>
            <a:off x="566928" y="1627632"/>
            <a:ext cx="2558720" cy="2834640"/>
          </a:xfrm>
          <a:prstGeom prst="roundRect">
            <a:avLst>
              <a:gd name="adj" fmla="val 2144"/>
            </a:avLst>
          </a:prstGeom>
          <a:solidFill>
            <a:srgbClr val="FFFFFF"/>
          </a:solidFill>
          <a:ln w="12700">
            <a:solidFill>
              <a:srgbClr val="D6E0DA"/>
            </a:solidFill>
            <a:prstDash val="solid"/>
          </a:ln>
          <a:effectLst>
            <a:outerShdw sx="100000" sy="100000" kx="0" ky="0" algn="bl" rotWithShape="0" blurRad="127000" dist="25400" dir="5400000">
              <a:srgbClr val="1F3D34">
                <a:alpha val="10000"/>
              </a:srgbClr>
            </a:outerShdw>
          </a:effectLst>
        </p:spPr>
      </p:sp>
      <p:sp>
        <p:nvSpPr>
          <p:cNvPr id="7" name="Shape 5"/>
          <p:cNvSpPr/>
          <p:nvPr/>
        </p:nvSpPr>
        <p:spPr>
          <a:xfrm>
            <a:off x="841248" y="1865376"/>
            <a:ext cx="512064" cy="512064"/>
          </a:xfrm>
          <a:prstGeom prst="ellipse">
            <a:avLst/>
          </a:prstGeom>
          <a:solidFill>
            <a:srgbClr val="1F3D34"/>
          </a:solidFill>
          <a:ln/>
        </p:spPr>
      </p:sp>
      <p:sp>
        <p:nvSpPr>
          <p:cNvPr id="8" name="Text 6"/>
          <p:cNvSpPr/>
          <p:nvPr/>
        </p:nvSpPr>
        <p:spPr>
          <a:xfrm>
            <a:off x="841248" y="1865376"/>
            <a:ext cx="512064" cy="512064"/>
          </a:xfrm>
          <a:prstGeom prst="rect">
            <a:avLst/>
          </a:prstGeom>
          <a:noFill/>
          <a:ln/>
        </p:spPr>
        <p:txBody>
          <a:bodyPr wrap="square" lIns="0" tIns="0" rIns="0" bIns="0" rtlCol="0" anchor="ctr"/>
          <a:lstStyle/>
          <a:p>
            <a:pPr algn="ctr" indent="0" marL="0">
              <a:buNone/>
            </a:pPr>
            <a:r>
              <a:rPr lang="en-US" sz="1100" b="1" dirty="0">
                <a:solidFill>
                  <a:srgbClr val="FFFFFF"/>
                </a:solidFill>
                <a:latin typeface="Yu Gothic" pitchFamily="34" charset="0"/>
                <a:ea typeface="Yu Gothic" pitchFamily="34" charset="-122"/>
                <a:cs typeface="Yu Gothic" pitchFamily="34" charset="-120"/>
              </a:rPr>
              <a:t>層1</a:t>
            </a:r>
            <a:endParaRPr lang="en-US" sz="1100" dirty="0"/>
          </a:p>
        </p:txBody>
      </p:sp>
      <p:sp>
        <p:nvSpPr>
          <p:cNvPr id="9" name="Text 7"/>
          <p:cNvSpPr/>
          <p:nvPr/>
        </p:nvSpPr>
        <p:spPr>
          <a:xfrm>
            <a:off x="841248" y="2487168"/>
            <a:ext cx="2010080" cy="310896"/>
          </a:xfrm>
          <a:prstGeom prst="rect">
            <a:avLst/>
          </a:prstGeom>
          <a:noFill/>
          <a:ln/>
        </p:spPr>
        <p:txBody>
          <a:bodyPr wrap="square" lIns="0" tIns="0" rIns="0" bIns="0" rtlCol="0" anchor="ctr"/>
          <a:lstStyle/>
          <a:p>
            <a:pPr indent="0" marL="0">
              <a:buNone/>
            </a:pPr>
            <a:r>
              <a:rPr lang="en-US" sz="1500" b="1" dirty="0">
                <a:solidFill>
                  <a:srgbClr val="12211C"/>
                </a:solidFill>
                <a:latin typeface="Yu Gothic" pitchFamily="34" charset="0"/>
                <a:ea typeface="Yu Gothic" pitchFamily="34" charset="-122"/>
                <a:cs typeface="Yu Gothic" pitchFamily="34" charset="-120"/>
              </a:rPr>
              <a:t>直近の会話ログ</a:t>
            </a:r>
            <a:endParaRPr lang="en-US" sz="1500" dirty="0"/>
          </a:p>
        </p:txBody>
      </p:sp>
      <p:sp>
        <p:nvSpPr>
          <p:cNvPr id="10" name="Text 8"/>
          <p:cNvSpPr/>
          <p:nvPr/>
        </p:nvSpPr>
        <p:spPr>
          <a:xfrm>
            <a:off x="841248" y="2798064"/>
            <a:ext cx="2010080" cy="237744"/>
          </a:xfrm>
          <a:prstGeom prst="rect">
            <a:avLst/>
          </a:prstGeom>
          <a:noFill/>
          <a:ln/>
        </p:spPr>
        <p:txBody>
          <a:bodyPr wrap="square" lIns="0" tIns="0" rIns="0" bIns="0" rtlCol="0" anchor="ctr"/>
          <a:lstStyle/>
          <a:p>
            <a:pPr indent="0" marL="0">
              <a:buNone/>
            </a:pPr>
            <a:r>
              <a:rPr lang="en-US" sz="1100" b="1" dirty="0">
                <a:solidFill>
                  <a:srgbClr val="6E9A85"/>
                </a:solidFill>
                <a:latin typeface="Yu Gothic" pitchFamily="34" charset="0"/>
                <a:ea typeface="Yu Gothic" pitchFamily="34" charset="-122"/>
                <a:cs typeface="Yu Gothic" pitchFamily="34" charset="-120"/>
              </a:rPr>
              <a:t>初期値 7日</a:t>
            </a:r>
            <a:endParaRPr lang="en-US" sz="1100" dirty="0"/>
          </a:p>
        </p:txBody>
      </p:sp>
      <p:sp>
        <p:nvSpPr>
          <p:cNvPr id="11" name="Text 9"/>
          <p:cNvSpPr/>
          <p:nvPr/>
        </p:nvSpPr>
        <p:spPr>
          <a:xfrm>
            <a:off x="841248" y="3127248"/>
            <a:ext cx="2010080" cy="1188720"/>
          </a:xfrm>
          <a:prstGeom prst="rect">
            <a:avLst/>
          </a:prstGeom>
          <a:noFill/>
          <a:ln/>
        </p:spPr>
        <p:txBody>
          <a:bodyPr wrap="square" lIns="0" tIns="0" rIns="0" bIns="0" rtlCol="0" anchor="ctr"/>
          <a:lstStyle/>
          <a:p>
            <a:pPr indent="0" marL="0">
              <a:lnSpc>
                <a:spcPts val="1800"/>
              </a:lnSpc>
              <a:buNone/>
            </a:pPr>
            <a:r>
              <a:rPr lang="en-US" sz="1150" dirty="0">
                <a:solidFill>
                  <a:srgbClr val="6C7C75"/>
                </a:solidFill>
                <a:latin typeface="Yu Gothic" pitchFamily="34" charset="0"/>
                <a:ea typeface="Yu Gothic" pitchFamily="34" charset="-122"/>
                <a:cs typeface="Yu Gothic" pitchFamily="34" charset="-120"/>
              </a:rPr>
              <a:t>発言をそのまま保持し、毎回AIに渡す。「昨日の話」はこの層で確実に再現される。要約しない。</a:t>
            </a:r>
            <a:endParaRPr lang="en-US" sz="1150" dirty="0"/>
          </a:p>
        </p:txBody>
      </p:sp>
      <p:sp>
        <p:nvSpPr>
          <p:cNvPr id="12" name="Shape 10"/>
          <p:cNvSpPr/>
          <p:nvPr/>
        </p:nvSpPr>
        <p:spPr>
          <a:xfrm>
            <a:off x="3399968" y="1627632"/>
            <a:ext cx="2558720" cy="2834640"/>
          </a:xfrm>
          <a:prstGeom prst="roundRect">
            <a:avLst>
              <a:gd name="adj" fmla="val 2144"/>
            </a:avLst>
          </a:prstGeom>
          <a:solidFill>
            <a:srgbClr val="FFFFFF"/>
          </a:solidFill>
          <a:ln w="12700">
            <a:solidFill>
              <a:srgbClr val="D6E0DA"/>
            </a:solidFill>
            <a:prstDash val="solid"/>
          </a:ln>
          <a:effectLst>
            <a:outerShdw sx="100000" sy="100000" kx="0" ky="0" algn="bl" rotWithShape="0" blurRad="127000" dist="25400" dir="5400000">
              <a:srgbClr val="1F3D34">
                <a:alpha val="10000"/>
              </a:srgbClr>
            </a:outerShdw>
          </a:effectLst>
        </p:spPr>
      </p:sp>
      <p:sp>
        <p:nvSpPr>
          <p:cNvPr id="13" name="Shape 11"/>
          <p:cNvSpPr/>
          <p:nvPr/>
        </p:nvSpPr>
        <p:spPr>
          <a:xfrm>
            <a:off x="3674288" y="1865376"/>
            <a:ext cx="512064" cy="512064"/>
          </a:xfrm>
          <a:prstGeom prst="ellipse">
            <a:avLst/>
          </a:prstGeom>
          <a:solidFill>
            <a:srgbClr val="1F3D34"/>
          </a:solidFill>
          <a:ln/>
        </p:spPr>
      </p:sp>
      <p:sp>
        <p:nvSpPr>
          <p:cNvPr id="14" name="Text 12"/>
          <p:cNvSpPr/>
          <p:nvPr/>
        </p:nvSpPr>
        <p:spPr>
          <a:xfrm>
            <a:off x="3674288" y="1865376"/>
            <a:ext cx="512064" cy="512064"/>
          </a:xfrm>
          <a:prstGeom prst="rect">
            <a:avLst/>
          </a:prstGeom>
          <a:noFill/>
          <a:ln/>
        </p:spPr>
        <p:txBody>
          <a:bodyPr wrap="square" lIns="0" tIns="0" rIns="0" bIns="0" rtlCol="0" anchor="ctr"/>
          <a:lstStyle/>
          <a:p>
            <a:pPr algn="ctr" indent="0" marL="0">
              <a:buNone/>
            </a:pPr>
            <a:r>
              <a:rPr lang="en-US" sz="1100" b="1" dirty="0">
                <a:solidFill>
                  <a:srgbClr val="FFFFFF"/>
                </a:solidFill>
                <a:latin typeface="Yu Gothic" pitchFamily="34" charset="0"/>
                <a:ea typeface="Yu Gothic" pitchFamily="34" charset="-122"/>
                <a:cs typeface="Yu Gothic" pitchFamily="34" charset="-120"/>
              </a:rPr>
              <a:t>層2</a:t>
            </a:r>
            <a:endParaRPr lang="en-US" sz="1100" dirty="0"/>
          </a:p>
        </p:txBody>
      </p:sp>
      <p:sp>
        <p:nvSpPr>
          <p:cNvPr id="15" name="Text 13"/>
          <p:cNvSpPr/>
          <p:nvPr/>
        </p:nvSpPr>
        <p:spPr>
          <a:xfrm>
            <a:off x="3674288" y="2487168"/>
            <a:ext cx="2010080" cy="310896"/>
          </a:xfrm>
          <a:prstGeom prst="rect">
            <a:avLst/>
          </a:prstGeom>
          <a:noFill/>
          <a:ln/>
        </p:spPr>
        <p:txBody>
          <a:bodyPr wrap="square" lIns="0" tIns="0" rIns="0" bIns="0" rtlCol="0" anchor="ctr"/>
          <a:lstStyle/>
          <a:p>
            <a:pPr indent="0" marL="0">
              <a:buNone/>
            </a:pPr>
            <a:r>
              <a:rPr lang="en-US" sz="1500" b="1" dirty="0">
                <a:solidFill>
                  <a:srgbClr val="12211C"/>
                </a:solidFill>
                <a:latin typeface="Yu Gothic" pitchFamily="34" charset="0"/>
                <a:ea typeface="Yu Gothic" pitchFamily="34" charset="-122"/>
                <a:cs typeface="Yu Gothic" pitchFamily="34" charset="-120"/>
              </a:rPr>
              <a:t>日次サマリー</a:t>
            </a:r>
            <a:endParaRPr lang="en-US" sz="1500" dirty="0"/>
          </a:p>
        </p:txBody>
      </p:sp>
      <p:sp>
        <p:nvSpPr>
          <p:cNvPr id="16" name="Text 14"/>
          <p:cNvSpPr/>
          <p:nvPr/>
        </p:nvSpPr>
        <p:spPr>
          <a:xfrm>
            <a:off x="3674288" y="2798064"/>
            <a:ext cx="2010080" cy="237744"/>
          </a:xfrm>
          <a:prstGeom prst="rect">
            <a:avLst/>
          </a:prstGeom>
          <a:noFill/>
          <a:ln/>
        </p:spPr>
        <p:txBody>
          <a:bodyPr wrap="square" lIns="0" tIns="0" rIns="0" bIns="0" rtlCol="0" anchor="ctr"/>
          <a:lstStyle/>
          <a:p>
            <a:pPr indent="0" marL="0">
              <a:buNone/>
            </a:pPr>
            <a:r>
              <a:rPr lang="en-US" sz="1100" b="1" dirty="0">
                <a:solidFill>
                  <a:srgbClr val="6E9A85"/>
                </a:solidFill>
                <a:latin typeface="Yu Gothic" pitchFamily="34" charset="0"/>
                <a:ea typeface="Yu Gothic" pitchFamily="34" charset="-122"/>
                <a:cs typeface="Yu Gothic" pitchFamily="34" charset="-120"/>
              </a:rPr>
              <a:t>注入90日・保存無期限</a:t>
            </a:r>
            <a:endParaRPr lang="en-US" sz="1100" dirty="0"/>
          </a:p>
        </p:txBody>
      </p:sp>
      <p:sp>
        <p:nvSpPr>
          <p:cNvPr id="17" name="Text 15"/>
          <p:cNvSpPr/>
          <p:nvPr/>
        </p:nvSpPr>
        <p:spPr>
          <a:xfrm>
            <a:off x="3674288" y="3127248"/>
            <a:ext cx="2010080" cy="1188720"/>
          </a:xfrm>
          <a:prstGeom prst="rect">
            <a:avLst/>
          </a:prstGeom>
          <a:noFill/>
          <a:ln/>
        </p:spPr>
        <p:txBody>
          <a:bodyPr wrap="square" lIns="0" tIns="0" rIns="0" bIns="0" rtlCol="0" anchor="ctr"/>
          <a:lstStyle/>
          <a:p>
            <a:pPr indent="0" marL="0">
              <a:lnSpc>
                <a:spcPts val="1800"/>
              </a:lnSpc>
              <a:buNone/>
            </a:pPr>
            <a:r>
              <a:rPr lang="en-US" sz="1150" dirty="0">
                <a:solidFill>
                  <a:srgbClr val="6C7C75"/>
                </a:solidFill>
                <a:latin typeface="Yu Gothic" pitchFamily="34" charset="0"/>
                <a:ea typeface="Yu Gothic" pitchFamily="34" charset="-122"/>
                <a:cs typeface="Yu Gothic" pitchFamily="34" charset="-120"/>
              </a:rPr>
              <a:t>毎晩バッチで1日を300字に要約。「先月、膝が痛いと言っていた」を低コストで維持する。</a:t>
            </a:r>
            <a:endParaRPr lang="en-US" sz="1150" dirty="0"/>
          </a:p>
        </p:txBody>
      </p:sp>
      <p:sp>
        <p:nvSpPr>
          <p:cNvPr id="18" name="Shape 16"/>
          <p:cNvSpPr/>
          <p:nvPr/>
        </p:nvSpPr>
        <p:spPr>
          <a:xfrm>
            <a:off x="6233008" y="1627632"/>
            <a:ext cx="2558720" cy="2834640"/>
          </a:xfrm>
          <a:prstGeom prst="roundRect">
            <a:avLst>
              <a:gd name="adj" fmla="val 2144"/>
            </a:avLst>
          </a:prstGeom>
          <a:solidFill>
            <a:srgbClr val="FFFFFF"/>
          </a:solidFill>
          <a:ln w="12700">
            <a:solidFill>
              <a:srgbClr val="D6E0DA"/>
            </a:solidFill>
            <a:prstDash val="solid"/>
          </a:ln>
          <a:effectLst>
            <a:outerShdw sx="100000" sy="100000" kx="0" ky="0" algn="bl" rotWithShape="0" blurRad="127000" dist="25400" dir="5400000">
              <a:srgbClr val="1F3D34">
                <a:alpha val="10000"/>
              </a:srgbClr>
            </a:outerShdw>
          </a:effectLst>
        </p:spPr>
      </p:sp>
      <p:sp>
        <p:nvSpPr>
          <p:cNvPr id="19" name="Shape 17"/>
          <p:cNvSpPr/>
          <p:nvPr/>
        </p:nvSpPr>
        <p:spPr>
          <a:xfrm>
            <a:off x="6507328" y="1865376"/>
            <a:ext cx="512064" cy="512064"/>
          </a:xfrm>
          <a:prstGeom prst="ellipse">
            <a:avLst/>
          </a:prstGeom>
          <a:solidFill>
            <a:srgbClr val="1F3D34"/>
          </a:solidFill>
          <a:ln/>
        </p:spPr>
      </p:sp>
      <p:sp>
        <p:nvSpPr>
          <p:cNvPr id="20" name="Text 18"/>
          <p:cNvSpPr/>
          <p:nvPr/>
        </p:nvSpPr>
        <p:spPr>
          <a:xfrm>
            <a:off x="6507328" y="1865376"/>
            <a:ext cx="512064" cy="512064"/>
          </a:xfrm>
          <a:prstGeom prst="rect">
            <a:avLst/>
          </a:prstGeom>
          <a:noFill/>
          <a:ln/>
        </p:spPr>
        <p:txBody>
          <a:bodyPr wrap="square" lIns="0" tIns="0" rIns="0" bIns="0" rtlCol="0" anchor="ctr"/>
          <a:lstStyle/>
          <a:p>
            <a:pPr algn="ctr" indent="0" marL="0">
              <a:buNone/>
            </a:pPr>
            <a:r>
              <a:rPr lang="en-US" sz="1100" b="1" dirty="0">
                <a:solidFill>
                  <a:srgbClr val="FFFFFF"/>
                </a:solidFill>
                <a:latin typeface="Yu Gothic" pitchFamily="34" charset="0"/>
                <a:ea typeface="Yu Gothic" pitchFamily="34" charset="-122"/>
                <a:cs typeface="Yu Gothic" pitchFamily="34" charset="-120"/>
              </a:rPr>
              <a:t>層3</a:t>
            </a:r>
            <a:endParaRPr lang="en-US" sz="1100" dirty="0"/>
          </a:p>
        </p:txBody>
      </p:sp>
      <p:sp>
        <p:nvSpPr>
          <p:cNvPr id="21" name="Text 19"/>
          <p:cNvSpPr/>
          <p:nvPr/>
        </p:nvSpPr>
        <p:spPr>
          <a:xfrm>
            <a:off x="6507328" y="2487168"/>
            <a:ext cx="2010080" cy="310896"/>
          </a:xfrm>
          <a:prstGeom prst="rect">
            <a:avLst/>
          </a:prstGeom>
          <a:noFill/>
          <a:ln/>
        </p:spPr>
        <p:txBody>
          <a:bodyPr wrap="square" lIns="0" tIns="0" rIns="0" bIns="0" rtlCol="0" anchor="ctr"/>
          <a:lstStyle/>
          <a:p>
            <a:pPr indent="0" marL="0">
              <a:buNone/>
            </a:pPr>
            <a:r>
              <a:rPr lang="en-US" sz="1500" b="1" dirty="0">
                <a:solidFill>
                  <a:srgbClr val="12211C"/>
                </a:solidFill>
                <a:latin typeface="Yu Gothic" pitchFamily="34" charset="0"/>
                <a:ea typeface="Yu Gothic" pitchFamily="34" charset="-122"/>
                <a:cs typeface="Yu Gothic" pitchFamily="34" charset="-120"/>
              </a:rPr>
              <a:t>人物プロフィール</a:t>
            </a:r>
            <a:endParaRPr lang="en-US" sz="1500" dirty="0"/>
          </a:p>
        </p:txBody>
      </p:sp>
      <p:sp>
        <p:nvSpPr>
          <p:cNvPr id="22" name="Text 20"/>
          <p:cNvSpPr/>
          <p:nvPr/>
        </p:nvSpPr>
        <p:spPr>
          <a:xfrm>
            <a:off x="6507328" y="2798064"/>
            <a:ext cx="2010080" cy="237744"/>
          </a:xfrm>
          <a:prstGeom prst="rect">
            <a:avLst/>
          </a:prstGeom>
          <a:noFill/>
          <a:ln/>
        </p:spPr>
        <p:txBody>
          <a:bodyPr wrap="square" lIns="0" tIns="0" rIns="0" bIns="0" rtlCol="0" anchor="ctr"/>
          <a:lstStyle/>
          <a:p>
            <a:pPr indent="0" marL="0">
              <a:buNone/>
            </a:pPr>
            <a:r>
              <a:rPr lang="en-US" sz="1100" b="1" dirty="0">
                <a:solidFill>
                  <a:srgbClr val="6E9A85"/>
                </a:solidFill>
                <a:latin typeface="Yu Gothic" pitchFamily="34" charset="0"/>
                <a:ea typeface="Yu Gothic" pitchFamily="34" charset="-122"/>
                <a:cs typeface="Yu Gothic" pitchFamily="34" charset="-120"/>
              </a:rPr>
              <a:t>常時・無期限</a:t>
            </a:r>
            <a:endParaRPr lang="en-US" sz="1100" dirty="0"/>
          </a:p>
        </p:txBody>
      </p:sp>
      <p:sp>
        <p:nvSpPr>
          <p:cNvPr id="23" name="Text 21"/>
          <p:cNvSpPr/>
          <p:nvPr/>
        </p:nvSpPr>
        <p:spPr>
          <a:xfrm>
            <a:off x="6507328" y="3127248"/>
            <a:ext cx="2010080" cy="1188720"/>
          </a:xfrm>
          <a:prstGeom prst="rect">
            <a:avLst/>
          </a:prstGeom>
          <a:noFill/>
          <a:ln/>
        </p:spPr>
        <p:txBody>
          <a:bodyPr wrap="square" lIns="0" tIns="0" rIns="0" bIns="0" rtlCol="0" anchor="ctr"/>
          <a:lstStyle/>
          <a:p>
            <a:pPr indent="0" marL="0">
              <a:lnSpc>
                <a:spcPts val="1800"/>
              </a:lnSpc>
              <a:buNone/>
            </a:pPr>
            <a:r>
              <a:rPr lang="en-US" sz="1150" dirty="0">
                <a:solidFill>
                  <a:srgbClr val="6C7C75"/>
                </a:solidFill>
                <a:latin typeface="Yu Gothic" pitchFamily="34" charset="0"/>
                <a:ea typeface="Yu Gothic" pitchFamily="34" charset="-122"/>
                <a:cs typeface="Yu Gothic" pitchFamily="34" charset="-120"/>
              </a:rPr>
              <a:t>名前、家族構成、通院日、触れてほしくない話題。会話の「その人らしさ」はほぼこの層が作る。</a:t>
            </a:r>
            <a:endParaRPr lang="en-US" sz="1150" dirty="0"/>
          </a:p>
        </p:txBody>
      </p:sp>
      <p:sp>
        <p:nvSpPr>
          <p:cNvPr id="24" name="Shape 22"/>
          <p:cNvSpPr/>
          <p:nvPr/>
        </p:nvSpPr>
        <p:spPr>
          <a:xfrm>
            <a:off x="9066047" y="1627632"/>
            <a:ext cx="2558720" cy="2834640"/>
          </a:xfrm>
          <a:prstGeom prst="roundRect">
            <a:avLst>
              <a:gd name="adj" fmla="val 2144"/>
            </a:avLst>
          </a:prstGeom>
          <a:solidFill>
            <a:srgbClr val="FFFFFF"/>
          </a:solidFill>
          <a:ln w="12700">
            <a:solidFill>
              <a:srgbClr val="D6E0DA"/>
            </a:solidFill>
            <a:prstDash val="solid"/>
          </a:ln>
          <a:effectLst>
            <a:outerShdw sx="100000" sy="100000" kx="0" ky="0" algn="bl" rotWithShape="0" blurRad="127000" dist="25400" dir="5400000">
              <a:srgbClr val="1F3D34">
                <a:alpha val="10000"/>
              </a:srgbClr>
            </a:outerShdw>
          </a:effectLst>
        </p:spPr>
      </p:sp>
      <p:sp>
        <p:nvSpPr>
          <p:cNvPr id="25" name="Shape 23"/>
          <p:cNvSpPr/>
          <p:nvPr/>
        </p:nvSpPr>
        <p:spPr>
          <a:xfrm>
            <a:off x="9340367" y="1865376"/>
            <a:ext cx="512064" cy="512064"/>
          </a:xfrm>
          <a:prstGeom prst="ellipse">
            <a:avLst/>
          </a:prstGeom>
          <a:solidFill>
            <a:srgbClr val="C4682A"/>
          </a:solidFill>
          <a:ln/>
        </p:spPr>
      </p:sp>
      <p:sp>
        <p:nvSpPr>
          <p:cNvPr id="26" name="Text 24"/>
          <p:cNvSpPr/>
          <p:nvPr/>
        </p:nvSpPr>
        <p:spPr>
          <a:xfrm>
            <a:off x="9340367" y="1865376"/>
            <a:ext cx="512064" cy="512064"/>
          </a:xfrm>
          <a:prstGeom prst="rect">
            <a:avLst/>
          </a:prstGeom>
          <a:noFill/>
          <a:ln/>
        </p:spPr>
        <p:txBody>
          <a:bodyPr wrap="square" lIns="0" tIns="0" rIns="0" bIns="0" rtlCol="0" anchor="ctr"/>
          <a:lstStyle/>
          <a:p>
            <a:pPr algn="ctr" indent="0" marL="0">
              <a:buNone/>
            </a:pPr>
            <a:r>
              <a:rPr lang="en-US" sz="1100" b="1" dirty="0">
                <a:solidFill>
                  <a:srgbClr val="FFFFFF"/>
                </a:solidFill>
                <a:latin typeface="Yu Gothic" pitchFamily="34" charset="0"/>
                <a:ea typeface="Yu Gothic" pitchFamily="34" charset="-122"/>
                <a:cs typeface="Yu Gothic" pitchFamily="34" charset="-120"/>
              </a:rPr>
              <a:t>層4</a:t>
            </a:r>
            <a:endParaRPr lang="en-US" sz="1100" dirty="0"/>
          </a:p>
        </p:txBody>
      </p:sp>
      <p:sp>
        <p:nvSpPr>
          <p:cNvPr id="27" name="Text 25"/>
          <p:cNvSpPr/>
          <p:nvPr/>
        </p:nvSpPr>
        <p:spPr>
          <a:xfrm>
            <a:off x="9340367" y="2487168"/>
            <a:ext cx="2010080" cy="310896"/>
          </a:xfrm>
          <a:prstGeom prst="rect">
            <a:avLst/>
          </a:prstGeom>
          <a:noFill/>
          <a:ln/>
        </p:spPr>
        <p:txBody>
          <a:bodyPr wrap="square" lIns="0" tIns="0" rIns="0" bIns="0" rtlCol="0" anchor="ctr"/>
          <a:lstStyle/>
          <a:p>
            <a:pPr indent="0" marL="0">
              <a:buNone/>
            </a:pPr>
            <a:r>
              <a:rPr lang="en-US" sz="1500" b="1" dirty="0">
                <a:solidFill>
                  <a:srgbClr val="12211C"/>
                </a:solidFill>
                <a:latin typeface="Yu Gothic" pitchFamily="34" charset="0"/>
                <a:ea typeface="Yu Gothic" pitchFamily="34" charset="-122"/>
                <a:cs typeface="Yu Gothic" pitchFamily="34" charset="-120"/>
              </a:rPr>
              <a:t>RAG検索</a:t>
            </a:r>
            <a:endParaRPr lang="en-US" sz="1500" dirty="0"/>
          </a:p>
        </p:txBody>
      </p:sp>
      <p:sp>
        <p:nvSpPr>
          <p:cNvPr id="28" name="Text 26"/>
          <p:cNvSpPr/>
          <p:nvPr/>
        </p:nvSpPr>
        <p:spPr>
          <a:xfrm>
            <a:off x="9340367" y="2798064"/>
            <a:ext cx="2010080" cy="237744"/>
          </a:xfrm>
          <a:prstGeom prst="rect">
            <a:avLst/>
          </a:prstGeom>
          <a:noFill/>
          <a:ln/>
        </p:spPr>
        <p:txBody>
          <a:bodyPr wrap="square" lIns="0" tIns="0" rIns="0" bIns="0" rtlCol="0" anchor="ctr"/>
          <a:lstStyle/>
          <a:p>
            <a:pPr indent="0" marL="0">
              <a:buNone/>
            </a:pPr>
            <a:r>
              <a:rPr lang="en-US" sz="1100" b="1" dirty="0">
                <a:solidFill>
                  <a:srgbClr val="6E9A85"/>
                </a:solidFill>
                <a:latin typeface="Yu Gothic" pitchFamily="34" charset="0"/>
                <a:ea typeface="Yu Gothic" pitchFamily="34" charset="-122"/>
                <a:cs typeface="Yu Gothic" pitchFamily="34" charset="-120"/>
              </a:rPr>
              <a:t>全期間</a:t>
            </a:r>
            <a:endParaRPr lang="en-US" sz="1100" dirty="0"/>
          </a:p>
        </p:txBody>
      </p:sp>
      <p:sp>
        <p:nvSpPr>
          <p:cNvPr id="29" name="Text 27"/>
          <p:cNvSpPr/>
          <p:nvPr/>
        </p:nvSpPr>
        <p:spPr>
          <a:xfrm>
            <a:off x="9340367" y="3127248"/>
            <a:ext cx="2010080" cy="1188720"/>
          </a:xfrm>
          <a:prstGeom prst="rect">
            <a:avLst/>
          </a:prstGeom>
          <a:noFill/>
          <a:ln/>
        </p:spPr>
        <p:txBody>
          <a:bodyPr wrap="square" lIns="0" tIns="0" rIns="0" bIns="0" rtlCol="0" anchor="ctr"/>
          <a:lstStyle/>
          <a:p>
            <a:pPr indent="0" marL="0">
              <a:lnSpc>
                <a:spcPts val="1800"/>
              </a:lnSpc>
              <a:buNone/>
            </a:pPr>
            <a:r>
              <a:rPr lang="en-US" sz="1150" dirty="0">
                <a:solidFill>
                  <a:srgbClr val="6C7C75"/>
                </a:solidFill>
                <a:latin typeface="Yu Gothic" pitchFamily="34" charset="0"/>
                <a:ea typeface="Yu Gothic" pitchFamily="34" charset="-122"/>
                <a:cs typeface="Yu Gothic" pitchFamily="34" charset="-120"/>
              </a:rPr>
              <a:t>全会話をベクトル化し、関連するときだけ検索して差し込む。「3年前の孫の名前」を思い出せる。</a:t>
            </a:r>
            <a:endParaRPr lang="en-US" sz="1150" dirty="0"/>
          </a:p>
        </p:txBody>
      </p:sp>
      <p:sp>
        <p:nvSpPr>
          <p:cNvPr id="30" name="Shape 28"/>
          <p:cNvSpPr/>
          <p:nvPr/>
        </p:nvSpPr>
        <p:spPr>
          <a:xfrm>
            <a:off x="566928" y="4645152"/>
            <a:ext cx="11057839" cy="1426464"/>
          </a:xfrm>
          <a:prstGeom prst="roundRect">
            <a:avLst>
              <a:gd name="adj" fmla="val 3846"/>
            </a:avLst>
          </a:prstGeom>
          <a:solidFill>
            <a:srgbClr val="F2F7F4"/>
          </a:solidFill>
          <a:ln w="12700">
            <a:solidFill>
              <a:srgbClr val="D6E0DA"/>
            </a:solidFill>
            <a:prstDash val="solid"/>
          </a:ln>
        </p:spPr>
      </p:sp>
      <p:sp>
        <p:nvSpPr>
          <p:cNvPr id="31" name="Text 29"/>
          <p:cNvSpPr/>
          <p:nvPr/>
        </p:nvSpPr>
        <p:spPr>
          <a:xfrm>
            <a:off x="950976" y="4791456"/>
            <a:ext cx="10289743" cy="292608"/>
          </a:xfrm>
          <a:prstGeom prst="rect">
            <a:avLst/>
          </a:prstGeom>
          <a:noFill/>
          <a:ln/>
        </p:spPr>
        <p:txBody>
          <a:bodyPr wrap="square" lIns="0" tIns="0" rIns="0" bIns="0" rtlCol="0" anchor="ctr"/>
          <a:lstStyle/>
          <a:p>
            <a:pPr indent="0" marL="0">
              <a:buNone/>
            </a:pPr>
            <a:r>
              <a:rPr lang="en-US" sz="1350" b="1" dirty="0">
                <a:solidFill>
                  <a:srgbClr val="1F3D34"/>
                </a:solidFill>
                <a:latin typeface="Yu Gothic" pitchFamily="34" charset="0"/>
                <a:ea typeface="Yu Gothic" pitchFamily="34" charset="-122"/>
                <a:cs typeface="Yu Gothic" pitchFamily="34" charset="-120"/>
              </a:rPr>
              <a:t>要件メモの「RAGに詰め込むだけでいい」について</a:t>
            </a:r>
            <a:endParaRPr lang="en-US" sz="1350" dirty="0"/>
          </a:p>
        </p:txBody>
      </p:sp>
      <p:sp>
        <p:nvSpPr>
          <p:cNvPr id="32" name="Text 30"/>
          <p:cNvSpPr/>
          <p:nvPr/>
        </p:nvSpPr>
        <p:spPr>
          <a:xfrm>
            <a:off x="950976" y="5120640"/>
            <a:ext cx="10289743" cy="841248"/>
          </a:xfrm>
          <a:prstGeom prst="rect">
            <a:avLst/>
          </a:prstGeom>
          <a:noFill/>
          <a:ln/>
        </p:spPr>
        <p:txBody>
          <a:bodyPr wrap="square" lIns="0" tIns="0" rIns="0" bIns="0" rtlCol="0" anchor="ctr"/>
          <a:lstStyle/>
          <a:p>
            <a:pPr indent="0" marL="0">
              <a:lnSpc>
                <a:spcPts val="1900"/>
              </a:lnSpc>
              <a:buNone/>
            </a:pPr>
            <a:r>
              <a:rPr lang="en-US" sz="1200" dirty="0">
                <a:solidFill>
                  <a:srgbClr val="12211C"/>
                </a:solidFill>
                <a:latin typeface="Yu Gothic" pitchFamily="34" charset="0"/>
                <a:ea typeface="Yu Gothic" pitchFamily="34" charset="-122"/>
                <a:cs typeface="Yu Gothic" pitchFamily="34" charset="-120"/>
              </a:rPr>
              <a:t>RAGが担当するのは層4だけです。RAG単体では検索に引っかからない話題が「存在しないこと」になり、「昨日の話を忘れている」という、高齢者の方が最も敏感に気づく失敗が起きます。層1〜3を併用する前提で工数を組んでいます。</a:t>
            </a:r>
            <a:endParaRPr lang="en-US" sz="1200" dirty="0"/>
          </a:p>
          <a:p>
            <a:pPr indent="0" marL="0">
              <a:lnSpc>
                <a:spcPts val="1900"/>
              </a:lnSpc>
              <a:buNone/>
            </a:pPr>
            <a:r>
              <a:rPr lang="en-US" sz="1200" dirty="0">
                <a:solidFill>
                  <a:srgbClr val="12211C"/>
                </a:solidFill>
                <a:latin typeface="Yu Gothic" pitchFamily="34" charset="0"/>
                <a:ea typeface="Yu Gothic" pitchFamily="34" charset="-122"/>
                <a:cs typeface="Yu Gothic" pitchFamily="34" charset="-120"/>
              </a:rPr>
              <a:t>保存期間の設定は運用開始後に数値だけで変更できる設計とするため、現時点で確定させる必要はありません。</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57200"/>
            <a:ext cx="365760" cy="365760"/>
          </a:xfrm>
          <a:prstGeom prst="ellipse">
            <a:avLst/>
          </a:prstGeom>
          <a:solidFill>
            <a:srgbClr val="1F3D34"/>
          </a:solidFill>
          <a:ln/>
        </p:spPr>
      </p:sp>
      <p:sp>
        <p:nvSpPr>
          <p:cNvPr id="3" name="Text 1"/>
          <p:cNvSpPr/>
          <p:nvPr/>
        </p:nvSpPr>
        <p:spPr>
          <a:xfrm>
            <a:off x="566928" y="4572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8</a:t>
            </a:r>
            <a:endParaRPr lang="en-US" sz="1200" dirty="0"/>
          </a:p>
        </p:txBody>
      </p:sp>
      <p:sp>
        <p:nvSpPr>
          <p:cNvPr id="4" name="Text 2"/>
          <p:cNvSpPr/>
          <p:nvPr/>
        </p:nvSpPr>
        <p:spPr>
          <a:xfrm>
            <a:off x="1133856" y="384048"/>
            <a:ext cx="10490911" cy="530352"/>
          </a:xfrm>
          <a:prstGeom prst="rect">
            <a:avLst/>
          </a:prstGeom>
          <a:noFill/>
          <a:ln/>
        </p:spPr>
        <p:txBody>
          <a:bodyPr wrap="square" lIns="0" tIns="0" rIns="0" bIns="0" rtlCol="0" anchor="ctr"/>
          <a:lstStyle/>
          <a:p>
            <a:pPr indent="0" marL="0">
              <a:buNone/>
            </a:pPr>
            <a:r>
              <a:rPr lang="en-US" sz="2700" b="1" dirty="0">
                <a:solidFill>
                  <a:srgbClr val="12211C"/>
                </a:solidFill>
                <a:latin typeface="Yu Gothic" pitchFamily="34" charset="0"/>
                <a:ea typeface="Yu Gothic" pitchFamily="34" charset="-122"/>
                <a:cs typeface="Yu Gothic" pitchFamily="34" charset="-120"/>
              </a:rPr>
              <a:t>通知は、Webでも届きます</a:t>
            </a:r>
            <a:endParaRPr lang="en-US" sz="2700" dirty="0"/>
          </a:p>
        </p:txBody>
      </p:sp>
      <p:sp>
        <p:nvSpPr>
          <p:cNvPr id="5" name="Text 3"/>
          <p:cNvSpPr/>
          <p:nvPr/>
        </p:nvSpPr>
        <p:spPr>
          <a:xfrm>
            <a:off x="566928" y="969264"/>
            <a:ext cx="11057839" cy="329184"/>
          </a:xfrm>
          <a:prstGeom prst="rect">
            <a:avLst/>
          </a:prstGeom>
          <a:noFill/>
          <a:ln/>
        </p:spPr>
        <p:txBody>
          <a:bodyPr wrap="square" lIns="0" tIns="0" rIns="0" bIns="0" rtlCol="0" anchor="t"/>
          <a:lstStyle/>
          <a:p>
            <a:pPr indent="0" marL="0">
              <a:buNone/>
            </a:pPr>
            <a:r>
              <a:rPr lang="en-US" sz="1350" dirty="0">
                <a:solidFill>
                  <a:srgbClr val="6C7C75"/>
                </a:solidFill>
                <a:latin typeface="Yu Gothic" pitchFamily="34" charset="0"/>
                <a:ea typeface="Yu Gothic" pitchFamily="34" charset="-122"/>
                <a:cs typeface="Yu Gothic" pitchFamily="34" charset="-120"/>
              </a:rPr>
              <a:t>「Webアプリでは通知できない」は現在の仕様では正確ではありません。ただし推奨はLINEです。</a:t>
            </a:r>
            <a:endParaRPr lang="en-US" sz="13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66928" y="1645920"/>
          <a:ext cx="11057839" cy="914400"/>
        </p:xfrm>
        <a:graphic>
          <a:graphicData uri="http://schemas.openxmlformats.org/drawingml/2006/table">
            <a:tbl>
              <a:tblPr/>
              <a:tblGrid>
                <a:gridCol w="1920240"/>
                <a:gridCol w="1554480"/>
                <a:gridCol w="1143000"/>
                <a:gridCol w="868680"/>
                <a:gridCol w="1143000"/>
                <a:gridCol w="4425696"/>
              </a:tblGrid>
              <a:tr h="365760">
                <a:tc>
                  <a:txBody>
                    <a:bodyPr/>
                    <a:lstStyle/>
                    <a:p>
                      <a:pPr algn="l" indent="0" marL="0">
                        <a:buNone/>
                      </a:pPr>
                      <a:r>
                        <a:rPr lang="en-US" sz="1150" b="1" dirty="0">
                          <a:solidFill>
                            <a:srgbClr val="FFFFFF"/>
                          </a:solidFill>
                          <a:latin typeface="Yu Gothic" pitchFamily="34" charset="0"/>
                          <a:ea typeface="Yu Gothic" pitchFamily="34" charset="-122"/>
                          <a:cs typeface="Yu Gothic" pitchFamily="34" charset="-120"/>
                        </a:rPr>
                        <a:t>方式</a:t>
                      </a:r>
                      <a:endParaRPr lang="en-US" sz="1150" dirty="0">
                        <a:latin typeface="Yu Gothic" charset="0"/>
                        <a:ea typeface="Yu Gothic" charset="0"/>
                        <a:cs typeface="Yu Gothic" charset="0"/>
                      </a:endParaRPr>
                    </a:p>
                  </a:txBody>
                  <a:tcPr marL="91440" marR="91440" marT="45720" marB="45720" anchor="ctr">
                    <a:lnL w="12700" cap="flat" cmpd="sng" algn="ctr">
                      <a:solidFill>
                        <a:srgbClr val="D6E0DA"/>
                      </a:solidFill>
                      <a:prstDash val="solid"/>
                      <a:round/>
                      <a:headEnd type="none" w="med" len="med"/>
                      <a:tailEnd type="none" w="med" len="med"/>
                    </a:lnL>
                    <a:lnR w="12700" cap="flat" cmpd="sng" algn="ctr">
                      <a:solidFill>
                        <a:srgbClr val="D6E0DA"/>
                      </a:solidFill>
                      <a:prstDash val="solid"/>
                      <a:round/>
                      <a:headEnd type="none" w="med" len="med"/>
                      <a:tailEnd type="none" w="med" len="med"/>
                    </a:lnR>
                    <a:lnT w="12700" cap="flat" cmpd="sng" algn="ctr">
                      <a:solidFill>
                        <a:srgbClr val="D6E0DA"/>
                      </a:solidFill>
                      <a:prstDash val="solid"/>
                      <a:round/>
                      <a:headEnd type="none" w="med" len="med"/>
                      <a:tailEnd type="none" w="med" len="med"/>
                    </a:lnT>
                    <a:lnB w="12700" cap="flat" cmpd="sng" algn="ctr">
                      <a:solidFill>
                        <a:srgbClr val="D6E0DA"/>
                      </a:solidFill>
                      <a:prstDash val="solid"/>
                      <a:round/>
                      <a:headEnd type="none" w="med" len="med"/>
                      <a:tailEnd type="none" w="med" len="med"/>
                    </a:lnB>
                    <a:solidFill>
                      <a:srgbClr val="2E5A4C"/>
                    </a:solidFill>
                  </a:tcPr>
                </a:tc>
                <a:tc>
                  <a:txBody>
                    <a:bodyPr/>
                    <a:lstStyle/>
                    <a:p>
                      <a:pPr algn="l" indent="0" marL="0">
                        <a:buNone/>
                      </a:pPr>
                      <a:r>
                        <a:rPr lang="en-US" sz="1150" b="1" dirty="0">
                          <a:solidFill>
                            <a:srgbClr val="FFFFFF"/>
                          </a:solidFill>
                          <a:latin typeface="Yu Gothic" pitchFamily="34" charset="0"/>
                          <a:ea typeface="Yu Gothic" pitchFamily="34" charset="-122"/>
                          <a:cs typeface="Yu Gothic" pitchFamily="34" charset="-120"/>
                        </a:rPr>
                        <a:t>到達</a:t>
                      </a:r>
                      <a:endParaRPr lang="en-US" sz="1150" dirty="0">
                        <a:latin typeface="Yu Gothic" charset="0"/>
                        <a:ea typeface="Yu Gothic" charset="0"/>
                        <a:cs typeface="Yu Gothic" charset="0"/>
                      </a:endParaRPr>
                    </a:p>
                  </a:txBody>
                  <a:tcPr marL="91440" marR="91440" marT="45720" marB="45720" anchor="ctr">
                    <a:lnL w="12700" cap="flat" cmpd="sng" algn="ctr">
                      <a:solidFill>
                        <a:srgbClr val="D6E0DA"/>
                      </a:solidFill>
                      <a:prstDash val="solid"/>
                      <a:round/>
                      <a:headEnd type="none" w="med" len="med"/>
                      <a:tailEnd type="none" w="med" len="med"/>
                    </a:lnL>
                    <a:lnR w="12700" cap="flat" cmpd="sng" algn="ctr">
                      <a:solidFill>
                        <a:srgbClr val="D6E0DA"/>
                      </a:solidFill>
                      <a:prstDash val="solid"/>
                      <a:round/>
                      <a:headEnd type="none" w="med" len="med"/>
                      <a:tailEnd type="none" w="med" len="med"/>
                    </a:lnR>
                    <a:lnT w="12700" cap="flat" cmpd="sng" algn="ctr">
                      <a:solidFill>
                        <a:srgbClr val="D6E0DA"/>
                      </a:solidFill>
                      <a:prstDash val="solid"/>
                      <a:round/>
                      <a:headEnd type="none" w="med" len="med"/>
                      <a:tailEnd type="none" w="med" len="med"/>
                    </a:lnT>
                    <a:lnB w="12700" cap="flat" cmpd="sng" algn="ctr">
                      <a:solidFill>
                        <a:srgbClr val="D6E0DA"/>
                      </a:solidFill>
                      <a:prstDash val="solid"/>
                      <a:round/>
                      <a:headEnd type="none" w="med" len="med"/>
                      <a:tailEnd type="none" w="med" len="med"/>
                    </a:lnB>
                    <a:solidFill>
                      <a:srgbClr val="2E5A4C"/>
                    </a:solidFill>
                  </a:tcPr>
                </a:tc>
                <a:tc>
                  <a:txBody>
                    <a:bodyPr/>
                    <a:lstStyle/>
                    <a:p>
                      <a:pPr algn="l" indent="0" marL="0">
                        <a:buNone/>
                      </a:pPr>
                      <a:r>
                        <a:rPr lang="en-US" sz="1150" b="1" dirty="0">
                          <a:solidFill>
                            <a:srgbClr val="FFFFFF"/>
                          </a:solidFill>
                          <a:latin typeface="Yu Gothic" pitchFamily="34" charset="0"/>
                          <a:ea typeface="Yu Gothic" pitchFamily="34" charset="-122"/>
                          <a:cs typeface="Yu Gothic" pitchFamily="34" charset="-120"/>
                        </a:rPr>
                        <a:t>気づきやすさ</a:t>
                      </a:r>
                      <a:endParaRPr lang="en-US" sz="1150" dirty="0">
                        <a:latin typeface="Yu Gothic" charset="0"/>
                        <a:ea typeface="Yu Gothic" charset="0"/>
                        <a:cs typeface="Yu Gothic" charset="0"/>
                      </a:endParaRPr>
                    </a:p>
                  </a:txBody>
                  <a:tcPr marL="91440" marR="91440" marT="45720" marB="45720" anchor="ctr">
                    <a:lnL w="12700" cap="flat" cmpd="sng" algn="ctr">
                      <a:solidFill>
                        <a:srgbClr val="D6E0DA"/>
                      </a:solidFill>
                      <a:prstDash val="solid"/>
                      <a:round/>
                      <a:headEnd type="none" w="med" len="med"/>
                      <a:tailEnd type="none" w="med" len="med"/>
                    </a:lnL>
                    <a:lnR w="12700" cap="flat" cmpd="sng" algn="ctr">
                      <a:solidFill>
                        <a:srgbClr val="D6E0DA"/>
                      </a:solidFill>
                      <a:prstDash val="solid"/>
                      <a:round/>
                      <a:headEnd type="none" w="med" len="med"/>
                      <a:tailEnd type="none" w="med" len="med"/>
                    </a:lnR>
                    <a:lnT w="12700" cap="flat" cmpd="sng" algn="ctr">
                      <a:solidFill>
                        <a:srgbClr val="D6E0DA"/>
                      </a:solidFill>
                      <a:prstDash val="solid"/>
                      <a:round/>
                      <a:headEnd type="none" w="med" len="med"/>
                      <a:tailEnd type="none" w="med" len="med"/>
                    </a:lnT>
                    <a:lnB w="12700" cap="flat" cmpd="sng" algn="ctr">
                      <a:solidFill>
                        <a:srgbClr val="D6E0DA"/>
                      </a:solidFill>
                      <a:prstDash val="solid"/>
                      <a:round/>
                      <a:headEnd type="none" w="med" len="med"/>
                      <a:tailEnd type="none" w="med" len="med"/>
                    </a:lnB>
                    <a:solidFill>
                      <a:srgbClr val="2E5A4C"/>
                    </a:solidFill>
                  </a:tcPr>
                </a:tc>
                <a:tc>
                  <a:txBody>
                    <a:bodyPr/>
                    <a:lstStyle/>
                    <a:p>
                      <a:pPr algn="r" indent="0" marL="0">
                        <a:buNone/>
                      </a:pPr>
                      <a:r>
                        <a:rPr lang="en-US" sz="1150" b="1" dirty="0">
                          <a:solidFill>
                            <a:srgbClr val="FFFFFF"/>
                          </a:solidFill>
                          <a:latin typeface="Yu Gothic" pitchFamily="34" charset="0"/>
                          <a:ea typeface="Yu Gothic" pitchFamily="34" charset="-122"/>
                          <a:cs typeface="Yu Gothic" pitchFamily="34" charset="-120"/>
                        </a:rPr>
                        <a:t>追加工数</a:t>
                      </a:r>
                      <a:endParaRPr lang="en-US" sz="1150" dirty="0">
                        <a:latin typeface="Yu Gothic" charset="0"/>
                        <a:ea typeface="Yu Gothic" charset="0"/>
                        <a:cs typeface="Yu Gothic" charset="0"/>
                      </a:endParaRPr>
                    </a:p>
                  </a:txBody>
                  <a:tcPr marL="91440" marR="91440" marT="45720" marB="45720" anchor="ctr">
                    <a:lnL w="12700" cap="flat" cmpd="sng" algn="ctr">
                      <a:solidFill>
                        <a:srgbClr val="D6E0DA"/>
                      </a:solidFill>
                      <a:prstDash val="solid"/>
                      <a:round/>
                      <a:headEnd type="none" w="med" len="med"/>
                      <a:tailEnd type="none" w="med" len="med"/>
                    </a:lnL>
                    <a:lnR w="12700" cap="flat" cmpd="sng" algn="ctr">
                      <a:solidFill>
                        <a:srgbClr val="D6E0DA"/>
                      </a:solidFill>
                      <a:prstDash val="solid"/>
                      <a:round/>
                      <a:headEnd type="none" w="med" len="med"/>
                      <a:tailEnd type="none" w="med" len="med"/>
                    </a:lnR>
                    <a:lnT w="12700" cap="flat" cmpd="sng" algn="ctr">
                      <a:solidFill>
                        <a:srgbClr val="D6E0DA"/>
                      </a:solidFill>
                      <a:prstDash val="solid"/>
                      <a:round/>
                      <a:headEnd type="none" w="med" len="med"/>
                      <a:tailEnd type="none" w="med" len="med"/>
                    </a:lnT>
                    <a:lnB w="12700" cap="flat" cmpd="sng" algn="ctr">
                      <a:solidFill>
                        <a:srgbClr val="D6E0DA"/>
                      </a:solidFill>
                      <a:prstDash val="solid"/>
                      <a:round/>
                      <a:headEnd type="none" w="med" len="med"/>
                      <a:tailEnd type="none" w="med" len="med"/>
                    </a:lnB>
                    <a:solidFill>
                      <a:srgbClr val="2E5A4C"/>
                    </a:solidFill>
                  </a:tcPr>
                </a:tc>
                <a:tc>
                  <a:txBody>
                    <a:bodyPr/>
                    <a:lstStyle/>
                    <a:p>
                      <a:pPr algn="r" indent="0" marL="0">
                        <a:buNone/>
                      </a:pPr>
                      <a:r>
                        <a:rPr lang="en-US" sz="1150" b="1" dirty="0">
                          <a:solidFill>
                            <a:srgbClr val="FFFFFF"/>
                          </a:solidFill>
                          <a:latin typeface="Yu Gothic" pitchFamily="34" charset="0"/>
                          <a:ea typeface="Yu Gothic" pitchFamily="34" charset="-122"/>
                          <a:cs typeface="Yu Gothic" pitchFamily="34" charset="-120"/>
                        </a:rPr>
                        <a:t>通信費</a:t>
                      </a:r>
                      <a:endParaRPr lang="en-US" sz="1150" dirty="0">
                        <a:latin typeface="Yu Gothic" charset="0"/>
                        <a:ea typeface="Yu Gothic" charset="0"/>
                        <a:cs typeface="Yu Gothic" charset="0"/>
                      </a:endParaRPr>
                    </a:p>
                  </a:txBody>
                  <a:tcPr marL="91440" marR="91440" marT="45720" marB="45720" anchor="ctr">
                    <a:lnL w="12700" cap="flat" cmpd="sng" algn="ctr">
                      <a:solidFill>
                        <a:srgbClr val="D6E0DA"/>
                      </a:solidFill>
                      <a:prstDash val="solid"/>
                      <a:round/>
                      <a:headEnd type="none" w="med" len="med"/>
                      <a:tailEnd type="none" w="med" len="med"/>
                    </a:lnL>
                    <a:lnR w="12700" cap="flat" cmpd="sng" algn="ctr">
                      <a:solidFill>
                        <a:srgbClr val="D6E0DA"/>
                      </a:solidFill>
                      <a:prstDash val="solid"/>
                      <a:round/>
                      <a:headEnd type="none" w="med" len="med"/>
                      <a:tailEnd type="none" w="med" len="med"/>
                    </a:lnR>
                    <a:lnT w="12700" cap="flat" cmpd="sng" algn="ctr">
                      <a:solidFill>
                        <a:srgbClr val="D6E0DA"/>
                      </a:solidFill>
                      <a:prstDash val="solid"/>
                      <a:round/>
                      <a:headEnd type="none" w="med" len="med"/>
                      <a:tailEnd type="none" w="med" len="med"/>
                    </a:lnT>
                    <a:lnB w="12700" cap="flat" cmpd="sng" algn="ctr">
                      <a:solidFill>
                        <a:srgbClr val="D6E0DA"/>
                      </a:solidFill>
                      <a:prstDash val="solid"/>
                      <a:round/>
                      <a:headEnd type="none" w="med" len="med"/>
                      <a:tailEnd type="none" w="med" len="med"/>
                    </a:lnB>
                    <a:solidFill>
                      <a:srgbClr val="2E5A4C"/>
                    </a:solidFill>
                  </a:tcPr>
                </a:tc>
                <a:tc>
                  <a:txBody>
                    <a:bodyPr/>
                    <a:lstStyle/>
                    <a:p>
                      <a:pPr algn="l" indent="0" marL="0">
                        <a:buNone/>
                      </a:pPr>
                      <a:r>
                        <a:rPr lang="en-US" sz="1150" b="1" dirty="0">
                          <a:solidFill>
                            <a:srgbClr val="FFFFFF"/>
                          </a:solidFill>
                          <a:latin typeface="Yu Gothic" pitchFamily="34" charset="0"/>
                          <a:ea typeface="Yu Gothic" pitchFamily="34" charset="-122"/>
                          <a:cs typeface="Yu Gothic" pitchFamily="34" charset="-120"/>
                        </a:rPr>
                        <a:t>評価</a:t>
                      </a:r>
                      <a:endParaRPr lang="en-US" sz="1150" dirty="0">
                        <a:latin typeface="Yu Gothic" charset="0"/>
                        <a:ea typeface="Yu Gothic" charset="0"/>
                        <a:cs typeface="Yu Gothic" charset="0"/>
                      </a:endParaRPr>
                    </a:p>
                  </a:txBody>
                  <a:tcPr marL="91440" marR="91440" marT="45720" marB="45720" anchor="ctr">
                    <a:lnL w="12700" cap="flat" cmpd="sng" algn="ctr">
                      <a:solidFill>
                        <a:srgbClr val="D6E0DA"/>
                      </a:solidFill>
                      <a:prstDash val="solid"/>
                      <a:round/>
                      <a:headEnd type="none" w="med" len="med"/>
                      <a:tailEnd type="none" w="med" len="med"/>
                    </a:lnL>
                    <a:lnR w="12700" cap="flat" cmpd="sng" algn="ctr">
                      <a:solidFill>
                        <a:srgbClr val="D6E0DA"/>
                      </a:solidFill>
                      <a:prstDash val="solid"/>
                      <a:round/>
                      <a:headEnd type="none" w="med" len="med"/>
                      <a:tailEnd type="none" w="med" len="med"/>
                    </a:lnR>
                    <a:lnT w="12700" cap="flat" cmpd="sng" algn="ctr">
                      <a:solidFill>
                        <a:srgbClr val="D6E0DA"/>
                      </a:solidFill>
                      <a:prstDash val="solid"/>
                      <a:round/>
                      <a:headEnd type="none" w="med" len="med"/>
                      <a:tailEnd type="none" w="med" len="med"/>
                    </a:lnT>
                    <a:lnB w="12700" cap="flat" cmpd="sng" algn="ctr">
                      <a:solidFill>
                        <a:srgbClr val="D6E0DA"/>
                      </a:solidFill>
                      <a:prstDash val="solid"/>
                      <a:round/>
                      <a:headEnd type="none" w="med" len="med"/>
                      <a:tailEnd type="none" w="med" len="med"/>
                    </a:lnB>
                    <a:solidFill>
                      <a:srgbClr val="2E5A4C"/>
                    </a:solidFill>
                  </a:tcPr>
                </a:tc>
              </a:tr>
              <a:tr h="603504">
                <a:tc>
                  <a:txBody>
                    <a:bodyPr/>
                    <a:lstStyle/>
                    <a:p>
                      <a:pPr indent="0" marL="0">
                        <a:buNone/>
                      </a:pPr>
                      <a:r>
                        <a:rPr lang="en-US" sz="1100" dirty="0">
                          <a:solidFill>
                            <a:srgbClr val="12211C"/>
                          </a:solidFill>
                          <a:latin typeface="Yu Gothic" pitchFamily="34" charset="0"/>
                          <a:ea typeface="Yu Gothic" pitchFamily="34" charset="-122"/>
                          <a:cs typeface="Yu Gothic" pitchFamily="34" charset="-120"/>
                        </a:rPr>
                        <a:t>Webプッシュ（PWA）</a:t>
                      </a:r>
                      <a:endParaRPr lang="en-US" sz="1100" dirty="0">
                        <a:latin typeface="Yu Gothic" charset="0"/>
                        <a:ea typeface="Yu Gothic" charset="0"/>
                        <a:cs typeface="Yu Gothic" charset="0"/>
                      </a:endParaRPr>
                    </a:p>
                  </a:txBody>
                  <a:tcPr marL="91440" marR="91440" marT="45720" marB="45720" anchor="ctr">
                    <a:lnL w="12700" cap="flat" cmpd="sng" algn="ctr">
                      <a:solidFill>
                        <a:srgbClr val="D6E0DA"/>
                      </a:solidFill>
                      <a:prstDash val="solid"/>
                      <a:round/>
                      <a:headEnd type="none" w="med" len="med"/>
                      <a:tailEnd type="none" w="med" len="med"/>
                    </a:lnL>
                    <a:lnR w="12700" cap="flat" cmpd="sng" algn="ctr">
                      <a:solidFill>
                        <a:srgbClr val="D6E0DA"/>
                      </a:solidFill>
                      <a:prstDash val="solid"/>
                      <a:round/>
                      <a:headEnd type="none" w="med" len="med"/>
                      <a:tailEnd type="none" w="med" len="med"/>
                    </a:lnR>
                    <a:lnT w="12700" cap="flat" cmpd="sng" algn="ctr">
                      <a:solidFill>
                        <a:srgbClr val="D6E0DA"/>
                      </a:solidFill>
                      <a:prstDash val="solid"/>
                      <a:round/>
                      <a:headEnd type="none" w="med" len="med"/>
                      <a:tailEnd type="none" w="med" len="med"/>
                    </a:lnT>
                    <a:lnB w="12700" cap="flat" cmpd="sng" algn="ctr">
                      <a:solidFill>
                        <a:srgbClr val="D6E0DA"/>
                      </a:solidFill>
                      <a:prstDash val="solid"/>
                      <a:round/>
                      <a:headEnd type="none" w="med" len="med"/>
                      <a:tailEnd type="none" w="med" len="med"/>
                    </a:lnB>
                    <a:solidFill>
                      <a:srgbClr val="FFFFFF"/>
                    </a:solidFill>
                  </a:tcPr>
                </a:tc>
                <a:tc>
                  <a:txBody>
                    <a:bodyPr/>
                    <a:lstStyle/>
                    <a:p>
                      <a:pPr indent="0" marL="0">
                        <a:buNone/>
                      </a:pPr>
                      <a:r>
                        <a:rPr lang="en-US" sz="1100" dirty="0">
                          <a:solidFill>
                            <a:srgbClr val="12211C"/>
                          </a:solidFill>
                          <a:latin typeface="Yu Gothic" pitchFamily="34" charset="0"/>
                          <a:ea typeface="Yu Gothic" pitchFamily="34" charset="-122"/>
                          <a:cs typeface="Yu Gothic" pitchFamily="34" charset="-120"/>
                        </a:rPr>
                        <a:t>Android◎ / iOS△</a:t>
                      </a:r>
                      <a:endParaRPr lang="en-US" sz="1100" dirty="0">
                        <a:latin typeface="Yu Gothic" charset="0"/>
                        <a:ea typeface="Yu Gothic" charset="0"/>
                        <a:cs typeface="Yu Gothic" charset="0"/>
                      </a:endParaRPr>
                    </a:p>
                  </a:txBody>
                  <a:tcPr marL="91440" marR="91440" marT="45720" marB="45720" anchor="ctr">
                    <a:lnL w="12700" cap="flat" cmpd="sng" algn="ctr">
                      <a:solidFill>
                        <a:srgbClr val="D6E0DA"/>
                      </a:solidFill>
                      <a:prstDash val="solid"/>
                      <a:round/>
                      <a:headEnd type="none" w="med" len="med"/>
                      <a:tailEnd type="none" w="med" len="med"/>
                    </a:lnL>
                    <a:lnR w="12700" cap="flat" cmpd="sng" algn="ctr">
                      <a:solidFill>
                        <a:srgbClr val="D6E0DA"/>
                      </a:solidFill>
                      <a:prstDash val="solid"/>
                      <a:round/>
                      <a:headEnd type="none" w="med" len="med"/>
                      <a:tailEnd type="none" w="med" len="med"/>
                    </a:lnR>
                    <a:lnT w="12700" cap="flat" cmpd="sng" algn="ctr">
                      <a:solidFill>
                        <a:srgbClr val="D6E0DA"/>
                      </a:solidFill>
                      <a:prstDash val="solid"/>
                      <a:round/>
                      <a:headEnd type="none" w="med" len="med"/>
                      <a:tailEnd type="none" w="med" len="med"/>
                    </a:lnT>
                    <a:lnB w="12700" cap="flat" cmpd="sng" algn="ctr">
                      <a:solidFill>
                        <a:srgbClr val="D6E0DA"/>
                      </a:solidFill>
                      <a:prstDash val="solid"/>
                      <a:round/>
                      <a:headEnd type="none" w="med" len="med"/>
                      <a:tailEnd type="none" w="med" len="med"/>
                    </a:lnB>
                    <a:solidFill>
                      <a:srgbClr val="FFFFFF"/>
                    </a:solidFill>
                  </a:tcPr>
                </a:tc>
                <a:tc>
                  <a:txBody>
                    <a:bodyPr/>
                    <a:lstStyle/>
                    <a:p>
                      <a:pPr indent="0" marL="0">
                        <a:buNone/>
                      </a:pPr>
                      <a:r>
                        <a:rPr lang="en-US" sz="1100" dirty="0">
                          <a:solidFill>
                            <a:srgbClr val="12211C"/>
                          </a:solidFill>
                          <a:latin typeface="Yu Gothic" pitchFamily="34" charset="0"/>
                          <a:ea typeface="Yu Gothic" pitchFamily="34" charset="-122"/>
                          <a:cs typeface="Yu Gothic" pitchFamily="34" charset="-120"/>
                        </a:rPr>
                        <a:t>△</a:t>
                      </a:r>
                      <a:endParaRPr lang="en-US" sz="1100" dirty="0">
                        <a:latin typeface="Yu Gothic" charset="0"/>
                        <a:ea typeface="Yu Gothic" charset="0"/>
                        <a:cs typeface="Yu Gothic" charset="0"/>
                      </a:endParaRPr>
                    </a:p>
                  </a:txBody>
                  <a:tcPr marL="91440" marR="91440" marT="45720" marB="45720" anchor="ctr">
                    <a:lnL w="12700" cap="flat" cmpd="sng" algn="ctr">
                      <a:solidFill>
                        <a:srgbClr val="D6E0DA"/>
                      </a:solidFill>
                      <a:prstDash val="solid"/>
                      <a:round/>
                      <a:headEnd type="none" w="med" len="med"/>
                      <a:tailEnd type="none" w="med" len="med"/>
                    </a:lnL>
                    <a:lnR w="12700" cap="flat" cmpd="sng" algn="ctr">
                      <a:solidFill>
                        <a:srgbClr val="D6E0DA"/>
                      </a:solidFill>
                      <a:prstDash val="solid"/>
                      <a:round/>
                      <a:headEnd type="none" w="med" len="med"/>
                      <a:tailEnd type="none" w="med" len="med"/>
                    </a:lnR>
                    <a:lnT w="12700" cap="flat" cmpd="sng" algn="ctr">
                      <a:solidFill>
                        <a:srgbClr val="D6E0DA"/>
                      </a:solidFill>
                      <a:prstDash val="solid"/>
                      <a:round/>
                      <a:headEnd type="none" w="med" len="med"/>
                      <a:tailEnd type="none" w="med" len="med"/>
                    </a:lnT>
                    <a:lnB w="12700" cap="flat" cmpd="sng" algn="ctr">
                      <a:solidFill>
                        <a:srgbClr val="D6E0DA"/>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2211C"/>
                          </a:solidFill>
                          <a:latin typeface="Arial" pitchFamily="34" charset="0"/>
                          <a:ea typeface="Arial" pitchFamily="34" charset="-122"/>
                          <a:cs typeface="Arial" pitchFamily="34" charset="-120"/>
                        </a:rPr>
                        <a:t>3人日</a:t>
                      </a:r>
                      <a:endParaRPr lang="en-US" sz="1100" dirty="0">
                        <a:latin typeface="Arial" charset="0"/>
                        <a:ea typeface="Arial" charset="0"/>
                        <a:cs typeface="Arial" charset="0"/>
                      </a:endParaRPr>
                    </a:p>
                  </a:txBody>
                  <a:tcPr marL="91440" marR="91440" marT="45720" marB="45720" anchor="ctr">
                    <a:lnL w="12700" cap="flat" cmpd="sng" algn="ctr">
                      <a:solidFill>
                        <a:srgbClr val="D6E0DA"/>
                      </a:solidFill>
                      <a:prstDash val="solid"/>
                      <a:round/>
                      <a:headEnd type="none" w="med" len="med"/>
                      <a:tailEnd type="none" w="med" len="med"/>
                    </a:lnL>
                    <a:lnR w="12700" cap="flat" cmpd="sng" algn="ctr">
                      <a:solidFill>
                        <a:srgbClr val="D6E0DA"/>
                      </a:solidFill>
                      <a:prstDash val="solid"/>
                      <a:round/>
                      <a:headEnd type="none" w="med" len="med"/>
                      <a:tailEnd type="none" w="med" len="med"/>
                    </a:lnR>
                    <a:lnT w="12700" cap="flat" cmpd="sng" algn="ctr">
                      <a:solidFill>
                        <a:srgbClr val="D6E0DA"/>
                      </a:solidFill>
                      <a:prstDash val="solid"/>
                      <a:round/>
                      <a:headEnd type="none" w="med" len="med"/>
                      <a:tailEnd type="none" w="med" len="med"/>
                    </a:lnT>
                    <a:lnB w="12700" cap="flat" cmpd="sng" algn="ctr">
                      <a:solidFill>
                        <a:srgbClr val="D6E0DA"/>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2211C"/>
                          </a:solidFill>
                          <a:latin typeface="Yu Gothic" pitchFamily="34" charset="0"/>
                          <a:ea typeface="Yu Gothic" pitchFamily="34" charset="-122"/>
                          <a:cs typeface="Yu Gothic" pitchFamily="34" charset="-120"/>
                        </a:rPr>
                        <a:t>無料</a:t>
                      </a:r>
                      <a:endParaRPr lang="en-US" sz="1100" dirty="0">
                        <a:latin typeface="Yu Gothic" charset="0"/>
                        <a:ea typeface="Yu Gothic" charset="0"/>
                        <a:cs typeface="Yu Gothic" charset="0"/>
                      </a:endParaRPr>
                    </a:p>
                  </a:txBody>
                  <a:tcPr marL="91440" marR="91440" marT="45720" marB="45720" anchor="ctr">
                    <a:lnL w="12700" cap="flat" cmpd="sng" algn="ctr">
                      <a:solidFill>
                        <a:srgbClr val="D6E0DA"/>
                      </a:solidFill>
                      <a:prstDash val="solid"/>
                      <a:round/>
                      <a:headEnd type="none" w="med" len="med"/>
                      <a:tailEnd type="none" w="med" len="med"/>
                    </a:lnL>
                    <a:lnR w="12700" cap="flat" cmpd="sng" algn="ctr">
                      <a:solidFill>
                        <a:srgbClr val="D6E0DA"/>
                      </a:solidFill>
                      <a:prstDash val="solid"/>
                      <a:round/>
                      <a:headEnd type="none" w="med" len="med"/>
                      <a:tailEnd type="none" w="med" len="med"/>
                    </a:lnR>
                    <a:lnT w="12700" cap="flat" cmpd="sng" algn="ctr">
                      <a:solidFill>
                        <a:srgbClr val="D6E0DA"/>
                      </a:solidFill>
                      <a:prstDash val="solid"/>
                      <a:round/>
                      <a:headEnd type="none" w="med" len="med"/>
                      <a:tailEnd type="none" w="med" len="med"/>
                    </a:lnT>
                    <a:lnB w="12700" cap="flat" cmpd="sng" algn="ctr">
                      <a:solidFill>
                        <a:srgbClr val="D6E0DA"/>
                      </a:solidFill>
                      <a:prstDash val="solid"/>
                      <a:round/>
                      <a:headEnd type="none" w="med" len="med"/>
                      <a:tailEnd type="none" w="med" len="med"/>
                    </a:lnB>
                    <a:solidFill>
                      <a:srgbClr val="FFFFFF"/>
                    </a:solidFill>
                  </a:tcPr>
                </a:tc>
                <a:tc>
                  <a:txBody>
                    <a:bodyPr/>
                    <a:lstStyle/>
                    <a:p>
                      <a:pPr indent="0" marL="0">
                        <a:buNone/>
                      </a:pPr>
                      <a:r>
                        <a:rPr lang="en-US" sz="1100" dirty="0">
                          <a:solidFill>
                            <a:srgbClr val="12211C"/>
                          </a:solidFill>
                          <a:latin typeface="Yu Gothic" pitchFamily="34" charset="0"/>
                          <a:ea typeface="Yu Gothic" pitchFamily="34" charset="-122"/>
                          <a:cs typeface="Yu Gothic" pitchFamily="34" charset="-120"/>
                        </a:rPr>
                        <a:t>iOSは「ホーム画面に追加」が前提。高齢者ご本人だけでは設定できない</a:t>
                      </a:r>
                      <a:endParaRPr lang="en-US" sz="1100" dirty="0">
                        <a:latin typeface="Yu Gothic" charset="0"/>
                        <a:ea typeface="Yu Gothic" charset="0"/>
                        <a:cs typeface="Yu Gothic" charset="0"/>
                      </a:endParaRPr>
                    </a:p>
                  </a:txBody>
                  <a:tcPr marL="91440" marR="91440" marT="45720" marB="45720" anchor="ctr">
                    <a:lnL w="12700" cap="flat" cmpd="sng" algn="ctr">
                      <a:solidFill>
                        <a:srgbClr val="D6E0DA"/>
                      </a:solidFill>
                      <a:prstDash val="solid"/>
                      <a:round/>
                      <a:headEnd type="none" w="med" len="med"/>
                      <a:tailEnd type="none" w="med" len="med"/>
                    </a:lnL>
                    <a:lnR w="12700" cap="flat" cmpd="sng" algn="ctr">
                      <a:solidFill>
                        <a:srgbClr val="D6E0DA"/>
                      </a:solidFill>
                      <a:prstDash val="solid"/>
                      <a:round/>
                      <a:headEnd type="none" w="med" len="med"/>
                      <a:tailEnd type="none" w="med" len="med"/>
                    </a:lnR>
                    <a:lnT w="12700" cap="flat" cmpd="sng" algn="ctr">
                      <a:solidFill>
                        <a:srgbClr val="D6E0DA"/>
                      </a:solidFill>
                      <a:prstDash val="solid"/>
                      <a:round/>
                      <a:headEnd type="none" w="med" len="med"/>
                      <a:tailEnd type="none" w="med" len="med"/>
                    </a:lnT>
                    <a:lnB w="12700" cap="flat" cmpd="sng" algn="ctr">
                      <a:solidFill>
                        <a:srgbClr val="D6E0DA"/>
                      </a:solidFill>
                      <a:prstDash val="solid"/>
                      <a:round/>
                      <a:headEnd type="none" w="med" len="med"/>
                      <a:tailEnd type="none" w="med" len="med"/>
                    </a:lnB>
                    <a:solidFill>
                      <a:srgbClr val="FFFFFF"/>
                    </a:solidFill>
                  </a:tcPr>
                </a:tc>
              </a:tr>
              <a:tr h="603504">
                <a:tc>
                  <a:txBody>
                    <a:bodyPr/>
                    <a:lstStyle/>
                    <a:p>
                      <a:pPr indent="0" marL="0">
                        <a:buNone/>
                      </a:pPr>
                      <a:r>
                        <a:rPr lang="en-US" sz="1100" b="1" dirty="0">
                          <a:solidFill>
                            <a:srgbClr val="1F3D34"/>
                          </a:solidFill>
                          <a:latin typeface="Yu Gothic" pitchFamily="34" charset="0"/>
                          <a:ea typeface="Yu Gothic" pitchFamily="34" charset="-122"/>
                          <a:cs typeface="Yu Gothic" pitchFamily="34" charset="-120"/>
                        </a:rPr>
                        <a:t>LINE通知</a:t>
                      </a:r>
                      <a:endParaRPr lang="en-US" sz="1100" dirty="0">
                        <a:latin typeface="Yu Gothic" charset="0"/>
                        <a:ea typeface="Yu Gothic" charset="0"/>
                        <a:cs typeface="Yu Gothic" charset="0"/>
                      </a:endParaRPr>
                    </a:p>
                  </a:txBody>
                  <a:tcPr marL="91440" marR="91440" marT="45720" marB="45720" anchor="ctr">
                    <a:lnL w="12700" cap="flat" cmpd="sng" algn="ctr">
                      <a:solidFill>
                        <a:srgbClr val="D6E0DA"/>
                      </a:solidFill>
                      <a:prstDash val="solid"/>
                      <a:round/>
                      <a:headEnd type="none" w="med" len="med"/>
                      <a:tailEnd type="none" w="med" len="med"/>
                    </a:lnL>
                    <a:lnR w="12700" cap="flat" cmpd="sng" algn="ctr">
                      <a:solidFill>
                        <a:srgbClr val="D6E0DA"/>
                      </a:solidFill>
                      <a:prstDash val="solid"/>
                      <a:round/>
                      <a:headEnd type="none" w="med" len="med"/>
                      <a:tailEnd type="none" w="med" len="med"/>
                    </a:lnR>
                    <a:lnT w="12700" cap="flat" cmpd="sng" algn="ctr">
                      <a:solidFill>
                        <a:srgbClr val="D6E0DA"/>
                      </a:solidFill>
                      <a:prstDash val="solid"/>
                      <a:round/>
                      <a:headEnd type="none" w="med" len="med"/>
                      <a:tailEnd type="none" w="med" len="med"/>
                    </a:lnT>
                    <a:lnB w="12700" cap="flat" cmpd="sng" algn="ctr">
                      <a:solidFill>
                        <a:srgbClr val="D6E0DA"/>
                      </a:solidFill>
                      <a:prstDash val="solid"/>
                      <a:round/>
                      <a:headEnd type="none" w="med" len="med"/>
                      <a:tailEnd type="none" w="med" len="med"/>
                    </a:lnB>
                    <a:solidFill>
                      <a:srgbClr val="FFFFFF"/>
                    </a:solidFill>
                  </a:tcPr>
                </a:tc>
                <a:tc>
                  <a:txBody>
                    <a:bodyPr/>
                    <a:lstStyle/>
                    <a:p>
                      <a:pPr indent="0" marL="0">
                        <a:buNone/>
                      </a:pPr>
                      <a:r>
                        <a:rPr lang="en-US" sz="1100" b="1" dirty="0">
                          <a:solidFill>
                            <a:srgbClr val="12211C"/>
                          </a:solidFill>
                          <a:latin typeface="Yu Gothic" pitchFamily="34" charset="0"/>
                          <a:ea typeface="Yu Gothic" pitchFamily="34" charset="-122"/>
                          <a:cs typeface="Yu Gothic" pitchFamily="34" charset="-120"/>
                        </a:rPr>
                        <a:t>◎</a:t>
                      </a:r>
                      <a:endParaRPr lang="en-US" sz="1100" dirty="0">
                        <a:latin typeface="Yu Gothic" charset="0"/>
                        <a:ea typeface="Yu Gothic" charset="0"/>
                        <a:cs typeface="Yu Gothic" charset="0"/>
                      </a:endParaRPr>
                    </a:p>
                  </a:txBody>
                  <a:tcPr marL="91440" marR="91440" marT="45720" marB="45720" anchor="ctr">
                    <a:lnL w="12700" cap="flat" cmpd="sng" algn="ctr">
                      <a:solidFill>
                        <a:srgbClr val="D6E0DA"/>
                      </a:solidFill>
                      <a:prstDash val="solid"/>
                      <a:round/>
                      <a:headEnd type="none" w="med" len="med"/>
                      <a:tailEnd type="none" w="med" len="med"/>
                    </a:lnL>
                    <a:lnR w="12700" cap="flat" cmpd="sng" algn="ctr">
                      <a:solidFill>
                        <a:srgbClr val="D6E0DA"/>
                      </a:solidFill>
                      <a:prstDash val="solid"/>
                      <a:round/>
                      <a:headEnd type="none" w="med" len="med"/>
                      <a:tailEnd type="none" w="med" len="med"/>
                    </a:lnR>
                    <a:lnT w="12700" cap="flat" cmpd="sng" algn="ctr">
                      <a:solidFill>
                        <a:srgbClr val="D6E0DA"/>
                      </a:solidFill>
                      <a:prstDash val="solid"/>
                      <a:round/>
                      <a:headEnd type="none" w="med" len="med"/>
                      <a:tailEnd type="none" w="med" len="med"/>
                    </a:lnT>
                    <a:lnB w="12700" cap="flat" cmpd="sng" algn="ctr">
                      <a:solidFill>
                        <a:srgbClr val="D6E0DA"/>
                      </a:solidFill>
                      <a:prstDash val="solid"/>
                      <a:round/>
                      <a:headEnd type="none" w="med" len="med"/>
                      <a:tailEnd type="none" w="med" len="med"/>
                    </a:lnB>
                    <a:solidFill>
                      <a:srgbClr val="FFFFFF"/>
                    </a:solidFill>
                  </a:tcPr>
                </a:tc>
                <a:tc>
                  <a:txBody>
                    <a:bodyPr/>
                    <a:lstStyle/>
                    <a:p>
                      <a:pPr indent="0" marL="0">
                        <a:buNone/>
                      </a:pPr>
                      <a:r>
                        <a:rPr lang="en-US" sz="1100" b="1" dirty="0">
                          <a:solidFill>
                            <a:srgbClr val="12211C"/>
                          </a:solidFill>
                          <a:latin typeface="Yu Gothic" pitchFamily="34" charset="0"/>
                          <a:ea typeface="Yu Gothic" pitchFamily="34" charset="-122"/>
                          <a:cs typeface="Yu Gothic" pitchFamily="34" charset="-120"/>
                        </a:rPr>
                        <a:t>◎</a:t>
                      </a:r>
                      <a:endParaRPr lang="en-US" sz="1100" dirty="0">
                        <a:latin typeface="Yu Gothic" charset="0"/>
                        <a:ea typeface="Yu Gothic" charset="0"/>
                        <a:cs typeface="Yu Gothic" charset="0"/>
                      </a:endParaRPr>
                    </a:p>
                  </a:txBody>
                  <a:tcPr marL="91440" marR="91440" marT="45720" marB="45720" anchor="ctr">
                    <a:lnL w="12700" cap="flat" cmpd="sng" algn="ctr">
                      <a:solidFill>
                        <a:srgbClr val="D6E0DA"/>
                      </a:solidFill>
                      <a:prstDash val="solid"/>
                      <a:round/>
                      <a:headEnd type="none" w="med" len="med"/>
                      <a:tailEnd type="none" w="med" len="med"/>
                    </a:lnL>
                    <a:lnR w="12700" cap="flat" cmpd="sng" algn="ctr">
                      <a:solidFill>
                        <a:srgbClr val="D6E0DA"/>
                      </a:solidFill>
                      <a:prstDash val="solid"/>
                      <a:round/>
                      <a:headEnd type="none" w="med" len="med"/>
                      <a:tailEnd type="none" w="med" len="med"/>
                    </a:lnR>
                    <a:lnT w="12700" cap="flat" cmpd="sng" algn="ctr">
                      <a:solidFill>
                        <a:srgbClr val="D6E0DA"/>
                      </a:solidFill>
                      <a:prstDash val="solid"/>
                      <a:round/>
                      <a:headEnd type="none" w="med" len="med"/>
                      <a:tailEnd type="none" w="med" len="med"/>
                    </a:lnT>
                    <a:lnB w="12700" cap="flat" cmpd="sng" algn="ctr">
                      <a:solidFill>
                        <a:srgbClr val="D6E0DA"/>
                      </a:solidFill>
                      <a:prstDash val="solid"/>
                      <a:round/>
                      <a:headEnd type="none" w="med" len="med"/>
                      <a:tailEnd type="none" w="med" len="med"/>
                    </a:lnB>
                    <a:solidFill>
                      <a:srgbClr val="FFFFFF"/>
                    </a:solidFill>
                  </a:tcPr>
                </a:tc>
                <a:tc>
                  <a:txBody>
                    <a:bodyPr/>
                    <a:lstStyle/>
                    <a:p>
                      <a:pPr algn="r" indent="0" marL="0">
                        <a:buNone/>
                      </a:pPr>
                      <a:r>
                        <a:rPr lang="en-US" sz="1100" b="1" dirty="0">
                          <a:solidFill>
                            <a:srgbClr val="12211C"/>
                          </a:solidFill>
                          <a:latin typeface="Arial" pitchFamily="34" charset="0"/>
                          <a:ea typeface="Arial" pitchFamily="34" charset="-122"/>
                          <a:cs typeface="Arial" pitchFamily="34" charset="-120"/>
                        </a:rPr>
                        <a:t>4人日</a:t>
                      </a:r>
                      <a:endParaRPr lang="en-US" sz="1100" dirty="0">
                        <a:latin typeface="Arial" charset="0"/>
                        <a:ea typeface="Arial" charset="0"/>
                        <a:cs typeface="Arial" charset="0"/>
                      </a:endParaRPr>
                    </a:p>
                  </a:txBody>
                  <a:tcPr marL="91440" marR="91440" marT="45720" marB="45720" anchor="ctr">
                    <a:lnL w="12700" cap="flat" cmpd="sng" algn="ctr">
                      <a:solidFill>
                        <a:srgbClr val="D6E0DA"/>
                      </a:solidFill>
                      <a:prstDash val="solid"/>
                      <a:round/>
                      <a:headEnd type="none" w="med" len="med"/>
                      <a:tailEnd type="none" w="med" len="med"/>
                    </a:lnL>
                    <a:lnR w="12700" cap="flat" cmpd="sng" algn="ctr">
                      <a:solidFill>
                        <a:srgbClr val="D6E0DA"/>
                      </a:solidFill>
                      <a:prstDash val="solid"/>
                      <a:round/>
                      <a:headEnd type="none" w="med" len="med"/>
                      <a:tailEnd type="none" w="med" len="med"/>
                    </a:lnR>
                    <a:lnT w="12700" cap="flat" cmpd="sng" algn="ctr">
                      <a:solidFill>
                        <a:srgbClr val="D6E0DA"/>
                      </a:solidFill>
                      <a:prstDash val="solid"/>
                      <a:round/>
                      <a:headEnd type="none" w="med" len="med"/>
                      <a:tailEnd type="none" w="med" len="med"/>
                    </a:lnT>
                    <a:lnB w="12700" cap="flat" cmpd="sng" algn="ctr">
                      <a:solidFill>
                        <a:srgbClr val="D6E0DA"/>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2211C"/>
                          </a:solidFill>
                          <a:latin typeface="Arial" pitchFamily="34" charset="0"/>
                          <a:ea typeface="Arial" pitchFamily="34" charset="-122"/>
                          <a:cs typeface="Arial" pitchFamily="34" charset="-120"/>
                        </a:rPr>
                        <a:t>〜3円/通</a:t>
                      </a:r>
                      <a:endParaRPr lang="en-US" sz="1100" dirty="0">
                        <a:latin typeface="Arial" charset="0"/>
                        <a:ea typeface="Arial" charset="0"/>
                        <a:cs typeface="Arial" charset="0"/>
                      </a:endParaRPr>
                    </a:p>
                  </a:txBody>
                  <a:tcPr marL="91440" marR="91440" marT="45720" marB="45720" anchor="ctr">
                    <a:lnL w="12700" cap="flat" cmpd="sng" algn="ctr">
                      <a:solidFill>
                        <a:srgbClr val="D6E0DA"/>
                      </a:solidFill>
                      <a:prstDash val="solid"/>
                      <a:round/>
                      <a:headEnd type="none" w="med" len="med"/>
                      <a:tailEnd type="none" w="med" len="med"/>
                    </a:lnL>
                    <a:lnR w="12700" cap="flat" cmpd="sng" algn="ctr">
                      <a:solidFill>
                        <a:srgbClr val="D6E0DA"/>
                      </a:solidFill>
                      <a:prstDash val="solid"/>
                      <a:round/>
                      <a:headEnd type="none" w="med" len="med"/>
                      <a:tailEnd type="none" w="med" len="med"/>
                    </a:lnR>
                    <a:lnT w="12700" cap="flat" cmpd="sng" algn="ctr">
                      <a:solidFill>
                        <a:srgbClr val="D6E0DA"/>
                      </a:solidFill>
                      <a:prstDash val="solid"/>
                      <a:round/>
                      <a:headEnd type="none" w="med" len="med"/>
                      <a:tailEnd type="none" w="med" len="med"/>
                    </a:lnT>
                    <a:lnB w="12700" cap="flat" cmpd="sng" algn="ctr">
                      <a:solidFill>
                        <a:srgbClr val="D6E0DA"/>
                      </a:solidFill>
                      <a:prstDash val="solid"/>
                      <a:round/>
                      <a:headEnd type="none" w="med" len="med"/>
                      <a:tailEnd type="none" w="med" len="med"/>
                    </a:lnB>
                    <a:solidFill>
                      <a:srgbClr val="FFFFFF"/>
                    </a:solidFill>
                  </a:tcPr>
                </a:tc>
                <a:tc>
                  <a:txBody>
                    <a:bodyPr/>
                    <a:lstStyle/>
                    <a:p>
                      <a:pPr indent="0" marL="0">
                        <a:buNone/>
                      </a:pPr>
                      <a:r>
                        <a:rPr lang="en-US" sz="1100" b="1" dirty="0">
                          <a:solidFill>
                            <a:srgbClr val="1F3D34"/>
                          </a:solidFill>
                          <a:latin typeface="Yu Gothic" pitchFamily="34" charset="0"/>
                          <a:ea typeface="Yu Gothic" pitchFamily="34" charset="-122"/>
                          <a:cs typeface="Yu Gothic" pitchFamily="34" charset="-120"/>
                        </a:rPr>
                        <a:t>推奨。対象層が既に日常的に使っており、端末設定に左右されない</a:t>
                      </a:r>
                      <a:endParaRPr lang="en-US" sz="1100" dirty="0">
                        <a:latin typeface="Yu Gothic" charset="0"/>
                        <a:ea typeface="Yu Gothic" charset="0"/>
                        <a:cs typeface="Yu Gothic" charset="0"/>
                      </a:endParaRPr>
                    </a:p>
                  </a:txBody>
                  <a:tcPr marL="91440" marR="91440" marT="45720" marB="45720" anchor="ctr">
                    <a:lnL w="12700" cap="flat" cmpd="sng" algn="ctr">
                      <a:solidFill>
                        <a:srgbClr val="D6E0DA"/>
                      </a:solidFill>
                      <a:prstDash val="solid"/>
                      <a:round/>
                      <a:headEnd type="none" w="med" len="med"/>
                      <a:tailEnd type="none" w="med" len="med"/>
                    </a:lnL>
                    <a:lnR w="12700" cap="flat" cmpd="sng" algn="ctr">
                      <a:solidFill>
                        <a:srgbClr val="D6E0DA"/>
                      </a:solidFill>
                      <a:prstDash val="solid"/>
                      <a:round/>
                      <a:headEnd type="none" w="med" len="med"/>
                      <a:tailEnd type="none" w="med" len="med"/>
                    </a:lnR>
                    <a:lnT w="12700" cap="flat" cmpd="sng" algn="ctr">
                      <a:solidFill>
                        <a:srgbClr val="D6E0DA"/>
                      </a:solidFill>
                      <a:prstDash val="solid"/>
                      <a:round/>
                      <a:headEnd type="none" w="med" len="med"/>
                      <a:tailEnd type="none" w="med" len="med"/>
                    </a:lnT>
                    <a:lnB w="12700" cap="flat" cmpd="sng" algn="ctr">
                      <a:solidFill>
                        <a:srgbClr val="D6E0DA"/>
                      </a:solidFill>
                      <a:prstDash val="solid"/>
                      <a:round/>
                      <a:headEnd type="none" w="med" len="med"/>
                      <a:tailEnd type="none" w="med" len="med"/>
                    </a:lnB>
                    <a:solidFill>
                      <a:srgbClr val="FFFFFF"/>
                    </a:solidFill>
                  </a:tcPr>
                </a:tc>
              </a:tr>
              <a:tr h="603504">
                <a:tc>
                  <a:txBody>
                    <a:bodyPr/>
                    <a:lstStyle/>
                    <a:p>
                      <a:pPr indent="0" marL="0">
                        <a:buNone/>
                      </a:pPr>
                      <a:r>
                        <a:rPr lang="en-US" sz="1100" dirty="0">
                          <a:solidFill>
                            <a:srgbClr val="12211C"/>
                          </a:solidFill>
                          <a:latin typeface="Yu Gothic" pitchFamily="34" charset="0"/>
                          <a:ea typeface="Yu Gothic" pitchFamily="34" charset="-122"/>
                          <a:cs typeface="Yu Gothic" pitchFamily="34" charset="-120"/>
                        </a:rPr>
                        <a:t>アプリのプッシュ通知</a:t>
                      </a:r>
                      <a:endParaRPr lang="en-US" sz="1100" dirty="0">
                        <a:latin typeface="Yu Gothic" charset="0"/>
                        <a:ea typeface="Yu Gothic" charset="0"/>
                        <a:cs typeface="Yu Gothic" charset="0"/>
                      </a:endParaRPr>
                    </a:p>
                  </a:txBody>
                  <a:tcPr marL="91440" marR="91440" marT="45720" marB="45720" anchor="ctr">
                    <a:lnL w="12700" cap="flat" cmpd="sng" algn="ctr">
                      <a:solidFill>
                        <a:srgbClr val="D6E0DA"/>
                      </a:solidFill>
                      <a:prstDash val="solid"/>
                      <a:round/>
                      <a:headEnd type="none" w="med" len="med"/>
                      <a:tailEnd type="none" w="med" len="med"/>
                    </a:lnL>
                    <a:lnR w="12700" cap="flat" cmpd="sng" algn="ctr">
                      <a:solidFill>
                        <a:srgbClr val="D6E0DA"/>
                      </a:solidFill>
                      <a:prstDash val="solid"/>
                      <a:round/>
                      <a:headEnd type="none" w="med" len="med"/>
                      <a:tailEnd type="none" w="med" len="med"/>
                    </a:lnR>
                    <a:lnT w="12700" cap="flat" cmpd="sng" algn="ctr">
                      <a:solidFill>
                        <a:srgbClr val="D6E0DA"/>
                      </a:solidFill>
                      <a:prstDash val="solid"/>
                      <a:round/>
                      <a:headEnd type="none" w="med" len="med"/>
                      <a:tailEnd type="none" w="med" len="med"/>
                    </a:lnT>
                    <a:lnB w="12700" cap="flat" cmpd="sng" algn="ctr">
                      <a:solidFill>
                        <a:srgbClr val="D6E0DA"/>
                      </a:solidFill>
                      <a:prstDash val="solid"/>
                      <a:round/>
                      <a:headEnd type="none" w="med" len="med"/>
                      <a:tailEnd type="none" w="med" len="med"/>
                    </a:lnB>
                    <a:solidFill>
                      <a:srgbClr val="FFFFFF"/>
                    </a:solidFill>
                  </a:tcPr>
                </a:tc>
                <a:tc>
                  <a:txBody>
                    <a:bodyPr/>
                    <a:lstStyle/>
                    <a:p>
                      <a:pPr indent="0" marL="0">
                        <a:buNone/>
                      </a:pPr>
                      <a:r>
                        <a:rPr lang="en-US" sz="1100" dirty="0">
                          <a:solidFill>
                            <a:srgbClr val="12211C"/>
                          </a:solidFill>
                          <a:latin typeface="Yu Gothic" pitchFamily="34" charset="0"/>
                          <a:ea typeface="Yu Gothic" pitchFamily="34" charset="-122"/>
                          <a:cs typeface="Yu Gothic" pitchFamily="34" charset="-120"/>
                        </a:rPr>
                        <a:t>◎</a:t>
                      </a:r>
                      <a:endParaRPr lang="en-US" sz="1100" dirty="0">
                        <a:latin typeface="Yu Gothic" charset="0"/>
                        <a:ea typeface="Yu Gothic" charset="0"/>
                        <a:cs typeface="Yu Gothic" charset="0"/>
                      </a:endParaRPr>
                    </a:p>
                  </a:txBody>
                  <a:tcPr marL="91440" marR="91440" marT="45720" marB="45720" anchor="ctr">
                    <a:lnL w="12700" cap="flat" cmpd="sng" algn="ctr">
                      <a:solidFill>
                        <a:srgbClr val="D6E0DA"/>
                      </a:solidFill>
                      <a:prstDash val="solid"/>
                      <a:round/>
                      <a:headEnd type="none" w="med" len="med"/>
                      <a:tailEnd type="none" w="med" len="med"/>
                    </a:lnL>
                    <a:lnR w="12700" cap="flat" cmpd="sng" algn="ctr">
                      <a:solidFill>
                        <a:srgbClr val="D6E0DA"/>
                      </a:solidFill>
                      <a:prstDash val="solid"/>
                      <a:round/>
                      <a:headEnd type="none" w="med" len="med"/>
                      <a:tailEnd type="none" w="med" len="med"/>
                    </a:lnR>
                    <a:lnT w="12700" cap="flat" cmpd="sng" algn="ctr">
                      <a:solidFill>
                        <a:srgbClr val="D6E0DA"/>
                      </a:solidFill>
                      <a:prstDash val="solid"/>
                      <a:round/>
                      <a:headEnd type="none" w="med" len="med"/>
                      <a:tailEnd type="none" w="med" len="med"/>
                    </a:lnT>
                    <a:lnB w="12700" cap="flat" cmpd="sng" algn="ctr">
                      <a:solidFill>
                        <a:srgbClr val="D6E0DA"/>
                      </a:solidFill>
                      <a:prstDash val="solid"/>
                      <a:round/>
                      <a:headEnd type="none" w="med" len="med"/>
                      <a:tailEnd type="none" w="med" len="med"/>
                    </a:lnB>
                    <a:solidFill>
                      <a:srgbClr val="FFFFFF"/>
                    </a:solidFill>
                  </a:tcPr>
                </a:tc>
                <a:tc>
                  <a:txBody>
                    <a:bodyPr/>
                    <a:lstStyle/>
                    <a:p>
                      <a:pPr indent="0" marL="0">
                        <a:buNone/>
                      </a:pPr>
                      <a:r>
                        <a:rPr lang="en-US" sz="1100" dirty="0">
                          <a:solidFill>
                            <a:srgbClr val="12211C"/>
                          </a:solidFill>
                          <a:latin typeface="Yu Gothic" pitchFamily="34" charset="0"/>
                          <a:ea typeface="Yu Gothic" pitchFamily="34" charset="-122"/>
                          <a:cs typeface="Yu Gothic" pitchFamily="34" charset="-120"/>
                        </a:rPr>
                        <a:t>○</a:t>
                      </a:r>
                      <a:endParaRPr lang="en-US" sz="1100" dirty="0">
                        <a:latin typeface="Yu Gothic" charset="0"/>
                        <a:ea typeface="Yu Gothic" charset="0"/>
                        <a:cs typeface="Yu Gothic" charset="0"/>
                      </a:endParaRPr>
                    </a:p>
                  </a:txBody>
                  <a:tcPr marL="91440" marR="91440" marT="45720" marB="45720" anchor="ctr">
                    <a:lnL w="12700" cap="flat" cmpd="sng" algn="ctr">
                      <a:solidFill>
                        <a:srgbClr val="D6E0DA"/>
                      </a:solidFill>
                      <a:prstDash val="solid"/>
                      <a:round/>
                      <a:headEnd type="none" w="med" len="med"/>
                      <a:tailEnd type="none" w="med" len="med"/>
                    </a:lnL>
                    <a:lnR w="12700" cap="flat" cmpd="sng" algn="ctr">
                      <a:solidFill>
                        <a:srgbClr val="D6E0DA"/>
                      </a:solidFill>
                      <a:prstDash val="solid"/>
                      <a:round/>
                      <a:headEnd type="none" w="med" len="med"/>
                      <a:tailEnd type="none" w="med" len="med"/>
                    </a:lnR>
                    <a:lnT w="12700" cap="flat" cmpd="sng" algn="ctr">
                      <a:solidFill>
                        <a:srgbClr val="D6E0DA"/>
                      </a:solidFill>
                      <a:prstDash val="solid"/>
                      <a:round/>
                      <a:headEnd type="none" w="med" len="med"/>
                      <a:tailEnd type="none" w="med" len="med"/>
                    </a:lnT>
                    <a:lnB w="12700" cap="flat" cmpd="sng" algn="ctr">
                      <a:solidFill>
                        <a:srgbClr val="D6E0DA"/>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2211C"/>
                          </a:solidFill>
                          <a:latin typeface="Arial" pitchFamily="34" charset="0"/>
                          <a:ea typeface="Arial" pitchFamily="34" charset="-122"/>
                          <a:cs typeface="Arial" pitchFamily="34" charset="-120"/>
                        </a:rPr>
                        <a:t>12人日〜</a:t>
                      </a:r>
                      <a:endParaRPr lang="en-US" sz="1100" dirty="0">
                        <a:latin typeface="Arial" charset="0"/>
                        <a:ea typeface="Arial" charset="0"/>
                        <a:cs typeface="Arial" charset="0"/>
                      </a:endParaRPr>
                    </a:p>
                  </a:txBody>
                  <a:tcPr marL="91440" marR="91440" marT="45720" marB="45720" anchor="ctr">
                    <a:lnL w="12700" cap="flat" cmpd="sng" algn="ctr">
                      <a:solidFill>
                        <a:srgbClr val="D6E0DA"/>
                      </a:solidFill>
                      <a:prstDash val="solid"/>
                      <a:round/>
                      <a:headEnd type="none" w="med" len="med"/>
                      <a:tailEnd type="none" w="med" len="med"/>
                    </a:lnL>
                    <a:lnR w="12700" cap="flat" cmpd="sng" algn="ctr">
                      <a:solidFill>
                        <a:srgbClr val="D6E0DA"/>
                      </a:solidFill>
                      <a:prstDash val="solid"/>
                      <a:round/>
                      <a:headEnd type="none" w="med" len="med"/>
                      <a:tailEnd type="none" w="med" len="med"/>
                    </a:lnR>
                    <a:lnT w="12700" cap="flat" cmpd="sng" algn="ctr">
                      <a:solidFill>
                        <a:srgbClr val="D6E0DA"/>
                      </a:solidFill>
                      <a:prstDash val="solid"/>
                      <a:round/>
                      <a:headEnd type="none" w="med" len="med"/>
                      <a:tailEnd type="none" w="med" len="med"/>
                    </a:lnT>
                    <a:lnB w="12700" cap="flat" cmpd="sng" algn="ctr">
                      <a:solidFill>
                        <a:srgbClr val="D6E0DA"/>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2211C"/>
                          </a:solidFill>
                          <a:latin typeface="Yu Gothic" pitchFamily="34" charset="0"/>
                          <a:ea typeface="Yu Gothic" pitchFamily="34" charset="-122"/>
                          <a:cs typeface="Yu Gothic" pitchFamily="34" charset="-120"/>
                        </a:rPr>
                        <a:t>無料</a:t>
                      </a:r>
                      <a:endParaRPr lang="en-US" sz="1100" dirty="0">
                        <a:latin typeface="Yu Gothic" charset="0"/>
                        <a:ea typeface="Yu Gothic" charset="0"/>
                        <a:cs typeface="Yu Gothic" charset="0"/>
                      </a:endParaRPr>
                    </a:p>
                  </a:txBody>
                  <a:tcPr marL="91440" marR="91440" marT="45720" marB="45720" anchor="ctr">
                    <a:lnL w="12700" cap="flat" cmpd="sng" algn="ctr">
                      <a:solidFill>
                        <a:srgbClr val="D6E0DA"/>
                      </a:solidFill>
                      <a:prstDash val="solid"/>
                      <a:round/>
                      <a:headEnd type="none" w="med" len="med"/>
                      <a:tailEnd type="none" w="med" len="med"/>
                    </a:lnL>
                    <a:lnR w="12700" cap="flat" cmpd="sng" algn="ctr">
                      <a:solidFill>
                        <a:srgbClr val="D6E0DA"/>
                      </a:solidFill>
                      <a:prstDash val="solid"/>
                      <a:round/>
                      <a:headEnd type="none" w="med" len="med"/>
                      <a:tailEnd type="none" w="med" len="med"/>
                    </a:lnR>
                    <a:lnT w="12700" cap="flat" cmpd="sng" algn="ctr">
                      <a:solidFill>
                        <a:srgbClr val="D6E0DA"/>
                      </a:solidFill>
                      <a:prstDash val="solid"/>
                      <a:round/>
                      <a:headEnd type="none" w="med" len="med"/>
                      <a:tailEnd type="none" w="med" len="med"/>
                    </a:lnT>
                    <a:lnB w="12700" cap="flat" cmpd="sng" algn="ctr">
                      <a:solidFill>
                        <a:srgbClr val="D6E0DA"/>
                      </a:solidFill>
                      <a:prstDash val="solid"/>
                      <a:round/>
                      <a:headEnd type="none" w="med" len="med"/>
                      <a:tailEnd type="none" w="med" len="med"/>
                    </a:lnB>
                    <a:solidFill>
                      <a:srgbClr val="FFFFFF"/>
                    </a:solidFill>
                  </a:tcPr>
                </a:tc>
                <a:tc>
                  <a:txBody>
                    <a:bodyPr/>
                    <a:lstStyle/>
                    <a:p>
                      <a:pPr indent="0" marL="0">
                        <a:buNone/>
                      </a:pPr>
                      <a:r>
                        <a:rPr lang="en-US" sz="1100" dirty="0">
                          <a:solidFill>
                            <a:srgbClr val="12211C"/>
                          </a:solidFill>
                          <a:latin typeface="Yu Gothic" pitchFamily="34" charset="0"/>
                          <a:ea typeface="Yu Gothic" pitchFamily="34" charset="-122"/>
                          <a:cs typeface="Yu Gothic" pitchFamily="34" charset="-120"/>
                        </a:rPr>
                        <a:t>最も自由度が高いが、ネイティブアプリ化とストア審査が前提（C案）</a:t>
                      </a:r>
                      <a:endParaRPr lang="en-US" sz="1100" dirty="0">
                        <a:latin typeface="Yu Gothic" charset="0"/>
                        <a:ea typeface="Yu Gothic" charset="0"/>
                        <a:cs typeface="Yu Gothic" charset="0"/>
                      </a:endParaRPr>
                    </a:p>
                  </a:txBody>
                  <a:tcPr marL="91440" marR="91440" marT="45720" marB="45720" anchor="ctr">
                    <a:lnL w="12700" cap="flat" cmpd="sng" algn="ctr">
                      <a:solidFill>
                        <a:srgbClr val="D6E0DA"/>
                      </a:solidFill>
                      <a:prstDash val="solid"/>
                      <a:round/>
                      <a:headEnd type="none" w="med" len="med"/>
                      <a:tailEnd type="none" w="med" len="med"/>
                    </a:lnL>
                    <a:lnR w="12700" cap="flat" cmpd="sng" algn="ctr">
                      <a:solidFill>
                        <a:srgbClr val="D6E0DA"/>
                      </a:solidFill>
                      <a:prstDash val="solid"/>
                      <a:round/>
                      <a:headEnd type="none" w="med" len="med"/>
                      <a:tailEnd type="none" w="med" len="med"/>
                    </a:lnR>
                    <a:lnT w="12700" cap="flat" cmpd="sng" algn="ctr">
                      <a:solidFill>
                        <a:srgbClr val="D6E0DA"/>
                      </a:solidFill>
                      <a:prstDash val="solid"/>
                      <a:round/>
                      <a:headEnd type="none" w="med" len="med"/>
                      <a:tailEnd type="none" w="med" len="med"/>
                    </a:lnT>
                    <a:lnB w="12700" cap="flat" cmpd="sng" algn="ctr">
                      <a:solidFill>
                        <a:srgbClr val="D6E0DA"/>
                      </a:solidFill>
                      <a:prstDash val="solid"/>
                      <a:round/>
                      <a:headEnd type="none" w="med" len="med"/>
                      <a:tailEnd type="none" w="med" len="med"/>
                    </a:lnB>
                    <a:solidFill>
                      <a:srgbClr val="FFFFFF"/>
                    </a:solidFill>
                  </a:tcPr>
                </a:tc>
              </a:tr>
              <a:tr h="603504">
                <a:tc>
                  <a:txBody>
                    <a:bodyPr/>
                    <a:lstStyle/>
                    <a:p>
                      <a:pPr indent="0" marL="0">
                        <a:buNone/>
                      </a:pPr>
                      <a:r>
                        <a:rPr lang="en-US" sz="1100" dirty="0">
                          <a:solidFill>
                            <a:srgbClr val="12211C"/>
                          </a:solidFill>
                          <a:latin typeface="Yu Gothic" pitchFamily="34" charset="0"/>
                          <a:ea typeface="Yu Gothic" pitchFamily="34" charset="-122"/>
                          <a:cs typeface="Yu Gothic" pitchFamily="34" charset="-120"/>
                        </a:rPr>
                        <a:t>SMS</a:t>
                      </a:r>
                      <a:endParaRPr lang="en-US" sz="1100" dirty="0">
                        <a:latin typeface="Yu Gothic" charset="0"/>
                        <a:ea typeface="Yu Gothic" charset="0"/>
                        <a:cs typeface="Yu Gothic" charset="0"/>
                      </a:endParaRPr>
                    </a:p>
                  </a:txBody>
                  <a:tcPr marL="91440" marR="91440" marT="45720" marB="45720" anchor="ctr">
                    <a:lnL w="12700" cap="flat" cmpd="sng" algn="ctr">
                      <a:solidFill>
                        <a:srgbClr val="D6E0DA"/>
                      </a:solidFill>
                      <a:prstDash val="solid"/>
                      <a:round/>
                      <a:headEnd type="none" w="med" len="med"/>
                      <a:tailEnd type="none" w="med" len="med"/>
                    </a:lnL>
                    <a:lnR w="12700" cap="flat" cmpd="sng" algn="ctr">
                      <a:solidFill>
                        <a:srgbClr val="D6E0DA"/>
                      </a:solidFill>
                      <a:prstDash val="solid"/>
                      <a:round/>
                      <a:headEnd type="none" w="med" len="med"/>
                      <a:tailEnd type="none" w="med" len="med"/>
                    </a:lnR>
                    <a:lnT w="12700" cap="flat" cmpd="sng" algn="ctr">
                      <a:solidFill>
                        <a:srgbClr val="D6E0DA"/>
                      </a:solidFill>
                      <a:prstDash val="solid"/>
                      <a:round/>
                      <a:headEnd type="none" w="med" len="med"/>
                      <a:tailEnd type="none" w="med" len="med"/>
                    </a:lnT>
                    <a:lnB w="12700" cap="flat" cmpd="sng" algn="ctr">
                      <a:solidFill>
                        <a:srgbClr val="D6E0DA"/>
                      </a:solidFill>
                      <a:prstDash val="solid"/>
                      <a:round/>
                      <a:headEnd type="none" w="med" len="med"/>
                      <a:tailEnd type="none" w="med" len="med"/>
                    </a:lnB>
                    <a:solidFill>
                      <a:srgbClr val="FFFFFF"/>
                    </a:solidFill>
                  </a:tcPr>
                </a:tc>
                <a:tc>
                  <a:txBody>
                    <a:bodyPr/>
                    <a:lstStyle/>
                    <a:p>
                      <a:pPr indent="0" marL="0">
                        <a:buNone/>
                      </a:pPr>
                      <a:r>
                        <a:rPr lang="en-US" sz="1100" dirty="0">
                          <a:solidFill>
                            <a:srgbClr val="12211C"/>
                          </a:solidFill>
                          <a:latin typeface="Yu Gothic" pitchFamily="34" charset="0"/>
                          <a:ea typeface="Yu Gothic" pitchFamily="34" charset="-122"/>
                          <a:cs typeface="Yu Gothic" pitchFamily="34" charset="-120"/>
                        </a:rPr>
                        <a:t>◎</a:t>
                      </a:r>
                      <a:endParaRPr lang="en-US" sz="1100" dirty="0">
                        <a:latin typeface="Yu Gothic" charset="0"/>
                        <a:ea typeface="Yu Gothic" charset="0"/>
                        <a:cs typeface="Yu Gothic" charset="0"/>
                      </a:endParaRPr>
                    </a:p>
                  </a:txBody>
                  <a:tcPr marL="91440" marR="91440" marT="45720" marB="45720" anchor="ctr">
                    <a:lnL w="12700" cap="flat" cmpd="sng" algn="ctr">
                      <a:solidFill>
                        <a:srgbClr val="D6E0DA"/>
                      </a:solidFill>
                      <a:prstDash val="solid"/>
                      <a:round/>
                      <a:headEnd type="none" w="med" len="med"/>
                      <a:tailEnd type="none" w="med" len="med"/>
                    </a:lnL>
                    <a:lnR w="12700" cap="flat" cmpd="sng" algn="ctr">
                      <a:solidFill>
                        <a:srgbClr val="D6E0DA"/>
                      </a:solidFill>
                      <a:prstDash val="solid"/>
                      <a:round/>
                      <a:headEnd type="none" w="med" len="med"/>
                      <a:tailEnd type="none" w="med" len="med"/>
                    </a:lnR>
                    <a:lnT w="12700" cap="flat" cmpd="sng" algn="ctr">
                      <a:solidFill>
                        <a:srgbClr val="D6E0DA"/>
                      </a:solidFill>
                      <a:prstDash val="solid"/>
                      <a:round/>
                      <a:headEnd type="none" w="med" len="med"/>
                      <a:tailEnd type="none" w="med" len="med"/>
                    </a:lnT>
                    <a:lnB w="12700" cap="flat" cmpd="sng" algn="ctr">
                      <a:solidFill>
                        <a:srgbClr val="D6E0DA"/>
                      </a:solidFill>
                      <a:prstDash val="solid"/>
                      <a:round/>
                      <a:headEnd type="none" w="med" len="med"/>
                      <a:tailEnd type="none" w="med" len="med"/>
                    </a:lnB>
                    <a:solidFill>
                      <a:srgbClr val="FFFFFF"/>
                    </a:solidFill>
                  </a:tcPr>
                </a:tc>
                <a:tc>
                  <a:txBody>
                    <a:bodyPr/>
                    <a:lstStyle/>
                    <a:p>
                      <a:pPr indent="0" marL="0">
                        <a:buNone/>
                      </a:pPr>
                      <a:r>
                        <a:rPr lang="en-US" sz="1100" dirty="0">
                          <a:solidFill>
                            <a:srgbClr val="12211C"/>
                          </a:solidFill>
                          <a:latin typeface="Yu Gothic" pitchFamily="34" charset="0"/>
                          <a:ea typeface="Yu Gothic" pitchFamily="34" charset="-122"/>
                          <a:cs typeface="Yu Gothic" pitchFamily="34" charset="-120"/>
                        </a:rPr>
                        <a:t>○</a:t>
                      </a:r>
                      <a:endParaRPr lang="en-US" sz="1100" dirty="0">
                        <a:latin typeface="Yu Gothic" charset="0"/>
                        <a:ea typeface="Yu Gothic" charset="0"/>
                        <a:cs typeface="Yu Gothic" charset="0"/>
                      </a:endParaRPr>
                    </a:p>
                  </a:txBody>
                  <a:tcPr marL="91440" marR="91440" marT="45720" marB="45720" anchor="ctr">
                    <a:lnL w="12700" cap="flat" cmpd="sng" algn="ctr">
                      <a:solidFill>
                        <a:srgbClr val="D6E0DA"/>
                      </a:solidFill>
                      <a:prstDash val="solid"/>
                      <a:round/>
                      <a:headEnd type="none" w="med" len="med"/>
                      <a:tailEnd type="none" w="med" len="med"/>
                    </a:lnL>
                    <a:lnR w="12700" cap="flat" cmpd="sng" algn="ctr">
                      <a:solidFill>
                        <a:srgbClr val="D6E0DA"/>
                      </a:solidFill>
                      <a:prstDash val="solid"/>
                      <a:round/>
                      <a:headEnd type="none" w="med" len="med"/>
                      <a:tailEnd type="none" w="med" len="med"/>
                    </a:lnR>
                    <a:lnT w="12700" cap="flat" cmpd="sng" algn="ctr">
                      <a:solidFill>
                        <a:srgbClr val="D6E0DA"/>
                      </a:solidFill>
                      <a:prstDash val="solid"/>
                      <a:round/>
                      <a:headEnd type="none" w="med" len="med"/>
                      <a:tailEnd type="none" w="med" len="med"/>
                    </a:lnT>
                    <a:lnB w="12700" cap="flat" cmpd="sng" algn="ctr">
                      <a:solidFill>
                        <a:srgbClr val="D6E0DA"/>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2211C"/>
                          </a:solidFill>
                          <a:latin typeface="Arial" pitchFamily="34" charset="0"/>
                          <a:ea typeface="Arial" pitchFamily="34" charset="-122"/>
                          <a:cs typeface="Arial" pitchFamily="34" charset="-120"/>
                        </a:rPr>
                        <a:t>2人日</a:t>
                      </a:r>
                      <a:endParaRPr lang="en-US" sz="1100" dirty="0">
                        <a:latin typeface="Arial" charset="0"/>
                        <a:ea typeface="Arial" charset="0"/>
                        <a:cs typeface="Arial" charset="0"/>
                      </a:endParaRPr>
                    </a:p>
                  </a:txBody>
                  <a:tcPr marL="91440" marR="91440" marT="45720" marB="45720" anchor="ctr">
                    <a:lnL w="12700" cap="flat" cmpd="sng" algn="ctr">
                      <a:solidFill>
                        <a:srgbClr val="D6E0DA"/>
                      </a:solidFill>
                      <a:prstDash val="solid"/>
                      <a:round/>
                      <a:headEnd type="none" w="med" len="med"/>
                      <a:tailEnd type="none" w="med" len="med"/>
                    </a:lnL>
                    <a:lnR w="12700" cap="flat" cmpd="sng" algn="ctr">
                      <a:solidFill>
                        <a:srgbClr val="D6E0DA"/>
                      </a:solidFill>
                      <a:prstDash val="solid"/>
                      <a:round/>
                      <a:headEnd type="none" w="med" len="med"/>
                      <a:tailEnd type="none" w="med" len="med"/>
                    </a:lnR>
                    <a:lnT w="12700" cap="flat" cmpd="sng" algn="ctr">
                      <a:solidFill>
                        <a:srgbClr val="D6E0DA"/>
                      </a:solidFill>
                      <a:prstDash val="solid"/>
                      <a:round/>
                      <a:headEnd type="none" w="med" len="med"/>
                      <a:tailEnd type="none" w="med" len="med"/>
                    </a:lnT>
                    <a:lnB w="12700" cap="flat" cmpd="sng" algn="ctr">
                      <a:solidFill>
                        <a:srgbClr val="D6E0DA"/>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2211C"/>
                          </a:solidFill>
                          <a:latin typeface="Arial" pitchFamily="34" charset="0"/>
                          <a:ea typeface="Arial" pitchFamily="34" charset="-122"/>
                          <a:cs typeface="Arial" pitchFamily="34" charset="-120"/>
                        </a:rPr>
                        <a:t>10円前後/通</a:t>
                      </a:r>
                      <a:endParaRPr lang="en-US" sz="1100" dirty="0">
                        <a:latin typeface="Arial" charset="0"/>
                        <a:ea typeface="Arial" charset="0"/>
                        <a:cs typeface="Arial" charset="0"/>
                      </a:endParaRPr>
                    </a:p>
                  </a:txBody>
                  <a:tcPr marL="91440" marR="91440" marT="45720" marB="45720" anchor="ctr">
                    <a:lnL w="12700" cap="flat" cmpd="sng" algn="ctr">
                      <a:solidFill>
                        <a:srgbClr val="D6E0DA"/>
                      </a:solidFill>
                      <a:prstDash val="solid"/>
                      <a:round/>
                      <a:headEnd type="none" w="med" len="med"/>
                      <a:tailEnd type="none" w="med" len="med"/>
                    </a:lnL>
                    <a:lnR w="12700" cap="flat" cmpd="sng" algn="ctr">
                      <a:solidFill>
                        <a:srgbClr val="D6E0DA"/>
                      </a:solidFill>
                      <a:prstDash val="solid"/>
                      <a:round/>
                      <a:headEnd type="none" w="med" len="med"/>
                      <a:tailEnd type="none" w="med" len="med"/>
                    </a:lnR>
                    <a:lnT w="12700" cap="flat" cmpd="sng" algn="ctr">
                      <a:solidFill>
                        <a:srgbClr val="D6E0DA"/>
                      </a:solidFill>
                      <a:prstDash val="solid"/>
                      <a:round/>
                      <a:headEnd type="none" w="med" len="med"/>
                      <a:tailEnd type="none" w="med" len="med"/>
                    </a:lnT>
                    <a:lnB w="12700" cap="flat" cmpd="sng" algn="ctr">
                      <a:solidFill>
                        <a:srgbClr val="D6E0DA"/>
                      </a:solidFill>
                      <a:prstDash val="solid"/>
                      <a:round/>
                      <a:headEnd type="none" w="med" len="med"/>
                      <a:tailEnd type="none" w="med" len="med"/>
                    </a:lnB>
                    <a:solidFill>
                      <a:srgbClr val="FFFFFF"/>
                    </a:solidFill>
                  </a:tcPr>
                </a:tc>
                <a:tc>
                  <a:txBody>
                    <a:bodyPr/>
                    <a:lstStyle/>
                    <a:p>
                      <a:pPr indent="0" marL="0">
                        <a:buNone/>
                      </a:pPr>
                      <a:r>
                        <a:rPr lang="en-US" sz="1100" dirty="0">
                          <a:solidFill>
                            <a:srgbClr val="12211C"/>
                          </a:solidFill>
                          <a:latin typeface="Yu Gothic" pitchFamily="34" charset="0"/>
                          <a:ea typeface="Yu Gothic" pitchFamily="34" charset="-122"/>
                          <a:cs typeface="Yu Gothic" pitchFamily="34" charset="-120"/>
                        </a:rPr>
                        <a:t>確実だが無機質。重要連絡の予備手段として持つ</a:t>
                      </a:r>
                      <a:endParaRPr lang="en-US" sz="1100" dirty="0">
                        <a:latin typeface="Yu Gothic" charset="0"/>
                        <a:ea typeface="Yu Gothic" charset="0"/>
                        <a:cs typeface="Yu Gothic" charset="0"/>
                      </a:endParaRPr>
                    </a:p>
                  </a:txBody>
                  <a:tcPr marL="91440" marR="91440" marT="45720" marB="45720" anchor="ctr">
                    <a:lnL w="12700" cap="flat" cmpd="sng" algn="ctr">
                      <a:solidFill>
                        <a:srgbClr val="D6E0DA"/>
                      </a:solidFill>
                      <a:prstDash val="solid"/>
                      <a:round/>
                      <a:headEnd type="none" w="med" len="med"/>
                      <a:tailEnd type="none" w="med" len="med"/>
                    </a:lnL>
                    <a:lnR w="12700" cap="flat" cmpd="sng" algn="ctr">
                      <a:solidFill>
                        <a:srgbClr val="D6E0DA"/>
                      </a:solidFill>
                      <a:prstDash val="solid"/>
                      <a:round/>
                      <a:headEnd type="none" w="med" len="med"/>
                      <a:tailEnd type="none" w="med" len="med"/>
                    </a:lnR>
                    <a:lnT w="12700" cap="flat" cmpd="sng" algn="ctr">
                      <a:solidFill>
                        <a:srgbClr val="D6E0DA"/>
                      </a:solidFill>
                      <a:prstDash val="solid"/>
                      <a:round/>
                      <a:headEnd type="none" w="med" len="med"/>
                      <a:tailEnd type="none" w="med" len="med"/>
                    </a:lnT>
                    <a:lnB w="12700" cap="flat" cmpd="sng" algn="ctr">
                      <a:solidFill>
                        <a:srgbClr val="D6E0DA"/>
                      </a:solidFill>
                      <a:prstDash val="solid"/>
                      <a:round/>
                      <a:headEnd type="none" w="med" len="med"/>
                      <a:tailEnd type="none" w="med" len="med"/>
                    </a:lnB>
                    <a:solidFill>
                      <a:srgbClr val="FFFFFF"/>
                    </a:solidFill>
                  </a:tcPr>
                </a:tc>
              </a:tr>
              <a:tr h="603504">
                <a:tc>
                  <a:txBody>
                    <a:bodyPr/>
                    <a:lstStyle/>
                    <a:p>
                      <a:pPr indent="0" marL="0">
                        <a:buNone/>
                      </a:pPr>
                      <a:r>
                        <a:rPr lang="en-US" sz="1100" dirty="0">
                          <a:solidFill>
                            <a:srgbClr val="12211C"/>
                          </a:solidFill>
                          <a:latin typeface="Yu Gothic" pitchFamily="34" charset="0"/>
                          <a:ea typeface="Yu Gothic" pitchFamily="34" charset="-122"/>
                          <a:cs typeface="Yu Gothic" pitchFamily="34" charset="-120"/>
                        </a:rPr>
                        <a:t>自動音声架電</a:t>
                      </a:r>
                      <a:endParaRPr lang="en-US" sz="1100" dirty="0">
                        <a:latin typeface="Yu Gothic" charset="0"/>
                        <a:ea typeface="Yu Gothic" charset="0"/>
                        <a:cs typeface="Yu Gothic" charset="0"/>
                      </a:endParaRPr>
                    </a:p>
                  </a:txBody>
                  <a:tcPr marL="91440" marR="91440" marT="45720" marB="45720" anchor="ctr">
                    <a:lnL w="12700" cap="flat" cmpd="sng" algn="ctr">
                      <a:solidFill>
                        <a:srgbClr val="D6E0DA"/>
                      </a:solidFill>
                      <a:prstDash val="solid"/>
                      <a:round/>
                      <a:headEnd type="none" w="med" len="med"/>
                      <a:tailEnd type="none" w="med" len="med"/>
                    </a:lnL>
                    <a:lnR w="12700" cap="flat" cmpd="sng" algn="ctr">
                      <a:solidFill>
                        <a:srgbClr val="D6E0DA"/>
                      </a:solidFill>
                      <a:prstDash val="solid"/>
                      <a:round/>
                      <a:headEnd type="none" w="med" len="med"/>
                      <a:tailEnd type="none" w="med" len="med"/>
                    </a:lnR>
                    <a:lnT w="12700" cap="flat" cmpd="sng" algn="ctr">
                      <a:solidFill>
                        <a:srgbClr val="D6E0DA"/>
                      </a:solidFill>
                      <a:prstDash val="solid"/>
                      <a:round/>
                      <a:headEnd type="none" w="med" len="med"/>
                      <a:tailEnd type="none" w="med" len="med"/>
                    </a:lnT>
                    <a:lnB w="12700" cap="flat" cmpd="sng" algn="ctr">
                      <a:solidFill>
                        <a:srgbClr val="D6E0DA"/>
                      </a:solidFill>
                      <a:prstDash val="solid"/>
                      <a:round/>
                      <a:headEnd type="none" w="med" len="med"/>
                      <a:tailEnd type="none" w="med" len="med"/>
                    </a:lnB>
                    <a:solidFill>
                      <a:srgbClr val="FFFFFF"/>
                    </a:solidFill>
                  </a:tcPr>
                </a:tc>
                <a:tc>
                  <a:txBody>
                    <a:bodyPr/>
                    <a:lstStyle/>
                    <a:p>
                      <a:pPr indent="0" marL="0">
                        <a:buNone/>
                      </a:pPr>
                      <a:r>
                        <a:rPr lang="en-US" sz="1100" dirty="0">
                          <a:solidFill>
                            <a:srgbClr val="12211C"/>
                          </a:solidFill>
                          <a:latin typeface="Yu Gothic" pitchFamily="34" charset="0"/>
                          <a:ea typeface="Yu Gothic" pitchFamily="34" charset="-122"/>
                          <a:cs typeface="Yu Gothic" pitchFamily="34" charset="-120"/>
                        </a:rPr>
                        <a:t>◎</a:t>
                      </a:r>
                      <a:endParaRPr lang="en-US" sz="1100" dirty="0">
                        <a:latin typeface="Yu Gothic" charset="0"/>
                        <a:ea typeface="Yu Gothic" charset="0"/>
                        <a:cs typeface="Yu Gothic" charset="0"/>
                      </a:endParaRPr>
                    </a:p>
                  </a:txBody>
                  <a:tcPr marL="91440" marR="91440" marT="45720" marB="45720" anchor="ctr">
                    <a:lnL w="12700" cap="flat" cmpd="sng" algn="ctr">
                      <a:solidFill>
                        <a:srgbClr val="D6E0DA"/>
                      </a:solidFill>
                      <a:prstDash val="solid"/>
                      <a:round/>
                      <a:headEnd type="none" w="med" len="med"/>
                      <a:tailEnd type="none" w="med" len="med"/>
                    </a:lnL>
                    <a:lnR w="12700" cap="flat" cmpd="sng" algn="ctr">
                      <a:solidFill>
                        <a:srgbClr val="D6E0DA"/>
                      </a:solidFill>
                      <a:prstDash val="solid"/>
                      <a:round/>
                      <a:headEnd type="none" w="med" len="med"/>
                      <a:tailEnd type="none" w="med" len="med"/>
                    </a:lnR>
                    <a:lnT w="12700" cap="flat" cmpd="sng" algn="ctr">
                      <a:solidFill>
                        <a:srgbClr val="D6E0DA"/>
                      </a:solidFill>
                      <a:prstDash val="solid"/>
                      <a:round/>
                      <a:headEnd type="none" w="med" len="med"/>
                      <a:tailEnd type="none" w="med" len="med"/>
                    </a:lnT>
                    <a:lnB w="12700" cap="flat" cmpd="sng" algn="ctr">
                      <a:solidFill>
                        <a:srgbClr val="D6E0DA"/>
                      </a:solidFill>
                      <a:prstDash val="solid"/>
                      <a:round/>
                      <a:headEnd type="none" w="med" len="med"/>
                      <a:tailEnd type="none" w="med" len="med"/>
                    </a:lnB>
                    <a:solidFill>
                      <a:srgbClr val="FFFFFF"/>
                    </a:solidFill>
                  </a:tcPr>
                </a:tc>
                <a:tc>
                  <a:txBody>
                    <a:bodyPr/>
                    <a:lstStyle/>
                    <a:p>
                      <a:pPr indent="0" marL="0">
                        <a:buNone/>
                      </a:pPr>
                      <a:r>
                        <a:rPr lang="en-US" sz="1100" dirty="0">
                          <a:solidFill>
                            <a:srgbClr val="12211C"/>
                          </a:solidFill>
                          <a:latin typeface="Yu Gothic" pitchFamily="34" charset="0"/>
                          <a:ea typeface="Yu Gothic" pitchFamily="34" charset="-122"/>
                          <a:cs typeface="Yu Gothic" pitchFamily="34" charset="-120"/>
                        </a:rPr>
                        <a:t>◎</a:t>
                      </a:r>
                      <a:endParaRPr lang="en-US" sz="1100" dirty="0">
                        <a:latin typeface="Yu Gothic" charset="0"/>
                        <a:ea typeface="Yu Gothic" charset="0"/>
                        <a:cs typeface="Yu Gothic" charset="0"/>
                      </a:endParaRPr>
                    </a:p>
                  </a:txBody>
                  <a:tcPr marL="91440" marR="91440" marT="45720" marB="45720" anchor="ctr">
                    <a:lnL w="12700" cap="flat" cmpd="sng" algn="ctr">
                      <a:solidFill>
                        <a:srgbClr val="D6E0DA"/>
                      </a:solidFill>
                      <a:prstDash val="solid"/>
                      <a:round/>
                      <a:headEnd type="none" w="med" len="med"/>
                      <a:tailEnd type="none" w="med" len="med"/>
                    </a:lnL>
                    <a:lnR w="12700" cap="flat" cmpd="sng" algn="ctr">
                      <a:solidFill>
                        <a:srgbClr val="D6E0DA"/>
                      </a:solidFill>
                      <a:prstDash val="solid"/>
                      <a:round/>
                      <a:headEnd type="none" w="med" len="med"/>
                      <a:tailEnd type="none" w="med" len="med"/>
                    </a:lnR>
                    <a:lnT w="12700" cap="flat" cmpd="sng" algn="ctr">
                      <a:solidFill>
                        <a:srgbClr val="D6E0DA"/>
                      </a:solidFill>
                      <a:prstDash val="solid"/>
                      <a:round/>
                      <a:headEnd type="none" w="med" len="med"/>
                      <a:tailEnd type="none" w="med" len="med"/>
                    </a:lnT>
                    <a:lnB w="12700" cap="flat" cmpd="sng" algn="ctr">
                      <a:solidFill>
                        <a:srgbClr val="D6E0DA"/>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2211C"/>
                          </a:solidFill>
                          <a:latin typeface="Arial" pitchFamily="34" charset="0"/>
                          <a:ea typeface="Arial" pitchFamily="34" charset="-122"/>
                          <a:cs typeface="Arial" pitchFamily="34" charset="-120"/>
                        </a:rPr>
                        <a:t>6人日</a:t>
                      </a:r>
                      <a:endParaRPr lang="en-US" sz="1100" dirty="0">
                        <a:latin typeface="Arial" charset="0"/>
                        <a:ea typeface="Arial" charset="0"/>
                        <a:cs typeface="Arial" charset="0"/>
                      </a:endParaRPr>
                    </a:p>
                  </a:txBody>
                  <a:tcPr marL="91440" marR="91440" marT="45720" marB="45720" anchor="ctr">
                    <a:lnL w="12700" cap="flat" cmpd="sng" algn="ctr">
                      <a:solidFill>
                        <a:srgbClr val="D6E0DA"/>
                      </a:solidFill>
                      <a:prstDash val="solid"/>
                      <a:round/>
                      <a:headEnd type="none" w="med" len="med"/>
                      <a:tailEnd type="none" w="med" len="med"/>
                    </a:lnL>
                    <a:lnR w="12700" cap="flat" cmpd="sng" algn="ctr">
                      <a:solidFill>
                        <a:srgbClr val="D6E0DA"/>
                      </a:solidFill>
                      <a:prstDash val="solid"/>
                      <a:round/>
                      <a:headEnd type="none" w="med" len="med"/>
                      <a:tailEnd type="none" w="med" len="med"/>
                    </a:lnR>
                    <a:lnT w="12700" cap="flat" cmpd="sng" algn="ctr">
                      <a:solidFill>
                        <a:srgbClr val="D6E0DA"/>
                      </a:solidFill>
                      <a:prstDash val="solid"/>
                      <a:round/>
                      <a:headEnd type="none" w="med" len="med"/>
                      <a:tailEnd type="none" w="med" len="med"/>
                    </a:lnT>
                    <a:lnB w="12700" cap="flat" cmpd="sng" algn="ctr">
                      <a:solidFill>
                        <a:srgbClr val="D6E0DA"/>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2211C"/>
                          </a:solidFill>
                          <a:latin typeface="Arial" pitchFamily="34" charset="0"/>
                          <a:ea typeface="Arial" pitchFamily="34" charset="-122"/>
                          <a:cs typeface="Arial" pitchFamily="34" charset="-120"/>
                        </a:rPr>
                        <a:t>20〜40円/分</a:t>
                      </a:r>
                      <a:endParaRPr lang="en-US" sz="1100" dirty="0">
                        <a:latin typeface="Arial" charset="0"/>
                        <a:ea typeface="Arial" charset="0"/>
                        <a:cs typeface="Arial" charset="0"/>
                      </a:endParaRPr>
                    </a:p>
                  </a:txBody>
                  <a:tcPr marL="91440" marR="91440" marT="45720" marB="45720" anchor="ctr">
                    <a:lnL w="12700" cap="flat" cmpd="sng" algn="ctr">
                      <a:solidFill>
                        <a:srgbClr val="D6E0DA"/>
                      </a:solidFill>
                      <a:prstDash val="solid"/>
                      <a:round/>
                      <a:headEnd type="none" w="med" len="med"/>
                      <a:tailEnd type="none" w="med" len="med"/>
                    </a:lnL>
                    <a:lnR w="12700" cap="flat" cmpd="sng" algn="ctr">
                      <a:solidFill>
                        <a:srgbClr val="D6E0DA"/>
                      </a:solidFill>
                      <a:prstDash val="solid"/>
                      <a:round/>
                      <a:headEnd type="none" w="med" len="med"/>
                      <a:tailEnd type="none" w="med" len="med"/>
                    </a:lnR>
                    <a:lnT w="12700" cap="flat" cmpd="sng" algn="ctr">
                      <a:solidFill>
                        <a:srgbClr val="D6E0DA"/>
                      </a:solidFill>
                      <a:prstDash val="solid"/>
                      <a:round/>
                      <a:headEnd type="none" w="med" len="med"/>
                      <a:tailEnd type="none" w="med" len="med"/>
                    </a:lnT>
                    <a:lnB w="12700" cap="flat" cmpd="sng" algn="ctr">
                      <a:solidFill>
                        <a:srgbClr val="D6E0DA"/>
                      </a:solidFill>
                      <a:prstDash val="solid"/>
                      <a:round/>
                      <a:headEnd type="none" w="med" len="med"/>
                      <a:tailEnd type="none" w="med" len="med"/>
                    </a:lnB>
                    <a:solidFill>
                      <a:srgbClr val="FFFFFF"/>
                    </a:solidFill>
                  </a:tcPr>
                </a:tc>
                <a:tc>
                  <a:txBody>
                    <a:bodyPr/>
                    <a:lstStyle/>
                    <a:p>
                      <a:pPr indent="0" marL="0">
                        <a:buNone/>
                      </a:pPr>
                      <a:r>
                        <a:rPr lang="en-US" sz="1100" dirty="0">
                          <a:solidFill>
                            <a:srgbClr val="12211C"/>
                          </a:solidFill>
                          <a:latin typeface="Yu Gothic" pitchFamily="34" charset="0"/>
                          <a:ea typeface="Yu Gothic" pitchFamily="34" charset="-122"/>
                          <a:cs typeface="Yu Gothic" pitchFamily="34" charset="-120"/>
                        </a:rPr>
                        <a:t>電話が鳴るのが最も強い。服薬・安否確認に有効だが費用は高い</a:t>
                      </a:r>
                      <a:endParaRPr lang="en-US" sz="1100" dirty="0">
                        <a:latin typeface="Yu Gothic" charset="0"/>
                        <a:ea typeface="Yu Gothic" charset="0"/>
                        <a:cs typeface="Yu Gothic" charset="0"/>
                      </a:endParaRPr>
                    </a:p>
                  </a:txBody>
                  <a:tcPr marL="91440" marR="91440" marT="45720" marB="45720" anchor="ctr">
                    <a:lnL w="12700" cap="flat" cmpd="sng" algn="ctr">
                      <a:solidFill>
                        <a:srgbClr val="D6E0DA"/>
                      </a:solidFill>
                      <a:prstDash val="solid"/>
                      <a:round/>
                      <a:headEnd type="none" w="med" len="med"/>
                      <a:tailEnd type="none" w="med" len="med"/>
                    </a:lnL>
                    <a:lnR w="12700" cap="flat" cmpd="sng" algn="ctr">
                      <a:solidFill>
                        <a:srgbClr val="D6E0DA"/>
                      </a:solidFill>
                      <a:prstDash val="solid"/>
                      <a:round/>
                      <a:headEnd type="none" w="med" len="med"/>
                      <a:tailEnd type="none" w="med" len="med"/>
                    </a:lnR>
                    <a:lnT w="12700" cap="flat" cmpd="sng" algn="ctr">
                      <a:solidFill>
                        <a:srgbClr val="D6E0DA"/>
                      </a:solidFill>
                      <a:prstDash val="solid"/>
                      <a:round/>
                      <a:headEnd type="none" w="med" len="med"/>
                      <a:tailEnd type="none" w="med" len="med"/>
                    </a:lnT>
                    <a:lnB w="12700" cap="flat" cmpd="sng" algn="ctr">
                      <a:solidFill>
                        <a:srgbClr val="D6E0DA"/>
                      </a:solidFill>
                      <a:prstDash val="solid"/>
                      <a:round/>
                      <a:headEnd type="none" w="med" len="med"/>
                      <a:tailEnd type="none" w="med" len="med"/>
                    </a:lnB>
                    <a:solidFill>
                      <a:srgbClr val="FFFFFF"/>
                    </a:solidFill>
                  </a:tcPr>
                </a:tc>
              </a:tr>
            </a:tbl>
          </a:graphicData>
        </a:graphic>
      </p:graphicFrame>
      <p:sp>
        <p:nvSpPr>
          <p:cNvPr id="7" name="Shape 4"/>
          <p:cNvSpPr/>
          <p:nvPr/>
        </p:nvSpPr>
        <p:spPr>
          <a:xfrm>
            <a:off x="566928" y="5175504"/>
            <a:ext cx="11057839" cy="896112"/>
          </a:xfrm>
          <a:prstGeom prst="roundRect">
            <a:avLst>
              <a:gd name="adj" fmla="val 6122"/>
            </a:avLst>
          </a:prstGeom>
          <a:solidFill>
            <a:srgbClr val="F2F7F4"/>
          </a:solidFill>
          <a:ln w="12700">
            <a:solidFill>
              <a:srgbClr val="D6E0DA"/>
            </a:solidFill>
            <a:prstDash val="solid"/>
          </a:ln>
        </p:spPr>
      </p:sp>
      <p:sp>
        <p:nvSpPr>
          <p:cNvPr id="8" name="Text 5"/>
          <p:cNvSpPr/>
          <p:nvPr/>
        </p:nvSpPr>
        <p:spPr>
          <a:xfrm>
            <a:off x="950976" y="5175504"/>
            <a:ext cx="10289743" cy="896112"/>
          </a:xfrm>
          <a:prstGeom prst="rect">
            <a:avLst/>
          </a:prstGeom>
          <a:noFill/>
          <a:ln/>
        </p:spPr>
        <p:txBody>
          <a:bodyPr wrap="square" lIns="0" tIns="0" rIns="0" bIns="0" rtlCol="0" anchor="ctr"/>
          <a:lstStyle/>
          <a:p>
            <a:pPr indent="0" marL="0">
              <a:buNone/>
            </a:pPr>
            <a:r>
              <a:rPr lang="en-US" sz="1300" dirty="0">
                <a:solidFill>
                  <a:srgbClr val="12211C"/>
                </a:solidFill>
                <a:latin typeface="Yu Gothic" pitchFamily="34" charset="0"/>
                <a:ea typeface="Yu Gothic" pitchFamily="34" charset="-122"/>
                <a:cs typeface="Yu Gothic" pitchFamily="34" charset="-120"/>
              </a:rPr>
              <a:t>推奨：MVPはLINE通知で開始し、利用が定着した段階でC案のアプリ化に合わせてプッシュ通知へ移行。安否確認まで踏み込む場合のみ自動架電を追加する。</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57200"/>
            <a:ext cx="365760" cy="365760"/>
          </a:xfrm>
          <a:prstGeom prst="ellipse">
            <a:avLst/>
          </a:prstGeom>
          <a:solidFill>
            <a:srgbClr val="1F3D34"/>
          </a:solidFill>
          <a:ln/>
        </p:spPr>
      </p:sp>
      <p:sp>
        <p:nvSpPr>
          <p:cNvPr id="3" name="Text 1"/>
          <p:cNvSpPr/>
          <p:nvPr/>
        </p:nvSpPr>
        <p:spPr>
          <a:xfrm>
            <a:off x="566928" y="4572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9</a:t>
            </a:r>
            <a:endParaRPr lang="en-US" sz="1200" dirty="0"/>
          </a:p>
        </p:txBody>
      </p:sp>
      <p:sp>
        <p:nvSpPr>
          <p:cNvPr id="4" name="Text 2"/>
          <p:cNvSpPr/>
          <p:nvPr/>
        </p:nvSpPr>
        <p:spPr>
          <a:xfrm>
            <a:off x="1133856" y="384048"/>
            <a:ext cx="10490911" cy="530352"/>
          </a:xfrm>
          <a:prstGeom prst="rect">
            <a:avLst/>
          </a:prstGeom>
          <a:noFill/>
          <a:ln/>
        </p:spPr>
        <p:txBody>
          <a:bodyPr wrap="square" lIns="0" tIns="0" rIns="0" bIns="0" rtlCol="0" anchor="ctr"/>
          <a:lstStyle/>
          <a:p>
            <a:pPr indent="0" marL="0">
              <a:buNone/>
            </a:pPr>
            <a:r>
              <a:rPr lang="en-US" sz="2700" b="1" dirty="0">
                <a:solidFill>
                  <a:srgbClr val="12211C"/>
                </a:solidFill>
                <a:latin typeface="Yu Gothic" pitchFamily="34" charset="0"/>
                <a:ea typeface="Yu Gothic" pitchFamily="34" charset="-122"/>
                <a:cs typeface="Yu Gothic" pitchFamily="34" charset="-120"/>
              </a:rPr>
              <a:t>個人情報の扱いは、後付けできません</a:t>
            </a:r>
            <a:endParaRPr lang="en-US" sz="2700" dirty="0"/>
          </a:p>
        </p:txBody>
      </p:sp>
      <p:sp>
        <p:nvSpPr>
          <p:cNvPr id="5" name="Text 3"/>
          <p:cNvSpPr/>
          <p:nvPr/>
        </p:nvSpPr>
        <p:spPr>
          <a:xfrm>
            <a:off x="566928" y="969264"/>
            <a:ext cx="11057839" cy="329184"/>
          </a:xfrm>
          <a:prstGeom prst="rect">
            <a:avLst/>
          </a:prstGeom>
          <a:noFill/>
          <a:ln/>
        </p:spPr>
        <p:txBody>
          <a:bodyPr wrap="square" lIns="0" tIns="0" rIns="0" bIns="0" rtlCol="0" anchor="t"/>
          <a:lstStyle/>
          <a:p>
            <a:pPr indent="0" marL="0">
              <a:buNone/>
            </a:pPr>
            <a:r>
              <a:rPr lang="en-US" sz="1350" dirty="0">
                <a:solidFill>
                  <a:srgbClr val="6C7C75"/>
                </a:solidFill>
                <a:latin typeface="Yu Gothic" pitchFamily="34" charset="0"/>
                <a:ea typeface="Yu Gothic" pitchFamily="34" charset="-122"/>
                <a:cs typeface="Yu Gothic" pitchFamily="34" charset="-120"/>
              </a:rPr>
              <a:t>会話には持病・服薬・家族関係が自然に混ざります。これは要配慮個人情報にあたります。</a:t>
            </a:r>
            <a:endParaRPr lang="en-US" sz="1350" dirty="0"/>
          </a:p>
        </p:txBody>
      </p:sp>
      <p:sp>
        <p:nvSpPr>
          <p:cNvPr id="6" name="Shape 4"/>
          <p:cNvSpPr/>
          <p:nvPr/>
        </p:nvSpPr>
        <p:spPr>
          <a:xfrm>
            <a:off x="566928" y="1645920"/>
            <a:ext cx="5336896" cy="749808"/>
          </a:xfrm>
          <a:prstGeom prst="roundRect">
            <a:avLst>
              <a:gd name="adj" fmla="val 7317"/>
            </a:avLst>
          </a:prstGeom>
          <a:solidFill>
            <a:srgbClr val="FFFFFF"/>
          </a:solidFill>
          <a:ln w="12700">
            <a:solidFill>
              <a:srgbClr val="D6E0DA"/>
            </a:solidFill>
            <a:prstDash val="solid"/>
          </a:ln>
          <a:effectLst>
            <a:outerShdw sx="100000" sy="100000" kx="0" ky="0" algn="bl" rotWithShape="0" blurRad="127000" dist="25400" dir="5400000">
              <a:srgbClr val="1F3D34">
                <a:alpha val="10000"/>
              </a:srgbClr>
            </a:outerShdw>
          </a:effectLst>
        </p:spPr>
      </p:sp>
      <p:sp>
        <p:nvSpPr>
          <p:cNvPr id="7" name="Text 5"/>
          <p:cNvSpPr/>
          <p:nvPr/>
        </p:nvSpPr>
        <p:spPr>
          <a:xfrm>
            <a:off x="841248" y="1728216"/>
            <a:ext cx="3782416" cy="274320"/>
          </a:xfrm>
          <a:prstGeom prst="rect">
            <a:avLst/>
          </a:prstGeom>
          <a:noFill/>
          <a:ln/>
        </p:spPr>
        <p:txBody>
          <a:bodyPr wrap="square" lIns="0" tIns="0" rIns="0" bIns="0" rtlCol="0" anchor="ctr"/>
          <a:lstStyle/>
          <a:p>
            <a:pPr indent="0" marL="0">
              <a:buNone/>
            </a:pPr>
            <a:r>
              <a:rPr lang="en-US" sz="1350" b="1" dirty="0">
                <a:solidFill>
                  <a:srgbClr val="12211C"/>
                </a:solidFill>
                <a:latin typeface="Yu Gothic" pitchFamily="34" charset="0"/>
                <a:ea typeface="Yu Gothic" pitchFamily="34" charset="-122"/>
                <a:cs typeface="Yu Gothic" pitchFamily="34" charset="-120"/>
              </a:rPr>
              <a:t>保存場所</a:t>
            </a:r>
            <a:endParaRPr lang="en-US" sz="1350" dirty="0"/>
          </a:p>
        </p:txBody>
      </p:sp>
      <p:sp>
        <p:nvSpPr>
          <p:cNvPr id="8" name="Text 6"/>
          <p:cNvSpPr/>
          <p:nvPr/>
        </p:nvSpPr>
        <p:spPr>
          <a:xfrm>
            <a:off x="841248" y="1993392"/>
            <a:ext cx="4788256" cy="347472"/>
          </a:xfrm>
          <a:prstGeom prst="rect">
            <a:avLst/>
          </a:prstGeom>
          <a:noFill/>
          <a:ln/>
        </p:spPr>
        <p:txBody>
          <a:bodyPr wrap="square" lIns="0" tIns="0" rIns="0" bIns="0" rtlCol="0" anchor="ctr"/>
          <a:lstStyle/>
          <a:p>
            <a:pPr indent="0" marL="0">
              <a:lnSpc>
                <a:spcPts val="1500"/>
              </a:lnSpc>
              <a:buNone/>
            </a:pPr>
            <a:r>
              <a:rPr lang="en-US" sz="1100" dirty="0">
                <a:solidFill>
                  <a:srgbClr val="6C7C75"/>
                </a:solidFill>
                <a:latin typeface="Yu Gothic" pitchFamily="34" charset="0"/>
                <a:ea typeface="Yu Gothic" pitchFamily="34" charset="-122"/>
                <a:cs typeface="Yu Gothic" pitchFamily="34" charset="-120"/>
              </a:rPr>
              <a:t>AWS東京またはGoogle Cloud東京リージョン。保存時・通信時ともに暗号化し、アクセスは監査ログに記録する。</a:t>
            </a:r>
            <a:endParaRPr lang="en-US" sz="1100" dirty="0"/>
          </a:p>
        </p:txBody>
      </p:sp>
      <p:sp>
        <p:nvSpPr>
          <p:cNvPr id="9" name="Text 7"/>
          <p:cNvSpPr/>
          <p:nvPr/>
        </p:nvSpPr>
        <p:spPr>
          <a:xfrm>
            <a:off x="4605376" y="1728216"/>
            <a:ext cx="1024128" cy="256032"/>
          </a:xfrm>
          <a:prstGeom prst="rect">
            <a:avLst/>
          </a:prstGeom>
          <a:noFill/>
          <a:ln/>
        </p:spPr>
        <p:txBody>
          <a:bodyPr wrap="square" lIns="0" tIns="0" rIns="0" bIns="0" rtlCol="0" anchor="ctr"/>
          <a:lstStyle/>
          <a:p>
            <a:pPr algn="r" indent="0" marL="0">
              <a:buNone/>
            </a:pPr>
            <a:r>
              <a:rPr lang="en-US" sz="1100" b="1" dirty="0">
                <a:solidFill>
                  <a:srgbClr val="6E9A85"/>
                </a:solidFill>
                <a:latin typeface="Yu Gothic" pitchFamily="34" charset="0"/>
                <a:ea typeface="Yu Gothic" pitchFamily="34" charset="-122"/>
                <a:cs typeface="Yu Gothic" pitchFamily="34" charset="-120"/>
              </a:rPr>
              <a:t>標準対応</a:t>
            </a:r>
            <a:endParaRPr lang="en-US" sz="1100" dirty="0"/>
          </a:p>
        </p:txBody>
      </p:sp>
      <p:sp>
        <p:nvSpPr>
          <p:cNvPr id="10" name="Shape 8"/>
          <p:cNvSpPr/>
          <p:nvPr/>
        </p:nvSpPr>
        <p:spPr>
          <a:xfrm>
            <a:off x="6287872" y="1645920"/>
            <a:ext cx="5336896" cy="749808"/>
          </a:xfrm>
          <a:prstGeom prst="roundRect">
            <a:avLst>
              <a:gd name="adj" fmla="val 7317"/>
            </a:avLst>
          </a:prstGeom>
          <a:solidFill>
            <a:srgbClr val="FFFFFF"/>
          </a:solidFill>
          <a:ln w="12700">
            <a:solidFill>
              <a:srgbClr val="D6E0DA"/>
            </a:solidFill>
            <a:prstDash val="solid"/>
          </a:ln>
          <a:effectLst>
            <a:outerShdw sx="100000" sy="100000" kx="0" ky="0" algn="bl" rotWithShape="0" blurRad="127000" dist="25400" dir="5400000">
              <a:srgbClr val="1F3D34">
                <a:alpha val="10000"/>
              </a:srgbClr>
            </a:outerShdw>
          </a:effectLst>
        </p:spPr>
      </p:sp>
      <p:sp>
        <p:nvSpPr>
          <p:cNvPr id="11" name="Text 9"/>
          <p:cNvSpPr/>
          <p:nvPr/>
        </p:nvSpPr>
        <p:spPr>
          <a:xfrm>
            <a:off x="6562192" y="1728216"/>
            <a:ext cx="3782416" cy="274320"/>
          </a:xfrm>
          <a:prstGeom prst="rect">
            <a:avLst/>
          </a:prstGeom>
          <a:noFill/>
          <a:ln/>
        </p:spPr>
        <p:txBody>
          <a:bodyPr wrap="square" lIns="0" tIns="0" rIns="0" bIns="0" rtlCol="0" anchor="ctr"/>
          <a:lstStyle/>
          <a:p>
            <a:pPr indent="0" marL="0">
              <a:buNone/>
            </a:pPr>
            <a:r>
              <a:rPr lang="en-US" sz="1350" b="1" dirty="0">
                <a:solidFill>
                  <a:srgbClr val="12211C"/>
                </a:solidFill>
                <a:latin typeface="Yu Gothic" pitchFamily="34" charset="0"/>
                <a:ea typeface="Yu Gothic" pitchFamily="34" charset="-122"/>
                <a:cs typeface="Yu Gothic" pitchFamily="34" charset="-120"/>
              </a:rPr>
              <a:t>取得の同意</a:t>
            </a:r>
            <a:endParaRPr lang="en-US" sz="1350" dirty="0"/>
          </a:p>
        </p:txBody>
      </p:sp>
      <p:sp>
        <p:nvSpPr>
          <p:cNvPr id="12" name="Text 10"/>
          <p:cNvSpPr/>
          <p:nvPr/>
        </p:nvSpPr>
        <p:spPr>
          <a:xfrm>
            <a:off x="6562192" y="1993392"/>
            <a:ext cx="4788256" cy="347472"/>
          </a:xfrm>
          <a:prstGeom prst="rect">
            <a:avLst/>
          </a:prstGeom>
          <a:noFill/>
          <a:ln/>
        </p:spPr>
        <p:txBody>
          <a:bodyPr wrap="square" lIns="0" tIns="0" rIns="0" bIns="0" rtlCol="0" anchor="ctr"/>
          <a:lstStyle/>
          <a:p>
            <a:pPr indent="0" marL="0">
              <a:lnSpc>
                <a:spcPts val="1500"/>
              </a:lnSpc>
              <a:buNone/>
            </a:pPr>
            <a:r>
              <a:rPr lang="en-US" sz="1100" dirty="0">
                <a:solidFill>
                  <a:srgbClr val="6C7C75"/>
                </a:solidFill>
                <a:latin typeface="Yu Gothic" pitchFamily="34" charset="0"/>
                <a:ea typeface="Yu Gothic" pitchFamily="34" charset="-122"/>
                <a:cs typeface="Yu Gothic" pitchFamily="34" charset="-120"/>
              </a:rPr>
              <a:t>要配慮個人情報にあたるため、用途を明示したオプトイン同意が必須。同意画面も音声で読み上げる。</a:t>
            </a:r>
            <a:endParaRPr lang="en-US" sz="1100" dirty="0"/>
          </a:p>
        </p:txBody>
      </p:sp>
      <p:sp>
        <p:nvSpPr>
          <p:cNvPr id="13" name="Text 11"/>
          <p:cNvSpPr/>
          <p:nvPr/>
        </p:nvSpPr>
        <p:spPr>
          <a:xfrm>
            <a:off x="10326319" y="1728216"/>
            <a:ext cx="1024128" cy="256032"/>
          </a:xfrm>
          <a:prstGeom prst="rect">
            <a:avLst/>
          </a:prstGeom>
          <a:noFill/>
          <a:ln/>
        </p:spPr>
        <p:txBody>
          <a:bodyPr wrap="square" lIns="0" tIns="0" rIns="0" bIns="0" rtlCol="0" anchor="ctr"/>
          <a:lstStyle/>
          <a:p>
            <a:pPr algn="r" indent="0" marL="0">
              <a:buNone/>
            </a:pPr>
            <a:r>
              <a:rPr lang="en-US" sz="1100" b="1" dirty="0">
                <a:solidFill>
                  <a:srgbClr val="6E9A85"/>
                </a:solidFill>
                <a:latin typeface="Yu Gothic" pitchFamily="34" charset="0"/>
                <a:ea typeface="Yu Gothic" pitchFamily="34" charset="-122"/>
                <a:cs typeface="Yu Gothic" pitchFamily="34" charset="-120"/>
              </a:rPr>
              <a:t>標準対応</a:t>
            </a:r>
            <a:endParaRPr lang="en-US" sz="1100" dirty="0"/>
          </a:p>
        </p:txBody>
      </p:sp>
      <p:sp>
        <p:nvSpPr>
          <p:cNvPr id="14" name="Shape 12"/>
          <p:cNvSpPr/>
          <p:nvPr/>
        </p:nvSpPr>
        <p:spPr>
          <a:xfrm>
            <a:off x="566928" y="2651760"/>
            <a:ext cx="5336896" cy="749808"/>
          </a:xfrm>
          <a:prstGeom prst="roundRect">
            <a:avLst>
              <a:gd name="adj" fmla="val 7317"/>
            </a:avLst>
          </a:prstGeom>
          <a:solidFill>
            <a:srgbClr val="FFFFFF"/>
          </a:solidFill>
          <a:ln w="12700">
            <a:solidFill>
              <a:srgbClr val="D6E0DA"/>
            </a:solidFill>
            <a:prstDash val="solid"/>
          </a:ln>
          <a:effectLst>
            <a:outerShdw sx="100000" sy="100000" kx="0" ky="0" algn="bl" rotWithShape="0" blurRad="127000" dist="25400" dir="5400000">
              <a:srgbClr val="1F3D34">
                <a:alpha val="10000"/>
              </a:srgbClr>
            </a:outerShdw>
          </a:effectLst>
        </p:spPr>
      </p:sp>
      <p:sp>
        <p:nvSpPr>
          <p:cNvPr id="15" name="Text 13"/>
          <p:cNvSpPr/>
          <p:nvPr/>
        </p:nvSpPr>
        <p:spPr>
          <a:xfrm>
            <a:off x="841248" y="2734056"/>
            <a:ext cx="3782416" cy="274320"/>
          </a:xfrm>
          <a:prstGeom prst="rect">
            <a:avLst/>
          </a:prstGeom>
          <a:noFill/>
          <a:ln/>
        </p:spPr>
        <p:txBody>
          <a:bodyPr wrap="square" lIns="0" tIns="0" rIns="0" bIns="0" rtlCol="0" anchor="ctr"/>
          <a:lstStyle/>
          <a:p>
            <a:pPr indent="0" marL="0">
              <a:buNone/>
            </a:pPr>
            <a:r>
              <a:rPr lang="en-US" sz="1350" b="1" dirty="0">
                <a:solidFill>
                  <a:srgbClr val="12211C"/>
                </a:solidFill>
                <a:latin typeface="Yu Gothic" pitchFamily="34" charset="0"/>
                <a:ea typeface="Yu Gothic" pitchFamily="34" charset="-122"/>
                <a:cs typeface="Yu Gothic" pitchFamily="34" charset="-120"/>
              </a:rPr>
              <a:t>AI事業者への送信</a:t>
            </a:r>
            <a:endParaRPr lang="en-US" sz="1350" dirty="0"/>
          </a:p>
        </p:txBody>
      </p:sp>
      <p:sp>
        <p:nvSpPr>
          <p:cNvPr id="16" name="Text 14"/>
          <p:cNvSpPr/>
          <p:nvPr/>
        </p:nvSpPr>
        <p:spPr>
          <a:xfrm>
            <a:off x="841248" y="2999232"/>
            <a:ext cx="4788256" cy="347472"/>
          </a:xfrm>
          <a:prstGeom prst="rect">
            <a:avLst/>
          </a:prstGeom>
          <a:noFill/>
          <a:ln/>
        </p:spPr>
        <p:txBody>
          <a:bodyPr wrap="square" lIns="0" tIns="0" rIns="0" bIns="0" rtlCol="0" anchor="ctr"/>
          <a:lstStyle/>
          <a:p>
            <a:pPr indent="0" marL="0">
              <a:lnSpc>
                <a:spcPts val="1500"/>
              </a:lnSpc>
              <a:buNone/>
            </a:pPr>
            <a:r>
              <a:rPr lang="en-US" sz="1100" dirty="0">
                <a:solidFill>
                  <a:srgbClr val="6C7C75"/>
                </a:solidFill>
                <a:latin typeface="Yu Gothic" pitchFamily="34" charset="0"/>
                <a:ea typeface="Yu Gothic" pitchFamily="34" charset="-122"/>
                <a:cs typeface="Yu Gothic" pitchFamily="34" charset="-120"/>
              </a:rPr>
              <a:t>第三者提供ではなく委託として整理。米国事業者のAPIを使う場合は越境移転にあたり、移転先国と保護措置の記載が要る。</a:t>
            </a:r>
            <a:endParaRPr lang="en-US" sz="1100" dirty="0"/>
          </a:p>
        </p:txBody>
      </p:sp>
      <p:sp>
        <p:nvSpPr>
          <p:cNvPr id="17" name="Text 15"/>
          <p:cNvSpPr/>
          <p:nvPr/>
        </p:nvSpPr>
        <p:spPr>
          <a:xfrm>
            <a:off x="4605376" y="2734056"/>
            <a:ext cx="1024128" cy="256032"/>
          </a:xfrm>
          <a:prstGeom prst="rect">
            <a:avLst/>
          </a:prstGeom>
          <a:noFill/>
          <a:ln/>
        </p:spPr>
        <p:txBody>
          <a:bodyPr wrap="square" lIns="0" tIns="0" rIns="0" bIns="0" rtlCol="0" anchor="ctr"/>
          <a:lstStyle/>
          <a:p>
            <a:pPr algn="r" indent="0" marL="0">
              <a:buNone/>
            </a:pPr>
            <a:r>
              <a:rPr lang="en-US" sz="1100" b="1" dirty="0">
                <a:solidFill>
                  <a:srgbClr val="6E9A85"/>
                </a:solidFill>
                <a:latin typeface="Yu Gothic" pitchFamily="34" charset="0"/>
                <a:ea typeface="Yu Gothic" pitchFamily="34" charset="-122"/>
                <a:cs typeface="Yu Gothic" pitchFamily="34" charset="-120"/>
              </a:rPr>
              <a:t>標準対応</a:t>
            </a:r>
            <a:endParaRPr lang="en-US" sz="1100" dirty="0"/>
          </a:p>
        </p:txBody>
      </p:sp>
      <p:sp>
        <p:nvSpPr>
          <p:cNvPr id="18" name="Shape 16"/>
          <p:cNvSpPr/>
          <p:nvPr/>
        </p:nvSpPr>
        <p:spPr>
          <a:xfrm>
            <a:off x="6287872" y="2651760"/>
            <a:ext cx="5336896" cy="749808"/>
          </a:xfrm>
          <a:prstGeom prst="roundRect">
            <a:avLst>
              <a:gd name="adj" fmla="val 7317"/>
            </a:avLst>
          </a:prstGeom>
          <a:solidFill>
            <a:srgbClr val="FFFFFF"/>
          </a:solidFill>
          <a:ln w="12700">
            <a:solidFill>
              <a:srgbClr val="D6E0DA"/>
            </a:solidFill>
            <a:prstDash val="solid"/>
          </a:ln>
          <a:effectLst>
            <a:outerShdw sx="100000" sy="100000" kx="0" ky="0" algn="bl" rotWithShape="0" blurRad="127000" dist="25400" dir="5400000">
              <a:srgbClr val="1F3D34">
                <a:alpha val="10000"/>
              </a:srgbClr>
            </a:outerShdw>
          </a:effectLst>
        </p:spPr>
      </p:sp>
      <p:sp>
        <p:nvSpPr>
          <p:cNvPr id="19" name="Text 17"/>
          <p:cNvSpPr/>
          <p:nvPr/>
        </p:nvSpPr>
        <p:spPr>
          <a:xfrm>
            <a:off x="6562192" y="2734056"/>
            <a:ext cx="3782416" cy="274320"/>
          </a:xfrm>
          <a:prstGeom prst="rect">
            <a:avLst/>
          </a:prstGeom>
          <a:noFill/>
          <a:ln/>
        </p:spPr>
        <p:txBody>
          <a:bodyPr wrap="square" lIns="0" tIns="0" rIns="0" bIns="0" rtlCol="0" anchor="ctr"/>
          <a:lstStyle/>
          <a:p>
            <a:pPr indent="0" marL="0">
              <a:buNone/>
            </a:pPr>
            <a:r>
              <a:rPr lang="en-US" sz="1350" b="1" dirty="0">
                <a:solidFill>
                  <a:srgbClr val="12211C"/>
                </a:solidFill>
                <a:latin typeface="Yu Gothic" pitchFamily="34" charset="0"/>
                <a:ea typeface="Yu Gothic" pitchFamily="34" charset="-122"/>
                <a:cs typeface="Yu Gothic" pitchFamily="34" charset="-120"/>
              </a:rPr>
              <a:t>国内完結が要件の場合</a:t>
            </a:r>
            <a:endParaRPr lang="en-US" sz="1350" dirty="0"/>
          </a:p>
        </p:txBody>
      </p:sp>
      <p:sp>
        <p:nvSpPr>
          <p:cNvPr id="20" name="Text 18"/>
          <p:cNvSpPr/>
          <p:nvPr/>
        </p:nvSpPr>
        <p:spPr>
          <a:xfrm>
            <a:off x="6562192" y="2999232"/>
            <a:ext cx="4788256" cy="347472"/>
          </a:xfrm>
          <a:prstGeom prst="rect">
            <a:avLst/>
          </a:prstGeom>
          <a:noFill/>
          <a:ln/>
        </p:spPr>
        <p:txBody>
          <a:bodyPr wrap="square" lIns="0" tIns="0" rIns="0" bIns="0" rtlCol="0" anchor="ctr"/>
          <a:lstStyle/>
          <a:p>
            <a:pPr indent="0" marL="0">
              <a:lnSpc>
                <a:spcPts val="1500"/>
              </a:lnSpc>
              <a:buNone/>
            </a:pPr>
            <a:r>
              <a:rPr lang="en-US" sz="1100" dirty="0">
                <a:solidFill>
                  <a:srgbClr val="6C7C75"/>
                </a:solidFill>
                <a:latin typeface="Yu Gothic" pitchFamily="34" charset="0"/>
                <a:ea typeface="Yu Gothic" pitchFamily="34" charset="-122"/>
                <a:cs typeface="Yu Gothic" pitchFamily="34" charset="-120"/>
              </a:rPr>
              <a:t>Azure OpenAI（東日本）またはBedrock（東京）構成に切替。自治体・施設向けでは要件化されやすい。</a:t>
            </a:r>
            <a:endParaRPr lang="en-US" sz="1100" dirty="0"/>
          </a:p>
        </p:txBody>
      </p:sp>
      <p:sp>
        <p:nvSpPr>
          <p:cNvPr id="21" name="Text 19"/>
          <p:cNvSpPr/>
          <p:nvPr/>
        </p:nvSpPr>
        <p:spPr>
          <a:xfrm>
            <a:off x="10326319" y="2734056"/>
            <a:ext cx="1024128" cy="256032"/>
          </a:xfrm>
          <a:prstGeom prst="rect">
            <a:avLst/>
          </a:prstGeom>
          <a:noFill/>
          <a:ln/>
        </p:spPr>
        <p:txBody>
          <a:bodyPr wrap="square" lIns="0" tIns="0" rIns="0" bIns="0" rtlCol="0" anchor="ctr"/>
          <a:lstStyle/>
          <a:p>
            <a:pPr algn="r" indent="0" marL="0">
              <a:buNone/>
            </a:pPr>
            <a:r>
              <a:rPr lang="en-US" sz="1100" b="1" dirty="0">
                <a:solidFill>
                  <a:srgbClr val="C4682A"/>
                </a:solidFill>
                <a:latin typeface="Yu Gothic" pitchFamily="34" charset="0"/>
                <a:ea typeface="Yu Gothic" pitchFamily="34" charset="-122"/>
                <a:cs typeface="Yu Gothic" pitchFamily="34" charset="-120"/>
              </a:rPr>
              <a:t>＋3人日</a:t>
            </a:r>
            <a:endParaRPr lang="en-US" sz="1100" dirty="0"/>
          </a:p>
        </p:txBody>
      </p:sp>
      <p:sp>
        <p:nvSpPr>
          <p:cNvPr id="22" name="Shape 20"/>
          <p:cNvSpPr/>
          <p:nvPr/>
        </p:nvSpPr>
        <p:spPr>
          <a:xfrm>
            <a:off x="566928" y="3657600"/>
            <a:ext cx="5336896" cy="749808"/>
          </a:xfrm>
          <a:prstGeom prst="roundRect">
            <a:avLst>
              <a:gd name="adj" fmla="val 7317"/>
            </a:avLst>
          </a:prstGeom>
          <a:solidFill>
            <a:srgbClr val="FFFFFF"/>
          </a:solidFill>
          <a:ln w="12700">
            <a:solidFill>
              <a:srgbClr val="D6E0DA"/>
            </a:solidFill>
            <a:prstDash val="solid"/>
          </a:ln>
          <a:effectLst>
            <a:outerShdw sx="100000" sy="100000" kx="0" ky="0" algn="bl" rotWithShape="0" blurRad="127000" dist="25400" dir="5400000">
              <a:srgbClr val="1F3D34">
                <a:alpha val="10000"/>
              </a:srgbClr>
            </a:outerShdw>
          </a:effectLst>
        </p:spPr>
      </p:sp>
      <p:sp>
        <p:nvSpPr>
          <p:cNvPr id="23" name="Text 21"/>
          <p:cNvSpPr/>
          <p:nvPr/>
        </p:nvSpPr>
        <p:spPr>
          <a:xfrm>
            <a:off x="841248" y="3739896"/>
            <a:ext cx="3782416" cy="274320"/>
          </a:xfrm>
          <a:prstGeom prst="rect">
            <a:avLst/>
          </a:prstGeom>
          <a:noFill/>
          <a:ln/>
        </p:spPr>
        <p:txBody>
          <a:bodyPr wrap="square" lIns="0" tIns="0" rIns="0" bIns="0" rtlCol="0" anchor="ctr"/>
          <a:lstStyle/>
          <a:p>
            <a:pPr indent="0" marL="0">
              <a:buNone/>
            </a:pPr>
            <a:r>
              <a:rPr lang="en-US" sz="1350" b="1" dirty="0">
                <a:solidFill>
                  <a:srgbClr val="12211C"/>
                </a:solidFill>
                <a:latin typeface="Yu Gothic" pitchFamily="34" charset="0"/>
                <a:ea typeface="Yu Gothic" pitchFamily="34" charset="-122"/>
                <a:cs typeface="Yu Gothic" pitchFamily="34" charset="-120"/>
              </a:rPr>
              <a:t>削除・開示請求</a:t>
            </a:r>
            <a:endParaRPr lang="en-US" sz="1350" dirty="0"/>
          </a:p>
        </p:txBody>
      </p:sp>
      <p:sp>
        <p:nvSpPr>
          <p:cNvPr id="24" name="Text 22"/>
          <p:cNvSpPr/>
          <p:nvPr/>
        </p:nvSpPr>
        <p:spPr>
          <a:xfrm>
            <a:off x="841248" y="4005072"/>
            <a:ext cx="4788256" cy="347472"/>
          </a:xfrm>
          <a:prstGeom prst="rect">
            <a:avLst/>
          </a:prstGeom>
          <a:noFill/>
          <a:ln/>
        </p:spPr>
        <p:txBody>
          <a:bodyPr wrap="square" lIns="0" tIns="0" rIns="0" bIns="0" rtlCol="0" anchor="ctr"/>
          <a:lstStyle/>
          <a:p>
            <a:pPr indent="0" marL="0">
              <a:lnSpc>
                <a:spcPts val="1500"/>
              </a:lnSpc>
              <a:buNone/>
            </a:pPr>
            <a:r>
              <a:rPr lang="en-US" sz="1100" dirty="0">
                <a:solidFill>
                  <a:srgbClr val="6C7C75"/>
                </a:solidFill>
                <a:latin typeface="Yu Gothic" pitchFamily="34" charset="0"/>
                <a:ea typeface="Yu Gothic" pitchFamily="34" charset="-122"/>
                <a:cs typeface="Yu Gothic" pitchFamily="34" charset="-120"/>
              </a:rPr>
              <a:t>退会時にRAGのベクトルデータまで含めて完全削除できる設計。後付けが難しいため初期から組み込む。</a:t>
            </a:r>
            <a:endParaRPr lang="en-US" sz="1100" dirty="0"/>
          </a:p>
        </p:txBody>
      </p:sp>
      <p:sp>
        <p:nvSpPr>
          <p:cNvPr id="25" name="Text 23"/>
          <p:cNvSpPr/>
          <p:nvPr/>
        </p:nvSpPr>
        <p:spPr>
          <a:xfrm>
            <a:off x="4605376" y="3739896"/>
            <a:ext cx="1024128" cy="256032"/>
          </a:xfrm>
          <a:prstGeom prst="rect">
            <a:avLst/>
          </a:prstGeom>
          <a:noFill/>
          <a:ln/>
        </p:spPr>
        <p:txBody>
          <a:bodyPr wrap="square" lIns="0" tIns="0" rIns="0" bIns="0" rtlCol="0" anchor="ctr"/>
          <a:lstStyle/>
          <a:p>
            <a:pPr algn="r" indent="0" marL="0">
              <a:buNone/>
            </a:pPr>
            <a:r>
              <a:rPr lang="en-US" sz="1100" b="1" dirty="0">
                <a:solidFill>
                  <a:srgbClr val="6E9A85"/>
                </a:solidFill>
                <a:latin typeface="Yu Gothic" pitchFamily="34" charset="0"/>
                <a:ea typeface="Yu Gothic" pitchFamily="34" charset="-122"/>
                <a:cs typeface="Yu Gothic" pitchFamily="34" charset="-120"/>
              </a:rPr>
              <a:t>標準対応</a:t>
            </a:r>
            <a:endParaRPr lang="en-US" sz="1100" dirty="0"/>
          </a:p>
        </p:txBody>
      </p:sp>
      <p:sp>
        <p:nvSpPr>
          <p:cNvPr id="26" name="Shape 24"/>
          <p:cNvSpPr/>
          <p:nvPr/>
        </p:nvSpPr>
        <p:spPr>
          <a:xfrm>
            <a:off x="6287872" y="3657600"/>
            <a:ext cx="5336896" cy="749808"/>
          </a:xfrm>
          <a:prstGeom prst="roundRect">
            <a:avLst>
              <a:gd name="adj" fmla="val 7317"/>
            </a:avLst>
          </a:prstGeom>
          <a:solidFill>
            <a:srgbClr val="FFFFFF"/>
          </a:solidFill>
          <a:ln w="12700">
            <a:solidFill>
              <a:srgbClr val="D6E0DA"/>
            </a:solidFill>
            <a:prstDash val="solid"/>
          </a:ln>
          <a:effectLst>
            <a:outerShdw sx="100000" sy="100000" kx="0" ky="0" algn="bl" rotWithShape="0" blurRad="127000" dist="25400" dir="5400000">
              <a:srgbClr val="1F3D34">
                <a:alpha val="10000"/>
              </a:srgbClr>
            </a:outerShdw>
          </a:effectLst>
        </p:spPr>
      </p:sp>
      <p:sp>
        <p:nvSpPr>
          <p:cNvPr id="27" name="Text 25"/>
          <p:cNvSpPr/>
          <p:nvPr/>
        </p:nvSpPr>
        <p:spPr>
          <a:xfrm>
            <a:off x="6562192" y="3739896"/>
            <a:ext cx="3782416" cy="274320"/>
          </a:xfrm>
          <a:prstGeom prst="rect">
            <a:avLst/>
          </a:prstGeom>
          <a:noFill/>
          <a:ln/>
        </p:spPr>
        <p:txBody>
          <a:bodyPr wrap="square" lIns="0" tIns="0" rIns="0" bIns="0" rtlCol="0" anchor="ctr"/>
          <a:lstStyle/>
          <a:p>
            <a:pPr indent="0" marL="0">
              <a:buNone/>
            </a:pPr>
            <a:r>
              <a:rPr lang="en-US" sz="1350" b="1" dirty="0">
                <a:solidFill>
                  <a:srgbClr val="12211C"/>
                </a:solidFill>
                <a:latin typeface="Yu Gothic" pitchFamily="34" charset="0"/>
                <a:ea typeface="Yu Gothic" pitchFamily="34" charset="-122"/>
                <a:cs typeface="Yu Gothic" pitchFamily="34" charset="-120"/>
              </a:rPr>
              <a:t>同意能力</a:t>
            </a:r>
            <a:endParaRPr lang="en-US" sz="1350" dirty="0"/>
          </a:p>
        </p:txBody>
      </p:sp>
      <p:sp>
        <p:nvSpPr>
          <p:cNvPr id="28" name="Text 26"/>
          <p:cNvSpPr/>
          <p:nvPr/>
        </p:nvSpPr>
        <p:spPr>
          <a:xfrm>
            <a:off x="6562192" y="4005072"/>
            <a:ext cx="4788256" cy="347472"/>
          </a:xfrm>
          <a:prstGeom prst="rect">
            <a:avLst/>
          </a:prstGeom>
          <a:noFill/>
          <a:ln/>
        </p:spPr>
        <p:txBody>
          <a:bodyPr wrap="square" lIns="0" tIns="0" rIns="0" bIns="0" rtlCol="0" anchor="ctr"/>
          <a:lstStyle/>
          <a:p>
            <a:pPr indent="0" marL="0">
              <a:lnSpc>
                <a:spcPts val="1500"/>
              </a:lnSpc>
              <a:buNone/>
            </a:pPr>
            <a:r>
              <a:rPr lang="en-US" sz="1100" dirty="0">
                <a:solidFill>
                  <a:srgbClr val="6C7C75"/>
                </a:solidFill>
                <a:latin typeface="Yu Gothic" pitchFamily="34" charset="0"/>
                <a:ea typeface="Yu Gothic" pitchFamily="34" charset="-122"/>
                <a:cs typeface="Yu Gothic" pitchFamily="34" charset="-120"/>
              </a:rPr>
              <a:t>認知症等でご本人の同意能力が十分でない場合の家族同意の扱いは、法務確認が必要。</a:t>
            </a:r>
            <a:endParaRPr lang="en-US" sz="1100" dirty="0"/>
          </a:p>
        </p:txBody>
      </p:sp>
      <p:sp>
        <p:nvSpPr>
          <p:cNvPr id="29" name="Text 27"/>
          <p:cNvSpPr/>
          <p:nvPr/>
        </p:nvSpPr>
        <p:spPr>
          <a:xfrm>
            <a:off x="10326319" y="3739896"/>
            <a:ext cx="1024128" cy="256032"/>
          </a:xfrm>
          <a:prstGeom prst="rect">
            <a:avLst/>
          </a:prstGeom>
          <a:noFill/>
          <a:ln/>
        </p:spPr>
        <p:txBody>
          <a:bodyPr wrap="square" lIns="0" tIns="0" rIns="0" bIns="0" rtlCol="0" anchor="ctr"/>
          <a:lstStyle/>
          <a:p>
            <a:pPr algn="r" indent="0" marL="0">
              <a:buNone/>
            </a:pPr>
            <a:r>
              <a:rPr lang="en-US" sz="1100" b="1" dirty="0">
                <a:solidFill>
                  <a:srgbClr val="9E3B2D"/>
                </a:solidFill>
                <a:latin typeface="Yu Gothic" pitchFamily="34" charset="0"/>
                <a:ea typeface="Yu Gothic" pitchFamily="34" charset="-122"/>
                <a:cs typeface="Yu Gothic" pitchFamily="34" charset="-120"/>
              </a:rPr>
              <a:t>法務確認</a:t>
            </a:r>
            <a:endParaRPr lang="en-US" sz="1100" dirty="0"/>
          </a:p>
        </p:txBody>
      </p:sp>
      <p:sp>
        <p:nvSpPr>
          <p:cNvPr id="30" name="Shape 28"/>
          <p:cNvSpPr/>
          <p:nvPr/>
        </p:nvSpPr>
        <p:spPr>
          <a:xfrm>
            <a:off x="566928" y="4700016"/>
            <a:ext cx="11057839" cy="1371600"/>
          </a:xfrm>
          <a:prstGeom prst="roundRect">
            <a:avLst>
              <a:gd name="adj" fmla="val 4000"/>
            </a:avLst>
          </a:prstGeom>
          <a:solidFill>
            <a:srgbClr val="F2F7F4"/>
          </a:solidFill>
          <a:ln w="12700">
            <a:solidFill>
              <a:srgbClr val="D6E0DA"/>
            </a:solidFill>
            <a:prstDash val="solid"/>
          </a:ln>
        </p:spPr>
      </p:sp>
      <p:sp>
        <p:nvSpPr>
          <p:cNvPr id="31" name="Text 29"/>
          <p:cNvSpPr/>
          <p:nvPr/>
        </p:nvSpPr>
        <p:spPr>
          <a:xfrm>
            <a:off x="950976" y="4864608"/>
            <a:ext cx="10289743" cy="292608"/>
          </a:xfrm>
          <a:prstGeom prst="rect">
            <a:avLst/>
          </a:prstGeom>
          <a:noFill/>
          <a:ln/>
        </p:spPr>
        <p:txBody>
          <a:bodyPr wrap="square" lIns="0" tIns="0" rIns="0" bIns="0" rtlCol="0" anchor="ctr"/>
          <a:lstStyle/>
          <a:p>
            <a:pPr indent="0" marL="0">
              <a:buNone/>
            </a:pPr>
            <a:r>
              <a:rPr lang="en-US" sz="1350" b="1" dirty="0">
                <a:solidFill>
                  <a:srgbClr val="1F3D34"/>
                </a:solidFill>
                <a:latin typeface="Yu Gothic" pitchFamily="34" charset="0"/>
                <a:ea typeface="Yu Gothic" pitchFamily="34" charset="-122"/>
                <a:cs typeface="Yu Gothic" pitchFamily="34" charset="-120"/>
              </a:rPr>
              <a:t>結論：国内リージョンに暗号化して保存し、AIへの送信経路をプライバシーポリシーに明示する構成であれば、問題なく運用できます。</a:t>
            </a:r>
            <a:endParaRPr lang="en-US" sz="1350" dirty="0"/>
          </a:p>
        </p:txBody>
      </p:sp>
      <p:sp>
        <p:nvSpPr>
          <p:cNvPr id="32" name="Text 30"/>
          <p:cNvSpPr/>
          <p:nvPr/>
        </p:nvSpPr>
        <p:spPr>
          <a:xfrm>
            <a:off x="950976" y="5212080"/>
            <a:ext cx="10289743" cy="621792"/>
          </a:xfrm>
          <a:prstGeom prst="rect">
            <a:avLst/>
          </a:prstGeom>
          <a:noFill/>
          <a:ln/>
        </p:spPr>
        <p:txBody>
          <a:bodyPr wrap="square" lIns="0" tIns="0" rIns="0" bIns="0" rtlCol="0" anchor="ctr"/>
          <a:lstStyle/>
          <a:p>
            <a:pPr indent="0" marL="0">
              <a:lnSpc>
                <a:spcPts val="1900"/>
              </a:lnSpc>
              <a:buNone/>
            </a:pPr>
            <a:r>
              <a:rPr lang="en-US" sz="1200" dirty="0">
                <a:solidFill>
                  <a:srgbClr val="12211C"/>
                </a:solidFill>
                <a:latin typeface="Yu Gothic" pitchFamily="34" charset="0"/>
                <a:ea typeface="Yu Gothic" pitchFamily="34" charset="-122"/>
                <a:cs typeface="Yu Gothic" pitchFamily="34" charset="-120"/>
              </a:rPr>
              <a:t>ただし、削除請求への対応と同意フローは設計の初期に組み込む必要があり、リリース後の追加は実質的な作り直しになります。推奨案では「個人情報・セキュリティ対応」として5人日を計上済みです。</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57200"/>
            <a:ext cx="365760" cy="365760"/>
          </a:xfrm>
          <a:prstGeom prst="ellipse">
            <a:avLst/>
          </a:prstGeom>
          <a:solidFill>
            <a:srgbClr val="1F3D34"/>
          </a:solidFill>
          <a:ln/>
        </p:spPr>
      </p:sp>
      <p:sp>
        <p:nvSpPr>
          <p:cNvPr id="3" name="Text 1"/>
          <p:cNvSpPr/>
          <p:nvPr/>
        </p:nvSpPr>
        <p:spPr>
          <a:xfrm>
            <a:off x="566928" y="4572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10</a:t>
            </a:r>
            <a:endParaRPr lang="en-US" sz="1200" dirty="0"/>
          </a:p>
        </p:txBody>
      </p:sp>
      <p:sp>
        <p:nvSpPr>
          <p:cNvPr id="4" name="Text 2"/>
          <p:cNvSpPr/>
          <p:nvPr/>
        </p:nvSpPr>
        <p:spPr>
          <a:xfrm>
            <a:off x="1133856" y="384048"/>
            <a:ext cx="10490911" cy="530352"/>
          </a:xfrm>
          <a:prstGeom prst="rect">
            <a:avLst/>
          </a:prstGeom>
          <a:noFill/>
          <a:ln/>
        </p:spPr>
        <p:txBody>
          <a:bodyPr wrap="square" lIns="0" tIns="0" rIns="0" bIns="0" rtlCol="0" anchor="ctr"/>
          <a:lstStyle/>
          <a:p>
            <a:pPr indent="0" marL="0">
              <a:buNone/>
            </a:pPr>
            <a:r>
              <a:rPr lang="en-US" sz="2700" b="1" dirty="0">
                <a:solidFill>
                  <a:srgbClr val="12211C"/>
                </a:solidFill>
                <a:latin typeface="Yu Gothic" pitchFamily="34" charset="0"/>
                <a:ea typeface="Yu Gothic" pitchFamily="34" charset="-122"/>
                <a:cs typeface="Yu Gothic" pitchFamily="34" charset="-120"/>
              </a:rPr>
              <a:t>スケジュール（推奨案・約4ヶ月）</a:t>
            </a:r>
            <a:endParaRPr lang="en-US" sz="2700" dirty="0"/>
          </a:p>
        </p:txBody>
      </p:sp>
      <p:sp>
        <p:nvSpPr>
          <p:cNvPr id="5" name="Text 3"/>
          <p:cNvSpPr/>
          <p:nvPr/>
        </p:nvSpPr>
        <p:spPr>
          <a:xfrm>
            <a:off x="566928" y="969264"/>
            <a:ext cx="11057839" cy="329184"/>
          </a:xfrm>
          <a:prstGeom prst="rect">
            <a:avLst/>
          </a:prstGeom>
          <a:noFill/>
          <a:ln/>
        </p:spPr>
        <p:txBody>
          <a:bodyPr wrap="square" lIns="0" tIns="0" rIns="0" bIns="0" rtlCol="0" anchor="t"/>
          <a:lstStyle/>
          <a:p>
            <a:pPr indent="0" marL="0">
              <a:buNone/>
            </a:pPr>
            <a:r>
              <a:rPr lang="en-US" sz="1350" dirty="0">
                <a:solidFill>
                  <a:srgbClr val="6C7C75"/>
                </a:solidFill>
                <a:latin typeface="Yu Gothic" pitchFamily="34" charset="0"/>
                <a:ea typeface="Yu Gothic" pitchFamily="34" charset="-122"/>
                <a:cs typeface="Yu Gothic" pitchFamily="34" charset="-120"/>
              </a:rPr>
              <a:t>高齢者ユーザーテストを3ヶ月目後半に置き、指摘を4ヶ月目で反映します。</a:t>
            </a:r>
            <a:endParaRPr lang="en-US" sz="1350" dirty="0"/>
          </a:p>
        </p:txBody>
      </p:sp>
      <p:sp>
        <p:nvSpPr>
          <p:cNvPr id="6" name="Shape 4"/>
          <p:cNvSpPr/>
          <p:nvPr/>
        </p:nvSpPr>
        <p:spPr>
          <a:xfrm>
            <a:off x="3200400" y="1755648"/>
            <a:ext cx="7315" cy="3767328"/>
          </a:xfrm>
          <a:prstGeom prst="rect">
            <a:avLst/>
          </a:prstGeom>
          <a:solidFill>
            <a:srgbClr val="D6E0DA"/>
          </a:solidFill>
          <a:ln/>
        </p:spPr>
      </p:sp>
      <p:sp>
        <p:nvSpPr>
          <p:cNvPr id="7" name="Text 5"/>
          <p:cNvSpPr/>
          <p:nvPr/>
        </p:nvSpPr>
        <p:spPr>
          <a:xfrm>
            <a:off x="3310128" y="1481328"/>
            <a:ext cx="1280160" cy="237744"/>
          </a:xfrm>
          <a:prstGeom prst="rect">
            <a:avLst/>
          </a:prstGeom>
          <a:noFill/>
          <a:ln/>
        </p:spPr>
        <p:txBody>
          <a:bodyPr wrap="square" lIns="0" tIns="0" rIns="0" bIns="0" rtlCol="0" anchor="ctr"/>
          <a:lstStyle/>
          <a:p>
            <a:pPr indent="0" marL="0">
              <a:buNone/>
            </a:pPr>
            <a:r>
              <a:rPr lang="en-US" sz="1100" b="1" dirty="0">
                <a:solidFill>
                  <a:srgbClr val="6C7C75"/>
                </a:solidFill>
                <a:latin typeface="Yu Gothic" pitchFamily="34" charset="0"/>
                <a:ea typeface="Yu Gothic" pitchFamily="34" charset="-122"/>
                <a:cs typeface="Yu Gothic" pitchFamily="34" charset="-120"/>
              </a:rPr>
              <a:t>1ヶ月目</a:t>
            </a:r>
            <a:endParaRPr lang="en-US" sz="1100" dirty="0"/>
          </a:p>
        </p:txBody>
      </p:sp>
      <p:sp>
        <p:nvSpPr>
          <p:cNvPr id="8" name="Shape 6"/>
          <p:cNvSpPr/>
          <p:nvPr/>
        </p:nvSpPr>
        <p:spPr>
          <a:xfrm>
            <a:off x="5306492" y="1755648"/>
            <a:ext cx="7315" cy="3767328"/>
          </a:xfrm>
          <a:prstGeom prst="rect">
            <a:avLst/>
          </a:prstGeom>
          <a:solidFill>
            <a:srgbClr val="D6E0DA"/>
          </a:solidFill>
          <a:ln/>
        </p:spPr>
      </p:sp>
      <p:sp>
        <p:nvSpPr>
          <p:cNvPr id="9" name="Text 7"/>
          <p:cNvSpPr/>
          <p:nvPr/>
        </p:nvSpPr>
        <p:spPr>
          <a:xfrm>
            <a:off x="5416220" y="1481328"/>
            <a:ext cx="1280160" cy="237744"/>
          </a:xfrm>
          <a:prstGeom prst="rect">
            <a:avLst/>
          </a:prstGeom>
          <a:noFill/>
          <a:ln/>
        </p:spPr>
        <p:txBody>
          <a:bodyPr wrap="square" lIns="0" tIns="0" rIns="0" bIns="0" rtlCol="0" anchor="ctr"/>
          <a:lstStyle/>
          <a:p>
            <a:pPr indent="0" marL="0">
              <a:buNone/>
            </a:pPr>
            <a:r>
              <a:rPr lang="en-US" sz="1100" b="1" dirty="0">
                <a:solidFill>
                  <a:srgbClr val="6C7C75"/>
                </a:solidFill>
                <a:latin typeface="Yu Gothic" pitchFamily="34" charset="0"/>
                <a:ea typeface="Yu Gothic" pitchFamily="34" charset="-122"/>
                <a:cs typeface="Yu Gothic" pitchFamily="34" charset="-120"/>
              </a:rPr>
              <a:t>2ヶ月目</a:t>
            </a:r>
            <a:endParaRPr lang="en-US" sz="1100" dirty="0"/>
          </a:p>
        </p:txBody>
      </p:sp>
      <p:sp>
        <p:nvSpPr>
          <p:cNvPr id="10" name="Shape 8"/>
          <p:cNvSpPr/>
          <p:nvPr/>
        </p:nvSpPr>
        <p:spPr>
          <a:xfrm>
            <a:off x="7412584" y="1755648"/>
            <a:ext cx="7315" cy="3767328"/>
          </a:xfrm>
          <a:prstGeom prst="rect">
            <a:avLst/>
          </a:prstGeom>
          <a:solidFill>
            <a:srgbClr val="D6E0DA"/>
          </a:solidFill>
          <a:ln/>
        </p:spPr>
      </p:sp>
      <p:sp>
        <p:nvSpPr>
          <p:cNvPr id="11" name="Text 9"/>
          <p:cNvSpPr/>
          <p:nvPr/>
        </p:nvSpPr>
        <p:spPr>
          <a:xfrm>
            <a:off x="7522312" y="1481328"/>
            <a:ext cx="1280160" cy="237744"/>
          </a:xfrm>
          <a:prstGeom prst="rect">
            <a:avLst/>
          </a:prstGeom>
          <a:noFill/>
          <a:ln/>
        </p:spPr>
        <p:txBody>
          <a:bodyPr wrap="square" lIns="0" tIns="0" rIns="0" bIns="0" rtlCol="0" anchor="ctr"/>
          <a:lstStyle/>
          <a:p>
            <a:pPr indent="0" marL="0">
              <a:buNone/>
            </a:pPr>
            <a:r>
              <a:rPr lang="en-US" sz="1100" b="1" dirty="0">
                <a:solidFill>
                  <a:srgbClr val="6C7C75"/>
                </a:solidFill>
                <a:latin typeface="Yu Gothic" pitchFamily="34" charset="0"/>
                <a:ea typeface="Yu Gothic" pitchFamily="34" charset="-122"/>
                <a:cs typeface="Yu Gothic" pitchFamily="34" charset="-120"/>
              </a:rPr>
              <a:t>3ヶ月目</a:t>
            </a:r>
            <a:endParaRPr lang="en-US" sz="1100" dirty="0"/>
          </a:p>
        </p:txBody>
      </p:sp>
      <p:sp>
        <p:nvSpPr>
          <p:cNvPr id="12" name="Shape 10"/>
          <p:cNvSpPr/>
          <p:nvPr/>
        </p:nvSpPr>
        <p:spPr>
          <a:xfrm>
            <a:off x="9518675" y="1755648"/>
            <a:ext cx="7315" cy="3767328"/>
          </a:xfrm>
          <a:prstGeom prst="rect">
            <a:avLst/>
          </a:prstGeom>
          <a:solidFill>
            <a:srgbClr val="D6E0DA"/>
          </a:solidFill>
          <a:ln/>
        </p:spPr>
      </p:sp>
      <p:sp>
        <p:nvSpPr>
          <p:cNvPr id="13" name="Text 11"/>
          <p:cNvSpPr/>
          <p:nvPr/>
        </p:nvSpPr>
        <p:spPr>
          <a:xfrm>
            <a:off x="9628403" y="1481328"/>
            <a:ext cx="1280160" cy="237744"/>
          </a:xfrm>
          <a:prstGeom prst="rect">
            <a:avLst/>
          </a:prstGeom>
          <a:noFill/>
          <a:ln/>
        </p:spPr>
        <p:txBody>
          <a:bodyPr wrap="square" lIns="0" tIns="0" rIns="0" bIns="0" rtlCol="0" anchor="ctr"/>
          <a:lstStyle/>
          <a:p>
            <a:pPr indent="0" marL="0">
              <a:buNone/>
            </a:pPr>
            <a:r>
              <a:rPr lang="en-US" sz="1100" b="1" dirty="0">
                <a:solidFill>
                  <a:srgbClr val="6C7C75"/>
                </a:solidFill>
                <a:latin typeface="Yu Gothic" pitchFamily="34" charset="0"/>
                <a:ea typeface="Yu Gothic" pitchFamily="34" charset="-122"/>
                <a:cs typeface="Yu Gothic" pitchFamily="34" charset="-120"/>
              </a:rPr>
              <a:t>4ヶ月目</a:t>
            </a:r>
            <a:endParaRPr lang="en-US" sz="1100" dirty="0"/>
          </a:p>
        </p:txBody>
      </p:sp>
      <p:sp>
        <p:nvSpPr>
          <p:cNvPr id="14" name="Shape 12"/>
          <p:cNvSpPr/>
          <p:nvPr/>
        </p:nvSpPr>
        <p:spPr>
          <a:xfrm>
            <a:off x="11624767" y="1755648"/>
            <a:ext cx="7315" cy="3767328"/>
          </a:xfrm>
          <a:prstGeom prst="rect">
            <a:avLst/>
          </a:prstGeom>
          <a:solidFill>
            <a:srgbClr val="D6E0DA"/>
          </a:solidFill>
          <a:ln/>
        </p:spPr>
      </p:sp>
      <p:sp>
        <p:nvSpPr>
          <p:cNvPr id="15" name="Text 13"/>
          <p:cNvSpPr/>
          <p:nvPr/>
        </p:nvSpPr>
        <p:spPr>
          <a:xfrm>
            <a:off x="566928" y="2066544"/>
            <a:ext cx="2450592" cy="384048"/>
          </a:xfrm>
          <a:prstGeom prst="rect">
            <a:avLst/>
          </a:prstGeom>
          <a:noFill/>
          <a:ln/>
        </p:spPr>
        <p:txBody>
          <a:bodyPr wrap="square" lIns="0" tIns="0" rIns="0" bIns="0" rtlCol="0" anchor="ctr"/>
          <a:lstStyle/>
          <a:p>
            <a:pPr algn="r" indent="0" marL="0">
              <a:buNone/>
            </a:pPr>
            <a:r>
              <a:rPr lang="en-US" sz="1200" dirty="0">
                <a:solidFill>
                  <a:srgbClr val="12211C"/>
                </a:solidFill>
                <a:latin typeface="Yu Gothic" pitchFamily="34" charset="0"/>
                <a:ea typeface="Yu Gothic" pitchFamily="34" charset="-122"/>
                <a:cs typeface="Yu Gothic" pitchFamily="34" charset="-120"/>
              </a:rPr>
              <a:t>要件定義・UI設計</a:t>
            </a:r>
            <a:endParaRPr lang="en-US" sz="1200" dirty="0"/>
          </a:p>
        </p:txBody>
      </p:sp>
      <p:sp>
        <p:nvSpPr>
          <p:cNvPr id="16" name="Shape 14"/>
          <p:cNvSpPr/>
          <p:nvPr/>
        </p:nvSpPr>
        <p:spPr>
          <a:xfrm>
            <a:off x="3218688" y="2121408"/>
            <a:ext cx="2659222" cy="274320"/>
          </a:xfrm>
          <a:prstGeom prst="roundRect">
            <a:avLst>
              <a:gd name="adj" fmla="val 13333"/>
            </a:avLst>
          </a:prstGeom>
          <a:solidFill>
            <a:srgbClr val="1F3D34"/>
          </a:solidFill>
          <a:ln/>
        </p:spPr>
      </p:sp>
      <p:sp>
        <p:nvSpPr>
          <p:cNvPr id="17" name="Text 15"/>
          <p:cNvSpPr/>
          <p:nvPr/>
        </p:nvSpPr>
        <p:spPr>
          <a:xfrm>
            <a:off x="566928" y="2578608"/>
            <a:ext cx="2450592" cy="384048"/>
          </a:xfrm>
          <a:prstGeom prst="rect">
            <a:avLst/>
          </a:prstGeom>
          <a:noFill/>
          <a:ln/>
        </p:spPr>
        <p:txBody>
          <a:bodyPr wrap="square" lIns="0" tIns="0" rIns="0" bIns="0" rtlCol="0" anchor="ctr"/>
          <a:lstStyle/>
          <a:p>
            <a:pPr algn="r" indent="0" marL="0">
              <a:buNone/>
            </a:pPr>
            <a:r>
              <a:rPr lang="en-US" sz="1200" dirty="0">
                <a:solidFill>
                  <a:srgbClr val="12211C"/>
                </a:solidFill>
                <a:latin typeface="Yu Gothic" pitchFamily="34" charset="0"/>
                <a:ea typeface="Yu Gothic" pitchFamily="34" charset="-122"/>
                <a:cs typeface="Yu Gothic" pitchFamily="34" charset="-120"/>
              </a:rPr>
              <a:t>基盤構築</a:t>
            </a:r>
            <a:endParaRPr lang="en-US" sz="1200" dirty="0"/>
          </a:p>
        </p:txBody>
      </p:sp>
      <p:sp>
        <p:nvSpPr>
          <p:cNvPr id="18" name="Shape 16"/>
          <p:cNvSpPr/>
          <p:nvPr/>
        </p:nvSpPr>
        <p:spPr>
          <a:xfrm>
            <a:off x="4229612" y="2633472"/>
            <a:ext cx="1648297" cy="274320"/>
          </a:xfrm>
          <a:prstGeom prst="roundRect">
            <a:avLst>
              <a:gd name="adj" fmla="val 13333"/>
            </a:avLst>
          </a:prstGeom>
          <a:solidFill>
            <a:srgbClr val="6E9A85"/>
          </a:solidFill>
          <a:ln/>
        </p:spPr>
      </p:sp>
      <p:sp>
        <p:nvSpPr>
          <p:cNvPr id="19" name="Text 17"/>
          <p:cNvSpPr/>
          <p:nvPr/>
        </p:nvSpPr>
        <p:spPr>
          <a:xfrm>
            <a:off x="566928" y="3090672"/>
            <a:ext cx="2450592" cy="384048"/>
          </a:xfrm>
          <a:prstGeom prst="rect">
            <a:avLst/>
          </a:prstGeom>
          <a:noFill/>
          <a:ln/>
        </p:spPr>
        <p:txBody>
          <a:bodyPr wrap="square" lIns="0" tIns="0" rIns="0" bIns="0" rtlCol="0" anchor="ctr"/>
          <a:lstStyle/>
          <a:p>
            <a:pPr algn="r" indent="0" marL="0">
              <a:buNone/>
            </a:pPr>
            <a:r>
              <a:rPr lang="en-US" sz="1200" dirty="0">
                <a:solidFill>
                  <a:srgbClr val="12211C"/>
                </a:solidFill>
                <a:latin typeface="Yu Gothic" pitchFamily="34" charset="0"/>
                <a:ea typeface="Yu Gothic" pitchFamily="34" charset="-122"/>
                <a:cs typeface="Yu Gothic" pitchFamily="34" charset="-120"/>
              </a:rPr>
              <a:t>音声会話コア</a:t>
            </a:r>
            <a:endParaRPr lang="en-US" sz="1200" dirty="0"/>
          </a:p>
        </p:txBody>
      </p:sp>
      <p:sp>
        <p:nvSpPr>
          <p:cNvPr id="20" name="Shape 18"/>
          <p:cNvSpPr/>
          <p:nvPr/>
        </p:nvSpPr>
        <p:spPr>
          <a:xfrm>
            <a:off x="5072049" y="3145536"/>
            <a:ext cx="3164684" cy="274320"/>
          </a:xfrm>
          <a:prstGeom prst="roundRect">
            <a:avLst>
              <a:gd name="adj" fmla="val 13333"/>
            </a:avLst>
          </a:prstGeom>
          <a:solidFill>
            <a:srgbClr val="1F3D34"/>
          </a:solidFill>
          <a:ln/>
        </p:spPr>
      </p:sp>
      <p:sp>
        <p:nvSpPr>
          <p:cNvPr id="21" name="Text 19"/>
          <p:cNvSpPr/>
          <p:nvPr/>
        </p:nvSpPr>
        <p:spPr>
          <a:xfrm>
            <a:off x="566928" y="3602736"/>
            <a:ext cx="2450592" cy="384048"/>
          </a:xfrm>
          <a:prstGeom prst="rect">
            <a:avLst/>
          </a:prstGeom>
          <a:noFill/>
          <a:ln/>
        </p:spPr>
        <p:txBody>
          <a:bodyPr wrap="square" lIns="0" tIns="0" rIns="0" bIns="0" rtlCol="0" anchor="ctr"/>
          <a:lstStyle/>
          <a:p>
            <a:pPr algn="r" indent="0" marL="0">
              <a:buNone/>
            </a:pPr>
            <a:r>
              <a:rPr lang="en-US" sz="1200" dirty="0">
                <a:solidFill>
                  <a:srgbClr val="12211C"/>
                </a:solidFill>
                <a:latin typeface="Yu Gothic" pitchFamily="34" charset="0"/>
                <a:ea typeface="Yu Gothic" pitchFamily="34" charset="-122"/>
                <a:cs typeface="Yu Gothic" pitchFamily="34" charset="-120"/>
              </a:rPr>
              <a:t>記憶基盤</a:t>
            </a:r>
            <a:endParaRPr lang="en-US" sz="1200" dirty="0"/>
          </a:p>
        </p:txBody>
      </p:sp>
      <p:sp>
        <p:nvSpPr>
          <p:cNvPr id="22" name="Shape 20"/>
          <p:cNvSpPr/>
          <p:nvPr/>
        </p:nvSpPr>
        <p:spPr>
          <a:xfrm>
            <a:off x="5577511" y="3657600"/>
            <a:ext cx="3333171" cy="274320"/>
          </a:xfrm>
          <a:prstGeom prst="roundRect">
            <a:avLst>
              <a:gd name="adj" fmla="val 13333"/>
            </a:avLst>
          </a:prstGeom>
          <a:solidFill>
            <a:srgbClr val="1F3D34"/>
          </a:solidFill>
          <a:ln/>
        </p:spPr>
      </p:sp>
      <p:sp>
        <p:nvSpPr>
          <p:cNvPr id="23" name="Text 21"/>
          <p:cNvSpPr/>
          <p:nvPr/>
        </p:nvSpPr>
        <p:spPr>
          <a:xfrm>
            <a:off x="566928" y="4114800"/>
            <a:ext cx="2450592" cy="384048"/>
          </a:xfrm>
          <a:prstGeom prst="rect">
            <a:avLst/>
          </a:prstGeom>
          <a:noFill/>
          <a:ln/>
        </p:spPr>
        <p:txBody>
          <a:bodyPr wrap="square" lIns="0" tIns="0" rIns="0" bIns="0" rtlCol="0" anchor="ctr"/>
          <a:lstStyle/>
          <a:p>
            <a:pPr algn="r" indent="0" marL="0">
              <a:buNone/>
            </a:pPr>
            <a:r>
              <a:rPr lang="en-US" sz="1200" dirty="0">
                <a:solidFill>
                  <a:srgbClr val="12211C"/>
                </a:solidFill>
                <a:latin typeface="Yu Gothic" pitchFamily="34" charset="0"/>
                <a:ea typeface="Yu Gothic" pitchFamily="34" charset="-122"/>
                <a:cs typeface="Yu Gothic" pitchFamily="34" charset="-120"/>
              </a:rPr>
              <a:t>UI・ログイン実装</a:t>
            </a:r>
            <a:endParaRPr lang="en-US" sz="1200" dirty="0"/>
          </a:p>
        </p:txBody>
      </p:sp>
      <p:sp>
        <p:nvSpPr>
          <p:cNvPr id="24" name="Shape 22"/>
          <p:cNvSpPr/>
          <p:nvPr/>
        </p:nvSpPr>
        <p:spPr>
          <a:xfrm>
            <a:off x="7009653" y="4169664"/>
            <a:ext cx="2743465" cy="274320"/>
          </a:xfrm>
          <a:prstGeom prst="roundRect">
            <a:avLst>
              <a:gd name="adj" fmla="val 13333"/>
            </a:avLst>
          </a:prstGeom>
          <a:solidFill>
            <a:srgbClr val="6E9A85"/>
          </a:solidFill>
          <a:ln/>
        </p:spPr>
      </p:sp>
      <p:sp>
        <p:nvSpPr>
          <p:cNvPr id="25" name="Text 23"/>
          <p:cNvSpPr/>
          <p:nvPr/>
        </p:nvSpPr>
        <p:spPr>
          <a:xfrm>
            <a:off x="566928" y="4626864"/>
            <a:ext cx="2450592" cy="384048"/>
          </a:xfrm>
          <a:prstGeom prst="rect">
            <a:avLst/>
          </a:prstGeom>
          <a:noFill/>
          <a:ln/>
        </p:spPr>
        <p:txBody>
          <a:bodyPr wrap="square" lIns="0" tIns="0" rIns="0" bIns="0" rtlCol="0" anchor="ctr"/>
          <a:lstStyle/>
          <a:p>
            <a:pPr algn="r" indent="0" marL="0">
              <a:buNone/>
            </a:pPr>
            <a:r>
              <a:rPr lang="en-US" sz="1200" dirty="0">
                <a:solidFill>
                  <a:srgbClr val="12211C"/>
                </a:solidFill>
                <a:latin typeface="Yu Gothic" pitchFamily="34" charset="0"/>
                <a:ea typeface="Yu Gothic" pitchFamily="34" charset="-122"/>
                <a:cs typeface="Yu Gothic" pitchFamily="34" charset="-120"/>
              </a:rPr>
              <a:t>通知・管理画面</a:t>
            </a:r>
            <a:endParaRPr lang="en-US" sz="1200" dirty="0"/>
          </a:p>
        </p:txBody>
      </p:sp>
      <p:sp>
        <p:nvSpPr>
          <p:cNvPr id="26" name="Shape 24"/>
          <p:cNvSpPr/>
          <p:nvPr/>
        </p:nvSpPr>
        <p:spPr>
          <a:xfrm>
            <a:off x="8273308" y="4681728"/>
            <a:ext cx="1648297" cy="274320"/>
          </a:xfrm>
          <a:prstGeom prst="roundRect">
            <a:avLst>
              <a:gd name="adj" fmla="val 13333"/>
            </a:avLst>
          </a:prstGeom>
          <a:solidFill>
            <a:srgbClr val="6E9A85"/>
          </a:solidFill>
          <a:ln/>
        </p:spPr>
      </p:sp>
      <p:sp>
        <p:nvSpPr>
          <p:cNvPr id="27" name="Text 25"/>
          <p:cNvSpPr/>
          <p:nvPr/>
        </p:nvSpPr>
        <p:spPr>
          <a:xfrm>
            <a:off x="566928" y="5138928"/>
            <a:ext cx="2450592" cy="384048"/>
          </a:xfrm>
          <a:prstGeom prst="rect">
            <a:avLst/>
          </a:prstGeom>
          <a:noFill/>
          <a:ln/>
        </p:spPr>
        <p:txBody>
          <a:bodyPr wrap="square" lIns="0" tIns="0" rIns="0" bIns="0" rtlCol="0" anchor="ctr"/>
          <a:lstStyle/>
          <a:p>
            <a:pPr algn="r" indent="0" marL="0">
              <a:buNone/>
            </a:pPr>
            <a:r>
              <a:rPr lang="en-US" sz="1200" dirty="0">
                <a:solidFill>
                  <a:srgbClr val="12211C"/>
                </a:solidFill>
                <a:latin typeface="Yu Gothic" pitchFamily="34" charset="0"/>
                <a:ea typeface="Yu Gothic" pitchFamily="34" charset="-122"/>
                <a:cs typeface="Yu Gothic" pitchFamily="34" charset="-120"/>
              </a:rPr>
              <a:t>テスト・ユーザーテスト・修正</a:t>
            </a:r>
            <a:endParaRPr lang="en-US" sz="1200" dirty="0"/>
          </a:p>
        </p:txBody>
      </p:sp>
      <p:sp>
        <p:nvSpPr>
          <p:cNvPr id="28" name="Shape 26"/>
          <p:cNvSpPr/>
          <p:nvPr/>
        </p:nvSpPr>
        <p:spPr>
          <a:xfrm>
            <a:off x="9452720" y="5193792"/>
            <a:ext cx="2153759" cy="274320"/>
          </a:xfrm>
          <a:prstGeom prst="roundRect">
            <a:avLst>
              <a:gd name="adj" fmla="val 13333"/>
            </a:avLst>
          </a:prstGeom>
          <a:solidFill>
            <a:srgbClr val="C4682A"/>
          </a:solidFill>
          <a:ln/>
        </p:spPr>
      </p:sp>
      <p:sp>
        <p:nvSpPr>
          <p:cNvPr id="29" name="Shape 27"/>
          <p:cNvSpPr/>
          <p:nvPr/>
        </p:nvSpPr>
        <p:spPr>
          <a:xfrm>
            <a:off x="566928" y="5779008"/>
            <a:ext cx="11057839" cy="640080"/>
          </a:xfrm>
          <a:prstGeom prst="roundRect">
            <a:avLst>
              <a:gd name="adj" fmla="val 8571"/>
            </a:avLst>
          </a:prstGeom>
          <a:solidFill>
            <a:srgbClr val="FAEDE1"/>
          </a:solidFill>
          <a:ln w="12700">
            <a:solidFill>
              <a:srgbClr val="EDD3BC"/>
            </a:solidFill>
            <a:prstDash val="solid"/>
          </a:ln>
        </p:spPr>
      </p:sp>
      <p:sp>
        <p:nvSpPr>
          <p:cNvPr id="30" name="Text 28"/>
          <p:cNvSpPr/>
          <p:nvPr/>
        </p:nvSpPr>
        <p:spPr>
          <a:xfrm>
            <a:off x="950976" y="5779008"/>
            <a:ext cx="10289743" cy="640080"/>
          </a:xfrm>
          <a:prstGeom prst="rect">
            <a:avLst/>
          </a:prstGeom>
          <a:noFill/>
          <a:ln/>
        </p:spPr>
        <p:txBody>
          <a:bodyPr wrap="square" lIns="0" tIns="0" rIns="0" bIns="0" rtlCol="0" anchor="ctr"/>
          <a:lstStyle/>
          <a:p>
            <a:pPr indent="0" marL="0">
              <a:buNone/>
            </a:pPr>
            <a:r>
              <a:rPr lang="en-US" sz="1200" dirty="0">
                <a:solidFill>
                  <a:srgbClr val="12211C"/>
                </a:solidFill>
                <a:latin typeface="Yu Gothic" pitchFamily="34" charset="0"/>
                <a:ea typeface="Yu Gothic" pitchFamily="34" charset="-122"/>
                <a:cs typeface="Yu Gothic" pitchFamily="34" charset="-120"/>
              </a:rPr>
              <a:t>前提：ユーザーテストの被験者手配は社内で行う。要件確定後の大幅な仕様変更は別途見積となる。</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57200"/>
            <a:ext cx="365760" cy="365760"/>
          </a:xfrm>
          <a:prstGeom prst="ellipse">
            <a:avLst/>
          </a:prstGeom>
          <a:solidFill>
            <a:srgbClr val="1F3D34"/>
          </a:solidFill>
          <a:ln/>
        </p:spPr>
      </p:sp>
      <p:sp>
        <p:nvSpPr>
          <p:cNvPr id="3" name="Text 1"/>
          <p:cNvSpPr/>
          <p:nvPr/>
        </p:nvSpPr>
        <p:spPr>
          <a:xfrm>
            <a:off x="566928" y="4572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11</a:t>
            </a:r>
            <a:endParaRPr lang="en-US" sz="1200" dirty="0"/>
          </a:p>
        </p:txBody>
      </p:sp>
      <p:sp>
        <p:nvSpPr>
          <p:cNvPr id="4" name="Text 2"/>
          <p:cNvSpPr/>
          <p:nvPr/>
        </p:nvSpPr>
        <p:spPr>
          <a:xfrm>
            <a:off x="1133856" y="384048"/>
            <a:ext cx="10490911" cy="530352"/>
          </a:xfrm>
          <a:prstGeom prst="rect">
            <a:avLst/>
          </a:prstGeom>
          <a:noFill/>
          <a:ln/>
        </p:spPr>
        <p:txBody>
          <a:bodyPr wrap="square" lIns="0" tIns="0" rIns="0" bIns="0" rtlCol="0" anchor="ctr"/>
          <a:lstStyle/>
          <a:p>
            <a:pPr indent="0" marL="0">
              <a:buNone/>
            </a:pPr>
            <a:r>
              <a:rPr lang="en-US" sz="2700" b="1" dirty="0">
                <a:solidFill>
                  <a:srgbClr val="12211C"/>
                </a:solidFill>
                <a:latin typeface="Yu Gothic" pitchFamily="34" charset="0"/>
                <a:ea typeface="Yu Gothic" pitchFamily="34" charset="-122"/>
                <a:cs typeface="Yu Gothic" pitchFamily="34" charset="-120"/>
              </a:rPr>
              <a:t>リスクと、見積に含まないもの</a:t>
            </a:r>
            <a:endParaRPr lang="en-US" sz="2700" dirty="0"/>
          </a:p>
        </p:txBody>
      </p:sp>
      <p:sp>
        <p:nvSpPr>
          <p:cNvPr id="5" name="Text 3"/>
          <p:cNvSpPr/>
          <p:nvPr/>
        </p:nvSpPr>
        <p:spPr>
          <a:xfrm>
            <a:off x="566928" y="1463040"/>
            <a:ext cx="5336896" cy="310896"/>
          </a:xfrm>
          <a:prstGeom prst="rect">
            <a:avLst/>
          </a:prstGeom>
          <a:noFill/>
          <a:ln/>
        </p:spPr>
        <p:txBody>
          <a:bodyPr wrap="square" lIns="0" tIns="0" rIns="0" bIns="0" rtlCol="0" anchor="ctr"/>
          <a:lstStyle/>
          <a:p>
            <a:pPr indent="0" marL="0">
              <a:buNone/>
            </a:pPr>
            <a:r>
              <a:rPr lang="en-US" sz="1500" b="1" dirty="0">
                <a:solidFill>
                  <a:srgbClr val="9E3B2D"/>
                </a:solidFill>
                <a:latin typeface="Yu Gothic" pitchFamily="34" charset="0"/>
                <a:ea typeface="Yu Gothic" pitchFamily="34" charset="-122"/>
                <a:cs typeface="Yu Gothic" pitchFamily="34" charset="-120"/>
              </a:rPr>
              <a:t>主要リスク</a:t>
            </a:r>
            <a:endParaRPr lang="en-US" sz="1500" dirty="0"/>
          </a:p>
        </p:txBody>
      </p:sp>
      <p:sp>
        <p:nvSpPr>
          <p:cNvPr id="6" name="Shape 4"/>
          <p:cNvSpPr/>
          <p:nvPr/>
        </p:nvSpPr>
        <p:spPr>
          <a:xfrm>
            <a:off x="566928" y="1883664"/>
            <a:ext cx="5336896" cy="1170432"/>
          </a:xfrm>
          <a:prstGeom prst="roundRect">
            <a:avLst>
              <a:gd name="adj" fmla="val 4688"/>
            </a:avLst>
          </a:prstGeom>
          <a:solidFill>
            <a:srgbClr val="FFFFFF"/>
          </a:solidFill>
          <a:ln w="12700">
            <a:solidFill>
              <a:srgbClr val="D6E0DA"/>
            </a:solidFill>
            <a:prstDash val="solid"/>
          </a:ln>
          <a:effectLst>
            <a:outerShdw sx="100000" sy="100000" kx="0" ky="0" algn="bl" rotWithShape="0" blurRad="127000" dist="25400" dir="5400000">
              <a:srgbClr val="1F3D34">
                <a:alpha val="10000"/>
              </a:srgbClr>
            </a:outerShdw>
          </a:effectLst>
        </p:spPr>
      </p:sp>
      <p:sp>
        <p:nvSpPr>
          <p:cNvPr id="7" name="Shape 5"/>
          <p:cNvSpPr/>
          <p:nvPr/>
        </p:nvSpPr>
        <p:spPr>
          <a:xfrm>
            <a:off x="841248" y="2103120"/>
            <a:ext cx="329184" cy="329184"/>
          </a:xfrm>
          <a:prstGeom prst="ellipse">
            <a:avLst/>
          </a:prstGeom>
          <a:solidFill>
            <a:srgbClr val="9E3B2D"/>
          </a:solidFill>
          <a:ln/>
        </p:spPr>
      </p:sp>
      <p:sp>
        <p:nvSpPr>
          <p:cNvPr id="8" name="Text 6"/>
          <p:cNvSpPr/>
          <p:nvPr/>
        </p:nvSpPr>
        <p:spPr>
          <a:xfrm>
            <a:off x="841248" y="2103120"/>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1</a:t>
            </a:r>
            <a:endParaRPr lang="en-US" sz="1100" dirty="0"/>
          </a:p>
        </p:txBody>
      </p:sp>
      <p:sp>
        <p:nvSpPr>
          <p:cNvPr id="9" name="Text 7"/>
          <p:cNvSpPr/>
          <p:nvPr/>
        </p:nvSpPr>
        <p:spPr>
          <a:xfrm>
            <a:off x="1316736" y="2066544"/>
            <a:ext cx="4312768" cy="274320"/>
          </a:xfrm>
          <a:prstGeom prst="rect">
            <a:avLst/>
          </a:prstGeom>
          <a:noFill/>
          <a:ln/>
        </p:spPr>
        <p:txBody>
          <a:bodyPr wrap="square" lIns="0" tIns="0" rIns="0" bIns="0" rtlCol="0" anchor="ctr"/>
          <a:lstStyle/>
          <a:p>
            <a:pPr indent="0" marL="0">
              <a:buNone/>
            </a:pPr>
            <a:r>
              <a:rPr lang="en-US" sz="1350" b="1" dirty="0">
                <a:solidFill>
                  <a:srgbClr val="12211C"/>
                </a:solidFill>
                <a:latin typeface="Yu Gothic" pitchFamily="34" charset="0"/>
                <a:ea typeface="Yu Gothic" pitchFamily="34" charset="-122"/>
                <a:cs typeface="Yu Gothic" pitchFamily="34" charset="-120"/>
              </a:rPr>
              <a:t>API単価の改定</a:t>
            </a:r>
            <a:endParaRPr lang="en-US" sz="1350" dirty="0"/>
          </a:p>
        </p:txBody>
      </p:sp>
      <p:sp>
        <p:nvSpPr>
          <p:cNvPr id="10" name="Text 8"/>
          <p:cNvSpPr/>
          <p:nvPr/>
        </p:nvSpPr>
        <p:spPr>
          <a:xfrm>
            <a:off x="1316736" y="2377440"/>
            <a:ext cx="4312768" cy="603504"/>
          </a:xfrm>
          <a:prstGeom prst="rect">
            <a:avLst/>
          </a:prstGeom>
          <a:noFill/>
          <a:ln/>
        </p:spPr>
        <p:txBody>
          <a:bodyPr wrap="square" lIns="0" tIns="0" rIns="0" bIns="0" rtlCol="0" anchor="ctr"/>
          <a:lstStyle/>
          <a:p>
            <a:pPr indent="0" marL="0">
              <a:lnSpc>
                <a:spcPts val="1600"/>
              </a:lnSpc>
              <a:buNone/>
            </a:pPr>
            <a:r>
              <a:rPr lang="en-US" sz="1100" dirty="0">
                <a:solidFill>
                  <a:srgbClr val="6C7C75"/>
                </a:solidFill>
                <a:latin typeface="Yu Gothic" pitchFamily="34" charset="0"/>
                <a:ea typeface="Yu Gothic" pitchFamily="34" charset="-122"/>
                <a:cs typeface="Yu Gothic" pitchFamily="34" charset="-120"/>
              </a:rPr>
              <a:t>音声AIの価格は改定が頻繁。原価が上振れすると回収モデルが崩れる。会話時間の上限を管理画面から変更できる設計で吸収する。</a:t>
            </a:r>
            <a:endParaRPr lang="en-US" sz="1100" dirty="0"/>
          </a:p>
        </p:txBody>
      </p:sp>
      <p:sp>
        <p:nvSpPr>
          <p:cNvPr id="11" name="Shape 9"/>
          <p:cNvSpPr/>
          <p:nvPr/>
        </p:nvSpPr>
        <p:spPr>
          <a:xfrm>
            <a:off x="566928" y="3200400"/>
            <a:ext cx="5336896" cy="1170432"/>
          </a:xfrm>
          <a:prstGeom prst="roundRect">
            <a:avLst>
              <a:gd name="adj" fmla="val 4688"/>
            </a:avLst>
          </a:prstGeom>
          <a:solidFill>
            <a:srgbClr val="FFFFFF"/>
          </a:solidFill>
          <a:ln w="12700">
            <a:solidFill>
              <a:srgbClr val="D6E0DA"/>
            </a:solidFill>
            <a:prstDash val="solid"/>
          </a:ln>
          <a:effectLst>
            <a:outerShdw sx="100000" sy="100000" kx="0" ky="0" algn="bl" rotWithShape="0" blurRad="127000" dist="25400" dir="5400000">
              <a:srgbClr val="1F3D34">
                <a:alpha val="10000"/>
              </a:srgbClr>
            </a:outerShdw>
          </a:effectLst>
        </p:spPr>
      </p:sp>
      <p:sp>
        <p:nvSpPr>
          <p:cNvPr id="12" name="Shape 10"/>
          <p:cNvSpPr/>
          <p:nvPr/>
        </p:nvSpPr>
        <p:spPr>
          <a:xfrm>
            <a:off x="841248" y="3419856"/>
            <a:ext cx="329184" cy="329184"/>
          </a:xfrm>
          <a:prstGeom prst="ellipse">
            <a:avLst/>
          </a:prstGeom>
          <a:solidFill>
            <a:srgbClr val="9E3B2D"/>
          </a:solidFill>
          <a:ln/>
        </p:spPr>
      </p:sp>
      <p:sp>
        <p:nvSpPr>
          <p:cNvPr id="13" name="Text 11"/>
          <p:cNvSpPr/>
          <p:nvPr/>
        </p:nvSpPr>
        <p:spPr>
          <a:xfrm>
            <a:off x="841248" y="341985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2</a:t>
            </a:r>
            <a:endParaRPr lang="en-US" sz="1100" dirty="0"/>
          </a:p>
        </p:txBody>
      </p:sp>
      <p:sp>
        <p:nvSpPr>
          <p:cNvPr id="14" name="Text 12"/>
          <p:cNvSpPr/>
          <p:nvPr/>
        </p:nvSpPr>
        <p:spPr>
          <a:xfrm>
            <a:off x="1316736" y="3383280"/>
            <a:ext cx="4312768" cy="274320"/>
          </a:xfrm>
          <a:prstGeom prst="rect">
            <a:avLst/>
          </a:prstGeom>
          <a:noFill/>
          <a:ln/>
        </p:spPr>
        <p:txBody>
          <a:bodyPr wrap="square" lIns="0" tIns="0" rIns="0" bIns="0" rtlCol="0" anchor="ctr"/>
          <a:lstStyle/>
          <a:p>
            <a:pPr indent="0" marL="0">
              <a:buNone/>
            </a:pPr>
            <a:r>
              <a:rPr lang="en-US" sz="1350" b="1" dirty="0">
                <a:solidFill>
                  <a:srgbClr val="12211C"/>
                </a:solidFill>
                <a:latin typeface="Yu Gothic" pitchFamily="34" charset="0"/>
                <a:ea typeface="Yu Gothic" pitchFamily="34" charset="-122"/>
                <a:cs typeface="Yu Gothic" pitchFamily="34" charset="-120"/>
              </a:rPr>
              <a:t>継続率が読めない</a:t>
            </a:r>
            <a:endParaRPr lang="en-US" sz="1350" dirty="0"/>
          </a:p>
        </p:txBody>
      </p:sp>
      <p:sp>
        <p:nvSpPr>
          <p:cNvPr id="15" name="Text 13"/>
          <p:cNvSpPr/>
          <p:nvPr/>
        </p:nvSpPr>
        <p:spPr>
          <a:xfrm>
            <a:off x="1316736" y="3694176"/>
            <a:ext cx="4312768" cy="603504"/>
          </a:xfrm>
          <a:prstGeom prst="rect">
            <a:avLst/>
          </a:prstGeom>
          <a:noFill/>
          <a:ln/>
        </p:spPr>
        <p:txBody>
          <a:bodyPr wrap="square" lIns="0" tIns="0" rIns="0" bIns="0" rtlCol="0" anchor="ctr"/>
          <a:lstStyle/>
          <a:p>
            <a:pPr indent="0" marL="0">
              <a:lnSpc>
                <a:spcPts val="1600"/>
              </a:lnSpc>
              <a:buNone/>
            </a:pPr>
            <a:r>
              <a:rPr lang="en-US" sz="1100" dirty="0">
                <a:solidFill>
                  <a:srgbClr val="6C7C75"/>
                </a:solidFill>
                <a:latin typeface="Yu Gothic" pitchFamily="34" charset="0"/>
                <a:ea typeface="Yu Gothic" pitchFamily="34" charset="-122"/>
                <a:cs typeface="Yu Gothic" pitchFamily="34" charset="-120"/>
              </a:rPr>
              <a:t>毎日話しかけてもらえるかは、作ってみないと分からない。A案で数名に使ってもらい実測してからB案に進む理由がここにある。</a:t>
            </a:r>
            <a:endParaRPr lang="en-US" sz="1100" dirty="0"/>
          </a:p>
        </p:txBody>
      </p:sp>
      <p:sp>
        <p:nvSpPr>
          <p:cNvPr id="16" name="Shape 14"/>
          <p:cNvSpPr/>
          <p:nvPr/>
        </p:nvSpPr>
        <p:spPr>
          <a:xfrm>
            <a:off x="566928" y="4517136"/>
            <a:ext cx="5336896" cy="1170432"/>
          </a:xfrm>
          <a:prstGeom prst="roundRect">
            <a:avLst>
              <a:gd name="adj" fmla="val 4688"/>
            </a:avLst>
          </a:prstGeom>
          <a:solidFill>
            <a:srgbClr val="FFFFFF"/>
          </a:solidFill>
          <a:ln w="12700">
            <a:solidFill>
              <a:srgbClr val="D6E0DA"/>
            </a:solidFill>
            <a:prstDash val="solid"/>
          </a:ln>
          <a:effectLst>
            <a:outerShdw sx="100000" sy="100000" kx="0" ky="0" algn="bl" rotWithShape="0" blurRad="127000" dist="25400" dir="5400000">
              <a:srgbClr val="1F3D34">
                <a:alpha val="10000"/>
              </a:srgbClr>
            </a:outerShdw>
          </a:effectLst>
        </p:spPr>
      </p:sp>
      <p:sp>
        <p:nvSpPr>
          <p:cNvPr id="17" name="Shape 15"/>
          <p:cNvSpPr/>
          <p:nvPr/>
        </p:nvSpPr>
        <p:spPr>
          <a:xfrm>
            <a:off x="841248" y="4736592"/>
            <a:ext cx="329184" cy="329184"/>
          </a:xfrm>
          <a:prstGeom prst="ellipse">
            <a:avLst/>
          </a:prstGeom>
          <a:solidFill>
            <a:srgbClr val="9E3B2D"/>
          </a:solidFill>
          <a:ln/>
        </p:spPr>
      </p:sp>
      <p:sp>
        <p:nvSpPr>
          <p:cNvPr id="18" name="Text 16"/>
          <p:cNvSpPr/>
          <p:nvPr/>
        </p:nvSpPr>
        <p:spPr>
          <a:xfrm>
            <a:off x="841248" y="4736592"/>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3</a:t>
            </a:r>
            <a:endParaRPr lang="en-US" sz="1100" dirty="0"/>
          </a:p>
        </p:txBody>
      </p:sp>
      <p:sp>
        <p:nvSpPr>
          <p:cNvPr id="19" name="Text 17"/>
          <p:cNvSpPr/>
          <p:nvPr/>
        </p:nvSpPr>
        <p:spPr>
          <a:xfrm>
            <a:off x="1316736" y="4700016"/>
            <a:ext cx="4312768" cy="274320"/>
          </a:xfrm>
          <a:prstGeom prst="rect">
            <a:avLst/>
          </a:prstGeom>
          <a:noFill/>
          <a:ln/>
        </p:spPr>
        <p:txBody>
          <a:bodyPr wrap="square" lIns="0" tIns="0" rIns="0" bIns="0" rtlCol="0" anchor="ctr"/>
          <a:lstStyle/>
          <a:p>
            <a:pPr indent="0" marL="0">
              <a:buNone/>
            </a:pPr>
            <a:r>
              <a:rPr lang="en-US" sz="1350" b="1" dirty="0">
                <a:solidFill>
                  <a:srgbClr val="12211C"/>
                </a:solidFill>
                <a:latin typeface="Yu Gothic" pitchFamily="34" charset="0"/>
                <a:ea typeface="Yu Gothic" pitchFamily="34" charset="-122"/>
                <a:cs typeface="Yu Gothic" pitchFamily="34" charset="-120"/>
              </a:rPr>
              <a:t>責任範囲の線引き</a:t>
            </a:r>
            <a:endParaRPr lang="en-US" sz="1350" dirty="0"/>
          </a:p>
        </p:txBody>
      </p:sp>
      <p:sp>
        <p:nvSpPr>
          <p:cNvPr id="20" name="Text 18"/>
          <p:cNvSpPr/>
          <p:nvPr/>
        </p:nvSpPr>
        <p:spPr>
          <a:xfrm>
            <a:off x="1316736" y="5010912"/>
            <a:ext cx="4312768" cy="603504"/>
          </a:xfrm>
          <a:prstGeom prst="rect">
            <a:avLst/>
          </a:prstGeom>
          <a:noFill/>
          <a:ln/>
        </p:spPr>
        <p:txBody>
          <a:bodyPr wrap="square" lIns="0" tIns="0" rIns="0" bIns="0" rtlCol="0" anchor="ctr"/>
          <a:lstStyle/>
          <a:p>
            <a:pPr indent="0" marL="0">
              <a:lnSpc>
                <a:spcPts val="1600"/>
              </a:lnSpc>
              <a:buNone/>
            </a:pPr>
            <a:r>
              <a:rPr lang="en-US" sz="1100" dirty="0">
                <a:solidFill>
                  <a:srgbClr val="6C7C75"/>
                </a:solidFill>
                <a:latin typeface="Yu Gothic" pitchFamily="34" charset="0"/>
                <a:ea typeface="Yu Gothic" pitchFamily="34" charset="-122"/>
                <a:cs typeface="Yu Gothic" pitchFamily="34" charset="-120"/>
              </a:rPr>
              <a:t>「安否確認できると思っていた」という期待のずれが最大のリスク。本アプリは会話の相手であり見守りシステムではないことを、規約と画面の両方で明示する。</a:t>
            </a:r>
            <a:endParaRPr lang="en-US" sz="1100" dirty="0"/>
          </a:p>
        </p:txBody>
      </p:sp>
      <p:sp>
        <p:nvSpPr>
          <p:cNvPr id="21" name="Text 19"/>
          <p:cNvSpPr/>
          <p:nvPr/>
        </p:nvSpPr>
        <p:spPr>
          <a:xfrm>
            <a:off x="6287872" y="1463040"/>
            <a:ext cx="5336896" cy="310896"/>
          </a:xfrm>
          <a:prstGeom prst="rect">
            <a:avLst/>
          </a:prstGeom>
          <a:noFill/>
          <a:ln/>
        </p:spPr>
        <p:txBody>
          <a:bodyPr wrap="square" lIns="0" tIns="0" rIns="0" bIns="0" rtlCol="0" anchor="ctr"/>
          <a:lstStyle/>
          <a:p>
            <a:pPr indent="0" marL="0">
              <a:buNone/>
            </a:pPr>
            <a:r>
              <a:rPr lang="en-US" sz="1500" b="1" dirty="0">
                <a:solidFill>
                  <a:srgbClr val="1F3D34"/>
                </a:solidFill>
                <a:latin typeface="Yu Gothic" pitchFamily="34" charset="0"/>
                <a:ea typeface="Yu Gothic" pitchFamily="34" charset="-122"/>
                <a:cs typeface="Yu Gothic" pitchFamily="34" charset="-120"/>
              </a:rPr>
              <a:t>見積に含まないもの</a:t>
            </a:r>
            <a:endParaRPr lang="en-US" sz="1500" dirty="0"/>
          </a:p>
        </p:txBody>
      </p:sp>
      <p:sp>
        <p:nvSpPr>
          <p:cNvPr id="22" name="Shape 20"/>
          <p:cNvSpPr/>
          <p:nvPr/>
        </p:nvSpPr>
        <p:spPr>
          <a:xfrm>
            <a:off x="6287872" y="1883664"/>
            <a:ext cx="5336896" cy="3803904"/>
          </a:xfrm>
          <a:prstGeom prst="roundRect">
            <a:avLst>
              <a:gd name="adj" fmla="val 1442"/>
            </a:avLst>
          </a:prstGeom>
          <a:solidFill>
            <a:srgbClr val="F2F7F4"/>
          </a:solidFill>
          <a:ln w="12700">
            <a:solidFill>
              <a:srgbClr val="D6E0DA"/>
            </a:solidFill>
            <a:prstDash val="solid"/>
          </a:ln>
        </p:spPr>
      </p:sp>
      <p:sp>
        <p:nvSpPr>
          <p:cNvPr id="23" name="Text 21"/>
          <p:cNvSpPr/>
          <p:nvPr/>
        </p:nvSpPr>
        <p:spPr>
          <a:xfrm>
            <a:off x="6671920" y="2139696"/>
            <a:ext cx="4568800" cy="3291840"/>
          </a:xfrm>
          <a:prstGeom prst="rect">
            <a:avLst/>
          </a:prstGeom>
          <a:noFill/>
          <a:ln/>
        </p:spPr>
        <p:txBody>
          <a:bodyPr wrap="square" lIns="0" tIns="0" rIns="0" bIns="0" rtlCol="0" anchor="ctr"/>
          <a:lstStyle/>
          <a:p>
            <a:pPr marL="342900" indent="-342900">
              <a:lnSpc>
                <a:spcPts val="1900"/>
              </a:lnSpc>
              <a:spcAft>
                <a:spcPts val="700"/>
              </a:spcAft>
              <a:buSzPct val="100000"/>
              <a:buChar char="•"/>
            </a:pPr>
            <a:r>
              <a:rPr lang="en-US" sz="1200" dirty="0">
                <a:solidFill>
                  <a:srgbClr val="12211C"/>
                </a:solidFill>
                <a:latin typeface="Yu Gothic" pitchFamily="34" charset="0"/>
                <a:ea typeface="Yu Gothic" pitchFamily="34" charset="-122"/>
                <a:cs typeface="Yu Gothic" pitchFamily="34" charset="-120"/>
              </a:rPr>
              <a:t>AI APIの従量課金、クラウド利用料などの実費（第5項の通り、別途発生）</a:t>
            </a:r>
            <a:endParaRPr lang="en-US" sz="1200" dirty="0"/>
          </a:p>
          <a:p>
            <a:pPr marL="342900" indent="-342900">
              <a:lnSpc>
                <a:spcPts val="1900"/>
              </a:lnSpc>
              <a:spcAft>
                <a:spcPts val="700"/>
              </a:spcAft>
              <a:buSzPct val="100000"/>
              <a:buChar char="•"/>
            </a:pPr>
            <a:r>
              <a:rPr lang="en-US" sz="1200" dirty="0">
                <a:solidFill>
                  <a:srgbClr val="12211C"/>
                </a:solidFill>
                <a:latin typeface="Yu Gothic" pitchFamily="34" charset="0"/>
                <a:ea typeface="Yu Gothic" pitchFamily="34" charset="-122"/>
                <a:cs typeface="Yu Gothic" pitchFamily="34" charset="-120"/>
              </a:rPr>
              <a:t>リリース後の保守・運用（月15〜30万円目安で別途）</a:t>
            </a:r>
            <a:endParaRPr lang="en-US" sz="1200" dirty="0"/>
          </a:p>
          <a:p>
            <a:pPr marL="342900" indent="-342900">
              <a:lnSpc>
                <a:spcPts val="1900"/>
              </a:lnSpc>
              <a:spcAft>
                <a:spcPts val="700"/>
              </a:spcAft>
              <a:buSzPct val="100000"/>
              <a:buChar char="•"/>
            </a:pPr>
            <a:r>
              <a:rPr lang="en-US" sz="1200" dirty="0">
                <a:solidFill>
                  <a:srgbClr val="12211C"/>
                </a:solidFill>
                <a:latin typeface="Yu Gothic" pitchFamily="34" charset="0"/>
                <a:ea typeface="Yu Gothic" pitchFamily="34" charset="-122"/>
                <a:cs typeface="Yu Gothic" pitchFamily="34" charset="-120"/>
              </a:rPr>
              <a:t>Apple / Google の開発者アカウント年会費、LINE公式アカウント利用料</a:t>
            </a:r>
            <a:endParaRPr lang="en-US" sz="1200" dirty="0"/>
          </a:p>
          <a:p>
            <a:pPr marL="342900" indent="-342900">
              <a:lnSpc>
                <a:spcPts val="1900"/>
              </a:lnSpc>
              <a:spcAft>
                <a:spcPts val="700"/>
              </a:spcAft>
              <a:buSzPct val="100000"/>
              <a:buChar char="•"/>
            </a:pPr>
            <a:r>
              <a:rPr lang="en-US" sz="1200" dirty="0">
                <a:solidFill>
                  <a:srgbClr val="12211C"/>
                </a:solidFill>
                <a:latin typeface="Yu Gothic" pitchFamily="34" charset="0"/>
                <a:ea typeface="Yu Gothic" pitchFamily="34" charset="-122"/>
                <a:cs typeface="Yu Gothic" pitchFamily="34" charset="-120"/>
              </a:rPr>
              <a:t>利用規約・プライバシーポリシーの法務レビュー費用（雛形作成は含む）</a:t>
            </a:r>
            <a:endParaRPr lang="en-US" sz="1200" dirty="0"/>
          </a:p>
          <a:p>
            <a:pPr marL="342900" indent="-342900">
              <a:lnSpc>
                <a:spcPts val="1900"/>
              </a:lnSpc>
              <a:spcAft>
                <a:spcPts val="700"/>
              </a:spcAft>
              <a:buSzPct val="100000"/>
              <a:buChar char="•"/>
            </a:pPr>
            <a:r>
              <a:rPr lang="en-US" sz="1200" dirty="0">
                <a:solidFill>
                  <a:srgbClr val="12211C"/>
                </a:solidFill>
                <a:latin typeface="Yu Gothic" pitchFamily="34" charset="0"/>
                <a:ea typeface="Yu Gothic" pitchFamily="34" charset="-122"/>
                <a:cs typeface="Yu Gothic" pitchFamily="34" charset="-120"/>
              </a:rPr>
              <a:t>ロゴ・ブランディング制作</a:t>
            </a:r>
            <a:endParaRPr lang="en-US" sz="1200" dirty="0"/>
          </a:p>
          <a:p>
            <a:pPr marL="342900" indent="-342900">
              <a:lnSpc>
                <a:spcPts val="1900"/>
              </a:lnSpc>
              <a:spcAft>
                <a:spcPts val="700"/>
              </a:spcAft>
              <a:buSzPct val="100000"/>
              <a:buChar char="•"/>
            </a:pPr>
            <a:r>
              <a:rPr lang="en-US" sz="1200" dirty="0">
                <a:solidFill>
                  <a:srgbClr val="12211C"/>
                </a:solidFill>
                <a:latin typeface="Yu Gothic" pitchFamily="34" charset="0"/>
                <a:ea typeface="Yu Gothic" pitchFamily="34" charset="-122"/>
                <a:cs typeface="Yu Gothic" pitchFamily="34" charset="-120"/>
              </a:rPr>
              <a:t>日本語以外の言語対応、方言への特別対応</a:t>
            </a:r>
            <a:endParaRPr lang="en-US" sz="1200" dirty="0"/>
          </a:p>
          <a:p>
            <a:pPr marL="342900" indent="-342900">
              <a:lnSpc>
                <a:spcPts val="1900"/>
              </a:lnSpc>
              <a:spcAft>
                <a:spcPts val="700"/>
              </a:spcAft>
              <a:buSzPct val="100000"/>
              <a:buChar char="•"/>
            </a:pPr>
            <a:r>
              <a:rPr lang="en-US" sz="1200" dirty="0">
                <a:solidFill>
                  <a:srgbClr val="12211C"/>
                </a:solidFill>
                <a:latin typeface="Yu Gothic" pitchFamily="34" charset="0"/>
                <a:ea typeface="Yu Gothic" pitchFamily="34" charset="-122"/>
                <a:cs typeface="Yu Gothic" pitchFamily="34" charset="-120"/>
              </a:rPr>
              <a:t>医療・介護に関する助言、診断、緊急通報の代替となる機能</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F3D34"/>
        </a:solidFill>
      </p:bgPr>
    </p:bg>
    <p:spTree>
      <p:nvGrpSpPr>
        <p:cNvPr id="1" name=""/>
        <p:cNvGrpSpPr/>
        <p:nvPr/>
      </p:nvGrpSpPr>
      <p:grpSpPr>
        <a:xfrm>
          <a:off x="0" y="0"/>
          <a:ext cx="0" cy="0"/>
          <a:chOff x="0" y="0"/>
          <a:chExt cx="0" cy="0"/>
        </a:xfrm>
      </p:grpSpPr>
      <p:sp>
        <p:nvSpPr>
          <p:cNvPr id="2" name="Shape 0"/>
          <p:cNvSpPr/>
          <p:nvPr/>
        </p:nvSpPr>
        <p:spPr>
          <a:xfrm>
            <a:off x="566928" y="457200"/>
            <a:ext cx="365760" cy="365760"/>
          </a:xfrm>
          <a:prstGeom prst="ellipse">
            <a:avLst/>
          </a:prstGeom>
          <a:solidFill>
            <a:srgbClr val="6E9A85"/>
          </a:solidFill>
          <a:ln/>
        </p:spPr>
      </p:sp>
      <p:sp>
        <p:nvSpPr>
          <p:cNvPr id="3" name="Text 1"/>
          <p:cNvSpPr/>
          <p:nvPr/>
        </p:nvSpPr>
        <p:spPr>
          <a:xfrm>
            <a:off x="566928" y="4572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12</a:t>
            </a:r>
            <a:endParaRPr lang="en-US" sz="1200" dirty="0"/>
          </a:p>
        </p:txBody>
      </p:sp>
      <p:sp>
        <p:nvSpPr>
          <p:cNvPr id="4" name="Text 2"/>
          <p:cNvSpPr/>
          <p:nvPr/>
        </p:nvSpPr>
        <p:spPr>
          <a:xfrm>
            <a:off x="1133856" y="384048"/>
            <a:ext cx="10490911" cy="530352"/>
          </a:xfrm>
          <a:prstGeom prst="rect">
            <a:avLst/>
          </a:prstGeom>
          <a:noFill/>
          <a:ln/>
        </p:spPr>
        <p:txBody>
          <a:bodyPr wrap="square" lIns="0" tIns="0" rIns="0" bIns="0" rtlCol="0" anchor="ctr"/>
          <a:lstStyle/>
          <a:p>
            <a:pPr indent="0" marL="0">
              <a:buNone/>
            </a:pPr>
            <a:r>
              <a:rPr lang="en-US" sz="2700" b="1" dirty="0">
                <a:solidFill>
                  <a:srgbClr val="FFFFFF"/>
                </a:solidFill>
                <a:latin typeface="Yu Gothic" pitchFamily="34" charset="0"/>
                <a:ea typeface="Yu Gothic" pitchFamily="34" charset="-122"/>
                <a:cs typeface="Yu Gothic" pitchFamily="34" charset="-120"/>
              </a:rPr>
              <a:t>決めていただきたいこと</a:t>
            </a:r>
            <a:endParaRPr lang="en-US" sz="2700" dirty="0"/>
          </a:p>
        </p:txBody>
      </p:sp>
      <p:sp>
        <p:nvSpPr>
          <p:cNvPr id="5" name="Text 3"/>
          <p:cNvSpPr/>
          <p:nvPr/>
        </p:nvSpPr>
        <p:spPr>
          <a:xfrm>
            <a:off x="566928" y="969264"/>
            <a:ext cx="11057839" cy="329184"/>
          </a:xfrm>
          <a:prstGeom prst="rect">
            <a:avLst/>
          </a:prstGeom>
          <a:noFill/>
          <a:ln/>
        </p:spPr>
        <p:txBody>
          <a:bodyPr wrap="square" lIns="0" tIns="0" rIns="0" bIns="0" rtlCol="0" anchor="t"/>
          <a:lstStyle/>
          <a:p>
            <a:pPr indent="0" marL="0">
              <a:buNone/>
            </a:pPr>
            <a:r>
              <a:rPr lang="en-US" sz="1350" dirty="0">
                <a:solidFill>
                  <a:srgbClr val="9DB2A8"/>
                </a:solidFill>
                <a:latin typeface="Yu Gothic" pitchFamily="34" charset="0"/>
                <a:ea typeface="Yu Gothic" pitchFamily="34" charset="-122"/>
                <a:cs typeface="Yu Gothic" pitchFamily="34" charset="-120"/>
              </a:rPr>
              <a:t>以下の3点が決まれば、概算から正式見積に切り替えられます。</a:t>
            </a:r>
            <a:endParaRPr lang="en-US" sz="1350" dirty="0"/>
          </a:p>
        </p:txBody>
      </p:sp>
      <p:sp>
        <p:nvSpPr>
          <p:cNvPr id="6" name="Shape 4"/>
          <p:cNvSpPr/>
          <p:nvPr/>
        </p:nvSpPr>
        <p:spPr>
          <a:xfrm>
            <a:off x="566928" y="1700784"/>
            <a:ext cx="3529584" cy="2487168"/>
          </a:xfrm>
          <a:prstGeom prst="roundRect">
            <a:avLst>
              <a:gd name="adj" fmla="val 2206"/>
            </a:avLst>
          </a:prstGeom>
          <a:solidFill>
            <a:srgbClr val="2E5A4C"/>
          </a:solidFill>
          <a:ln/>
        </p:spPr>
      </p:sp>
      <p:sp>
        <p:nvSpPr>
          <p:cNvPr id="7" name="Shape 5"/>
          <p:cNvSpPr/>
          <p:nvPr/>
        </p:nvSpPr>
        <p:spPr>
          <a:xfrm>
            <a:off x="877824" y="1956816"/>
            <a:ext cx="402336" cy="402336"/>
          </a:xfrm>
          <a:prstGeom prst="ellipse">
            <a:avLst/>
          </a:prstGeom>
          <a:solidFill>
            <a:srgbClr val="C4682A"/>
          </a:solidFill>
          <a:ln/>
        </p:spPr>
      </p:sp>
      <p:sp>
        <p:nvSpPr>
          <p:cNvPr id="8" name="Text 6"/>
          <p:cNvSpPr/>
          <p:nvPr/>
        </p:nvSpPr>
        <p:spPr>
          <a:xfrm>
            <a:off x="877824" y="195681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9" name="Text 7"/>
          <p:cNvSpPr/>
          <p:nvPr/>
        </p:nvSpPr>
        <p:spPr>
          <a:xfrm>
            <a:off x="877824" y="2487168"/>
            <a:ext cx="2907792" cy="640080"/>
          </a:xfrm>
          <a:prstGeom prst="rect">
            <a:avLst/>
          </a:prstGeom>
          <a:noFill/>
          <a:ln/>
        </p:spPr>
        <p:txBody>
          <a:bodyPr wrap="square" lIns="0" tIns="0" rIns="0" bIns="0" rtlCol="0" anchor="ctr"/>
          <a:lstStyle/>
          <a:p>
            <a:pPr indent="0" marL="0">
              <a:lnSpc>
                <a:spcPts val="2500"/>
              </a:lnSpc>
              <a:buNone/>
            </a:pPr>
            <a:r>
              <a:rPr lang="en-US" sz="1700" b="1" dirty="0">
                <a:solidFill>
                  <a:srgbClr val="FFFFFF"/>
                </a:solidFill>
                <a:latin typeface="Yu Gothic" pitchFamily="34" charset="0"/>
                <a:ea typeface="Yu Gothic" pitchFamily="34" charset="-122"/>
                <a:cs typeface="Yu Gothic" pitchFamily="34" charset="-120"/>
              </a:rPr>
              <a:t>誰が費用を払うか</a:t>
            </a:r>
            <a:endParaRPr lang="en-US" sz="1700" dirty="0"/>
          </a:p>
        </p:txBody>
      </p:sp>
      <p:sp>
        <p:nvSpPr>
          <p:cNvPr id="10" name="Text 8"/>
          <p:cNvSpPr/>
          <p:nvPr/>
        </p:nvSpPr>
        <p:spPr>
          <a:xfrm>
            <a:off x="877824" y="3163824"/>
            <a:ext cx="2907792" cy="310896"/>
          </a:xfrm>
          <a:prstGeom prst="rect">
            <a:avLst/>
          </a:prstGeom>
          <a:noFill/>
          <a:ln/>
        </p:spPr>
        <p:txBody>
          <a:bodyPr wrap="square" lIns="0" tIns="0" rIns="0" bIns="0" rtlCol="0" anchor="ctr"/>
          <a:lstStyle/>
          <a:p>
            <a:pPr indent="0" marL="0">
              <a:buNone/>
            </a:pPr>
            <a:r>
              <a:rPr lang="en-US" sz="1150" dirty="0">
                <a:solidFill>
                  <a:srgbClr val="E4EDE8"/>
                </a:solidFill>
                <a:latin typeface="Yu Gothic" pitchFamily="34" charset="0"/>
                <a:ea typeface="Yu Gothic" pitchFamily="34" charset="-122"/>
                <a:cs typeface="Yu Gothic" pitchFamily="34" charset="-120"/>
              </a:rPr>
              <a:t>本人 / 家族 / 介護施設 / 自治体</a:t>
            </a:r>
            <a:endParaRPr lang="en-US" sz="1150" dirty="0"/>
          </a:p>
        </p:txBody>
      </p:sp>
      <p:sp>
        <p:nvSpPr>
          <p:cNvPr id="11" name="Shape 9"/>
          <p:cNvSpPr/>
          <p:nvPr/>
        </p:nvSpPr>
        <p:spPr>
          <a:xfrm>
            <a:off x="877824" y="3547872"/>
            <a:ext cx="2907792" cy="9144"/>
          </a:xfrm>
          <a:prstGeom prst="rect">
            <a:avLst/>
          </a:prstGeom>
          <a:solidFill>
            <a:srgbClr val="6E9A85"/>
          </a:solidFill>
          <a:ln/>
        </p:spPr>
      </p:sp>
      <p:sp>
        <p:nvSpPr>
          <p:cNvPr id="12" name="Text 10"/>
          <p:cNvSpPr/>
          <p:nvPr/>
        </p:nvSpPr>
        <p:spPr>
          <a:xfrm>
            <a:off x="877824" y="3639312"/>
            <a:ext cx="2907792" cy="457200"/>
          </a:xfrm>
          <a:prstGeom prst="rect">
            <a:avLst/>
          </a:prstGeom>
          <a:noFill/>
          <a:ln/>
        </p:spPr>
        <p:txBody>
          <a:bodyPr wrap="square" lIns="0" tIns="0" rIns="0" bIns="0" rtlCol="0" anchor="ctr"/>
          <a:lstStyle/>
          <a:p>
            <a:pPr indent="0" marL="0">
              <a:lnSpc>
                <a:spcPts val="1700"/>
              </a:lnSpc>
              <a:buNone/>
            </a:pPr>
            <a:r>
              <a:rPr lang="en-US" sz="1150" dirty="0">
                <a:solidFill>
                  <a:srgbClr val="9DB2A8"/>
                </a:solidFill>
                <a:latin typeface="Yu Gothic" pitchFamily="34" charset="0"/>
                <a:ea typeface="Yu Gothic" pitchFamily="34" charset="-122"/>
                <a:cs typeface="Yu Gothic" pitchFamily="34" charset="-120"/>
              </a:rPr>
              <a:t>音声方式・会話時間の上限・家族画面の要否が決まる</a:t>
            </a:r>
            <a:endParaRPr lang="en-US" sz="1150" dirty="0"/>
          </a:p>
        </p:txBody>
      </p:sp>
      <p:sp>
        <p:nvSpPr>
          <p:cNvPr id="13" name="Shape 11"/>
          <p:cNvSpPr/>
          <p:nvPr/>
        </p:nvSpPr>
        <p:spPr>
          <a:xfrm>
            <a:off x="4530852" y="1700784"/>
            <a:ext cx="3529584" cy="2487168"/>
          </a:xfrm>
          <a:prstGeom prst="roundRect">
            <a:avLst>
              <a:gd name="adj" fmla="val 2206"/>
            </a:avLst>
          </a:prstGeom>
          <a:solidFill>
            <a:srgbClr val="2E5A4C"/>
          </a:solidFill>
          <a:ln/>
        </p:spPr>
      </p:sp>
      <p:sp>
        <p:nvSpPr>
          <p:cNvPr id="14" name="Shape 12"/>
          <p:cNvSpPr/>
          <p:nvPr/>
        </p:nvSpPr>
        <p:spPr>
          <a:xfrm>
            <a:off x="4841748" y="1956816"/>
            <a:ext cx="402336" cy="402336"/>
          </a:xfrm>
          <a:prstGeom prst="ellipse">
            <a:avLst/>
          </a:prstGeom>
          <a:solidFill>
            <a:srgbClr val="C4682A"/>
          </a:solidFill>
          <a:ln/>
        </p:spPr>
      </p:sp>
      <p:sp>
        <p:nvSpPr>
          <p:cNvPr id="15" name="Text 13"/>
          <p:cNvSpPr/>
          <p:nvPr/>
        </p:nvSpPr>
        <p:spPr>
          <a:xfrm>
            <a:off x="4841748" y="195681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6" name="Text 14"/>
          <p:cNvSpPr/>
          <p:nvPr/>
        </p:nvSpPr>
        <p:spPr>
          <a:xfrm>
            <a:off x="4841748" y="2487168"/>
            <a:ext cx="2907792" cy="640080"/>
          </a:xfrm>
          <a:prstGeom prst="rect">
            <a:avLst/>
          </a:prstGeom>
          <a:noFill/>
          <a:ln/>
        </p:spPr>
        <p:txBody>
          <a:bodyPr wrap="square" lIns="0" tIns="0" rIns="0" bIns="0" rtlCol="0" anchor="ctr"/>
          <a:lstStyle/>
          <a:p>
            <a:pPr indent="0" marL="0">
              <a:lnSpc>
                <a:spcPts val="2500"/>
              </a:lnSpc>
              <a:buNone/>
            </a:pPr>
            <a:r>
              <a:rPr lang="en-US" sz="1700" b="1" dirty="0">
                <a:solidFill>
                  <a:srgbClr val="FFFFFF"/>
                </a:solidFill>
                <a:latin typeface="Yu Gothic" pitchFamily="34" charset="0"/>
                <a:ea typeface="Yu Gothic" pitchFamily="34" charset="-122"/>
                <a:cs typeface="Yu Gothic" pitchFamily="34" charset="-120"/>
              </a:rPr>
              <a:t>初年度の想定利用者数</a:t>
            </a:r>
            <a:endParaRPr lang="en-US" sz="1700" dirty="0"/>
          </a:p>
        </p:txBody>
      </p:sp>
      <p:sp>
        <p:nvSpPr>
          <p:cNvPr id="17" name="Text 15"/>
          <p:cNvSpPr/>
          <p:nvPr/>
        </p:nvSpPr>
        <p:spPr>
          <a:xfrm>
            <a:off x="4841748" y="3163824"/>
            <a:ext cx="2907792" cy="310896"/>
          </a:xfrm>
          <a:prstGeom prst="rect">
            <a:avLst/>
          </a:prstGeom>
          <a:noFill/>
          <a:ln/>
        </p:spPr>
        <p:txBody>
          <a:bodyPr wrap="square" lIns="0" tIns="0" rIns="0" bIns="0" rtlCol="0" anchor="ctr"/>
          <a:lstStyle/>
          <a:p>
            <a:pPr indent="0" marL="0">
              <a:buNone/>
            </a:pPr>
            <a:r>
              <a:rPr lang="en-US" sz="1150" dirty="0">
                <a:solidFill>
                  <a:srgbClr val="E4EDE8"/>
                </a:solidFill>
                <a:latin typeface="Yu Gothic" pitchFamily="34" charset="0"/>
                <a:ea typeface="Yu Gothic" pitchFamily="34" charset="-122"/>
                <a:cs typeface="Yu Gothic" pitchFamily="34" charset="-120"/>
              </a:rPr>
              <a:t>10人 / 100人 / 1,000人</a:t>
            </a:r>
            <a:endParaRPr lang="en-US" sz="1150" dirty="0"/>
          </a:p>
        </p:txBody>
      </p:sp>
      <p:sp>
        <p:nvSpPr>
          <p:cNvPr id="18" name="Shape 16"/>
          <p:cNvSpPr/>
          <p:nvPr/>
        </p:nvSpPr>
        <p:spPr>
          <a:xfrm>
            <a:off x="4841748" y="3547872"/>
            <a:ext cx="2907792" cy="9144"/>
          </a:xfrm>
          <a:prstGeom prst="rect">
            <a:avLst/>
          </a:prstGeom>
          <a:solidFill>
            <a:srgbClr val="6E9A85"/>
          </a:solidFill>
          <a:ln/>
        </p:spPr>
      </p:sp>
      <p:sp>
        <p:nvSpPr>
          <p:cNvPr id="19" name="Text 17"/>
          <p:cNvSpPr/>
          <p:nvPr/>
        </p:nvSpPr>
        <p:spPr>
          <a:xfrm>
            <a:off x="4841748" y="3639312"/>
            <a:ext cx="2907792" cy="457200"/>
          </a:xfrm>
          <a:prstGeom prst="rect">
            <a:avLst/>
          </a:prstGeom>
          <a:noFill/>
          <a:ln/>
        </p:spPr>
        <p:txBody>
          <a:bodyPr wrap="square" lIns="0" tIns="0" rIns="0" bIns="0" rtlCol="0" anchor="ctr"/>
          <a:lstStyle/>
          <a:p>
            <a:pPr indent="0" marL="0">
              <a:lnSpc>
                <a:spcPts val="1700"/>
              </a:lnSpc>
              <a:buNone/>
            </a:pPr>
            <a:r>
              <a:rPr lang="en-US" sz="1150" dirty="0">
                <a:solidFill>
                  <a:srgbClr val="9DB2A8"/>
                </a:solidFill>
                <a:latin typeface="Yu Gothic" pitchFamily="34" charset="0"/>
                <a:ea typeface="Yu Gothic" pitchFamily="34" charset="-122"/>
                <a:cs typeface="Yu Gothic" pitchFamily="34" charset="-120"/>
              </a:rPr>
              <a:t>インフラ構成と原価、回収に必要な単価が決まる</a:t>
            </a:r>
            <a:endParaRPr lang="en-US" sz="1150" dirty="0"/>
          </a:p>
        </p:txBody>
      </p:sp>
      <p:sp>
        <p:nvSpPr>
          <p:cNvPr id="20" name="Shape 18"/>
          <p:cNvSpPr/>
          <p:nvPr/>
        </p:nvSpPr>
        <p:spPr>
          <a:xfrm>
            <a:off x="8494776" y="1700784"/>
            <a:ext cx="3529584" cy="2487168"/>
          </a:xfrm>
          <a:prstGeom prst="roundRect">
            <a:avLst>
              <a:gd name="adj" fmla="val 2206"/>
            </a:avLst>
          </a:prstGeom>
          <a:solidFill>
            <a:srgbClr val="2E5A4C"/>
          </a:solidFill>
          <a:ln/>
        </p:spPr>
      </p:sp>
      <p:sp>
        <p:nvSpPr>
          <p:cNvPr id="21" name="Shape 19"/>
          <p:cNvSpPr/>
          <p:nvPr/>
        </p:nvSpPr>
        <p:spPr>
          <a:xfrm>
            <a:off x="8805672" y="1956816"/>
            <a:ext cx="402336" cy="402336"/>
          </a:xfrm>
          <a:prstGeom prst="ellipse">
            <a:avLst/>
          </a:prstGeom>
          <a:solidFill>
            <a:srgbClr val="C4682A"/>
          </a:solidFill>
          <a:ln/>
        </p:spPr>
      </p:sp>
      <p:sp>
        <p:nvSpPr>
          <p:cNvPr id="22" name="Text 20"/>
          <p:cNvSpPr/>
          <p:nvPr/>
        </p:nvSpPr>
        <p:spPr>
          <a:xfrm>
            <a:off x="8805672" y="195681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23" name="Text 21"/>
          <p:cNvSpPr/>
          <p:nvPr/>
        </p:nvSpPr>
        <p:spPr>
          <a:xfrm>
            <a:off x="8805672" y="2487168"/>
            <a:ext cx="2907792" cy="640080"/>
          </a:xfrm>
          <a:prstGeom prst="rect">
            <a:avLst/>
          </a:prstGeom>
          <a:noFill/>
          <a:ln/>
        </p:spPr>
        <p:txBody>
          <a:bodyPr wrap="square" lIns="0" tIns="0" rIns="0" bIns="0" rtlCol="0" anchor="ctr"/>
          <a:lstStyle/>
          <a:p>
            <a:pPr indent="0" marL="0">
              <a:lnSpc>
                <a:spcPts val="2500"/>
              </a:lnSpc>
              <a:buNone/>
            </a:pPr>
            <a:r>
              <a:rPr lang="en-US" sz="1700" b="1" dirty="0">
                <a:solidFill>
                  <a:srgbClr val="FFFFFF"/>
                </a:solidFill>
                <a:latin typeface="Yu Gothic" pitchFamily="34" charset="0"/>
                <a:ea typeface="Yu Gothic" pitchFamily="34" charset="-122"/>
                <a:cs typeface="Yu Gothic" pitchFamily="34" charset="-120"/>
              </a:rPr>
              <a:t>Webか、アプリか</a:t>
            </a:r>
            <a:endParaRPr lang="en-US" sz="1700" dirty="0"/>
          </a:p>
        </p:txBody>
      </p:sp>
      <p:sp>
        <p:nvSpPr>
          <p:cNvPr id="24" name="Text 22"/>
          <p:cNvSpPr/>
          <p:nvPr/>
        </p:nvSpPr>
        <p:spPr>
          <a:xfrm>
            <a:off x="8805672" y="3163824"/>
            <a:ext cx="2907792" cy="310896"/>
          </a:xfrm>
          <a:prstGeom prst="rect">
            <a:avLst/>
          </a:prstGeom>
          <a:noFill/>
          <a:ln/>
        </p:spPr>
        <p:txBody>
          <a:bodyPr wrap="square" lIns="0" tIns="0" rIns="0" bIns="0" rtlCol="0" anchor="ctr"/>
          <a:lstStyle/>
          <a:p>
            <a:pPr indent="0" marL="0">
              <a:buNone/>
            </a:pPr>
            <a:r>
              <a:rPr lang="en-US" sz="1150" dirty="0">
                <a:solidFill>
                  <a:srgbClr val="E4EDE8"/>
                </a:solidFill>
                <a:latin typeface="Yu Gothic" pitchFamily="34" charset="0"/>
                <a:ea typeface="Yu Gothic" pitchFamily="34" charset="-122"/>
                <a:cs typeface="Yu Gothic" pitchFamily="34" charset="-120"/>
              </a:rPr>
              <a:t>Web＋LINE通知 / 最初からネイティブ</a:t>
            </a:r>
            <a:endParaRPr lang="en-US" sz="1150" dirty="0"/>
          </a:p>
        </p:txBody>
      </p:sp>
      <p:sp>
        <p:nvSpPr>
          <p:cNvPr id="25" name="Shape 23"/>
          <p:cNvSpPr/>
          <p:nvPr/>
        </p:nvSpPr>
        <p:spPr>
          <a:xfrm>
            <a:off x="8805672" y="3547872"/>
            <a:ext cx="2907792" cy="9144"/>
          </a:xfrm>
          <a:prstGeom prst="rect">
            <a:avLst/>
          </a:prstGeom>
          <a:solidFill>
            <a:srgbClr val="6E9A85"/>
          </a:solidFill>
          <a:ln/>
        </p:spPr>
      </p:sp>
      <p:sp>
        <p:nvSpPr>
          <p:cNvPr id="26" name="Text 24"/>
          <p:cNvSpPr/>
          <p:nvPr/>
        </p:nvSpPr>
        <p:spPr>
          <a:xfrm>
            <a:off x="8805672" y="3639312"/>
            <a:ext cx="2907792" cy="457200"/>
          </a:xfrm>
          <a:prstGeom prst="rect">
            <a:avLst/>
          </a:prstGeom>
          <a:noFill/>
          <a:ln/>
        </p:spPr>
        <p:txBody>
          <a:bodyPr wrap="square" lIns="0" tIns="0" rIns="0" bIns="0" rtlCol="0" anchor="ctr"/>
          <a:lstStyle/>
          <a:p>
            <a:pPr indent="0" marL="0">
              <a:lnSpc>
                <a:spcPts val="1700"/>
              </a:lnSpc>
              <a:buNone/>
            </a:pPr>
            <a:r>
              <a:rPr lang="en-US" sz="1150" dirty="0">
                <a:solidFill>
                  <a:srgbClr val="9DB2A8"/>
                </a:solidFill>
                <a:latin typeface="Yu Gothic" pitchFamily="34" charset="0"/>
                <a:ea typeface="Yu Gothic" pitchFamily="34" charset="-122"/>
                <a:cs typeface="Yu Gothic" pitchFamily="34" charset="-120"/>
              </a:rPr>
              <a:t>開発費が658万円か1,190万円かが決まる</a:t>
            </a:r>
            <a:endParaRPr lang="en-US" sz="1150" dirty="0"/>
          </a:p>
        </p:txBody>
      </p:sp>
      <p:sp>
        <p:nvSpPr>
          <p:cNvPr id="27" name="Text 25"/>
          <p:cNvSpPr/>
          <p:nvPr/>
        </p:nvSpPr>
        <p:spPr>
          <a:xfrm>
            <a:off x="566928" y="4443984"/>
            <a:ext cx="3657600" cy="274320"/>
          </a:xfrm>
          <a:prstGeom prst="rect">
            <a:avLst/>
          </a:prstGeom>
          <a:noFill/>
          <a:ln/>
        </p:spPr>
        <p:txBody>
          <a:bodyPr wrap="square" lIns="0" tIns="0" rIns="0" bIns="0" rtlCol="0" anchor="ctr"/>
          <a:lstStyle/>
          <a:p>
            <a:pPr indent="0" marL="0">
              <a:buNone/>
            </a:pPr>
            <a:r>
              <a:rPr lang="en-US" sz="1250" b="1" spc="150" kern="0" dirty="0">
                <a:solidFill>
                  <a:srgbClr val="6E9A85"/>
                </a:solidFill>
                <a:latin typeface="Yu Gothic" pitchFamily="34" charset="0"/>
                <a:ea typeface="Yu Gothic" pitchFamily="34" charset="-122"/>
                <a:cs typeface="Yu Gothic" pitchFamily="34" charset="-120"/>
              </a:rPr>
              <a:t>次のアクション</a:t>
            </a:r>
            <a:endParaRPr lang="en-US" sz="1250" dirty="0"/>
          </a:p>
        </p:txBody>
      </p:sp>
      <p:sp>
        <p:nvSpPr>
          <p:cNvPr id="28" name="Shape 26"/>
          <p:cNvSpPr/>
          <p:nvPr/>
        </p:nvSpPr>
        <p:spPr>
          <a:xfrm>
            <a:off x="566928" y="4818888"/>
            <a:ext cx="256032" cy="256032"/>
          </a:xfrm>
          <a:prstGeom prst="ellipse">
            <a:avLst/>
          </a:prstGeom>
          <a:solidFill>
            <a:srgbClr val="6E9A85"/>
          </a:solidFill>
          <a:ln/>
        </p:spPr>
      </p:sp>
      <p:sp>
        <p:nvSpPr>
          <p:cNvPr id="29" name="Text 27"/>
          <p:cNvSpPr/>
          <p:nvPr/>
        </p:nvSpPr>
        <p:spPr>
          <a:xfrm>
            <a:off x="566928" y="4818888"/>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Yu Gothic" pitchFamily="34" charset="0"/>
                <a:ea typeface="Yu Gothic" pitchFamily="34" charset="-122"/>
                <a:cs typeface="Yu Gothic" pitchFamily="34" charset="-120"/>
              </a:rPr>
              <a:t>▸</a:t>
            </a:r>
            <a:endParaRPr lang="en-US" sz="1000" dirty="0"/>
          </a:p>
        </p:txBody>
      </p:sp>
      <p:sp>
        <p:nvSpPr>
          <p:cNvPr id="30" name="Text 28"/>
          <p:cNvSpPr/>
          <p:nvPr/>
        </p:nvSpPr>
        <p:spPr>
          <a:xfrm>
            <a:off x="969264" y="4782312"/>
            <a:ext cx="10655503" cy="329184"/>
          </a:xfrm>
          <a:prstGeom prst="rect">
            <a:avLst/>
          </a:prstGeom>
          <a:noFill/>
          <a:ln/>
        </p:spPr>
        <p:txBody>
          <a:bodyPr wrap="square" lIns="0" tIns="0" rIns="0" bIns="0" rtlCol="0" anchor="ctr"/>
          <a:lstStyle/>
          <a:p>
            <a:pPr indent="0" marL="0">
              <a:buNone/>
            </a:pPr>
            <a:r>
              <a:rPr lang="en-US" sz="1300" dirty="0">
                <a:solidFill>
                  <a:srgbClr val="E4EDE8"/>
                </a:solidFill>
                <a:latin typeface="Yu Gothic" pitchFamily="34" charset="0"/>
                <a:ea typeface="Yu Gothic" pitchFamily="34" charset="-122"/>
                <a:cs typeface="Yu Gothic" pitchFamily="34" charset="-120"/>
              </a:rPr>
              <a:t>上記3点を確定し、正式見積を再作成する（残り7点の確認事項は別紙の見積書 第11項）</a:t>
            </a:r>
            <a:endParaRPr lang="en-US" sz="1300" dirty="0"/>
          </a:p>
        </p:txBody>
      </p:sp>
      <p:sp>
        <p:nvSpPr>
          <p:cNvPr id="31" name="Shape 29"/>
          <p:cNvSpPr/>
          <p:nvPr/>
        </p:nvSpPr>
        <p:spPr>
          <a:xfrm>
            <a:off x="566928" y="5202936"/>
            <a:ext cx="256032" cy="256032"/>
          </a:xfrm>
          <a:prstGeom prst="ellipse">
            <a:avLst/>
          </a:prstGeom>
          <a:solidFill>
            <a:srgbClr val="6E9A85"/>
          </a:solidFill>
          <a:ln/>
        </p:spPr>
      </p:sp>
      <p:sp>
        <p:nvSpPr>
          <p:cNvPr id="32" name="Text 30"/>
          <p:cNvSpPr/>
          <p:nvPr/>
        </p:nvSpPr>
        <p:spPr>
          <a:xfrm>
            <a:off x="566928" y="5202936"/>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Yu Gothic" pitchFamily="34" charset="0"/>
                <a:ea typeface="Yu Gothic" pitchFamily="34" charset="-122"/>
                <a:cs typeface="Yu Gothic" pitchFamily="34" charset="-120"/>
              </a:rPr>
              <a:t>▸</a:t>
            </a:r>
            <a:endParaRPr lang="en-US" sz="1000" dirty="0"/>
          </a:p>
        </p:txBody>
      </p:sp>
      <p:sp>
        <p:nvSpPr>
          <p:cNvPr id="33" name="Text 31"/>
          <p:cNvSpPr/>
          <p:nvPr/>
        </p:nvSpPr>
        <p:spPr>
          <a:xfrm>
            <a:off x="969264" y="5166360"/>
            <a:ext cx="10655503" cy="329184"/>
          </a:xfrm>
          <a:prstGeom prst="rect">
            <a:avLst/>
          </a:prstGeom>
          <a:noFill/>
          <a:ln/>
        </p:spPr>
        <p:txBody>
          <a:bodyPr wrap="square" lIns="0" tIns="0" rIns="0" bIns="0" rtlCol="0" anchor="ctr"/>
          <a:lstStyle/>
          <a:p>
            <a:pPr indent="0" marL="0">
              <a:buNone/>
            </a:pPr>
            <a:r>
              <a:rPr lang="en-US" sz="1300" dirty="0">
                <a:solidFill>
                  <a:srgbClr val="E4EDE8"/>
                </a:solidFill>
                <a:latin typeface="Yu Gothic" pitchFamily="34" charset="0"/>
                <a:ea typeface="Yu Gothic" pitchFamily="34" charset="-122"/>
                <a:cs typeface="Yu Gothic" pitchFamily="34" charset="-120"/>
              </a:rPr>
              <a:t>A案（203万円・1.5ヶ月）で音声品質・記憶精度・API単価を実測してからB案に進むことを推奨</a:t>
            </a:r>
            <a:endParaRPr lang="en-US" sz="1300" dirty="0"/>
          </a:p>
        </p:txBody>
      </p:sp>
      <p:sp>
        <p:nvSpPr>
          <p:cNvPr id="34" name="Shape 32"/>
          <p:cNvSpPr/>
          <p:nvPr/>
        </p:nvSpPr>
        <p:spPr>
          <a:xfrm>
            <a:off x="566928" y="5586984"/>
            <a:ext cx="256032" cy="256032"/>
          </a:xfrm>
          <a:prstGeom prst="ellipse">
            <a:avLst/>
          </a:prstGeom>
          <a:solidFill>
            <a:srgbClr val="6E9A85"/>
          </a:solidFill>
          <a:ln/>
        </p:spPr>
      </p:sp>
      <p:sp>
        <p:nvSpPr>
          <p:cNvPr id="35" name="Text 33"/>
          <p:cNvSpPr/>
          <p:nvPr/>
        </p:nvSpPr>
        <p:spPr>
          <a:xfrm>
            <a:off x="566928" y="5586984"/>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Yu Gothic" pitchFamily="34" charset="0"/>
                <a:ea typeface="Yu Gothic" pitchFamily="34" charset="-122"/>
                <a:cs typeface="Yu Gothic" pitchFamily="34" charset="-120"/>
              </a:rPr>
              <a:t>▸</a:t>
            </a:r>
            <a:endParaRPr lang="en-US" sz="1000" dirty="0"/>
          </a:p>
        </p:txBody>
      </p:sp>
      <p:sp>
        <p:nvSpPr>
          <p:cNvPr id="36" name="Text 34"/>
          <p:cNvSpPr/>
          <p:nvPr/>
        </p:nvSpPr>
        <p:spPr>
          <a:xfrm>
            <a:off x="969264" y="5550408"/>
            <a:ext cx="10655503" cy="329184"/>
          </a:xfrm>
          <a:prstGeom prst="rect">
            <a:avLst/>
          </a:prstGeom>
          <a:noFill/>
          <a:ln/>
        </p:spPr>
        <p:txBody>
          <a:bodyPr wrap="square" lIns="0" tIns="0" rIns="0" bIns="0" rtlCol="0" anchor="ctr"/>
          <a:lstStyle/>
          <a:p>
            <a:pPr indent="0" marL="0">
              <a:buNone/>
            </a:pPr>
            <a:r>
              <a:rPr lang="en-US" sz="1300" dirty="0">
                <a:solidFill>
                  <a:srgbClr val="E4EDE8"/>
                </a:solidFill>
                <a:latin typeface="Yu Gothic" pitchFamily="34" charset="0"/>
                <a:ea typeface="Yu Gothic" pitchFamily="34" charset="-122"/>
                <a:cs typeface="Yu Gothic" pitchFamily="34" charset="-120"/>
              </a:rPr>
              <a:t>並行して、利用規約とプライバシーポリシーの法務相談を開始する</a:t>
            </a:r>
            <a:endParaRPr lang="en-US" sz="1300" dirty="0"/>
          </a:p>
        </p:txBody>
      </p:sp>
      <p:sp>
        <p:nvSpPr>
          <p:cNvPr id="37" name="Text 35"/>
          <p:cNvSpPr/>
          <p:nvPr/>
        </p:nvSpPr>
        <p:spPr>
          <a:xfrm>
            <a:off x="566928" y="6236208"/>
            <a:ext cx="11057839" cy="310896"/>
          </a:xfrm>
          <a:prstGeom prst="rect">
            <a:avLst/>
          </a:prstGeom>
          <a:noFill/>
          <a:ln/>
        </p:spPr>
        <p:txBody>
          <a:bodyPr wrap="square" lIns="0" tIns="0" rIns="0" bIns="0" rtlCol="0" anchor="ctr"/>
          <a:lstStyle/>
          <a:p>
            <a:pPr indent="0" marL="0">
              <a:buNone/>
            </a:pPr>
            <a:r>
              <a:rPr lang="en-US" sz="1050" i="1" dirty="0">
                <a:solidFill>
                  <a:srgbClr val="9DB2A8"/>
                </a:solidFill>
                <a:latin typeface="Yu Gothic" pitchFamily="34" charset="0"/>
                <a:ea typeface="Yu Gothic" pitchFamily="34" charset="-122"/>
                <a:cs typeface="Yu Gothic" pitchFamily="34" charset="-120"/>
              </a:rPr>
              <a:t>本資料の金額はすべて税別、単価前提7万円／人日、工数精度±15%。有効期限は作成日より60日。</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高齢者向け音声会話AIアプリ 開発投資検討資料</dc:title>
  <dc:subject>PptxGenJS Presentation</dc:subject>
  <dc:creator>開発チーム</dc:creator>
  <cp:lastModifiedBy>開発チーム</cp:lastModifiedBy>
  <cp:revision>1</cp:revision>
  <dcterms:created xsi:type="dcterms:W3CDTF">2026-08-17T10:24:01Z</dcterms:created>
  <dcterms:modified xsi:type="dcterms:W3CDTF">2026-08-17T10:24:01Z</dcterms:modified>
</cp:coreProperties>
</file>